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1c776e5634d0e" /><Relationship Type="http://schemas.openxmlformats.org/officeDocument/2006/relationships/extended-properties" Target="/docProps/app.xml" Id="Rece0290548384f64" /><Relationship Type="http://schemas.openxmlformats.org/officeDocument/2006/relationships/officeDocument" Target="/ppt/presentation.xml" Id="Rc755b4dcba714e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9210ba2b784d4f"/>
  </p:sldMasterIdLst>
  <p:notesMasterIdLst>
    <p:notesMasterId xmlns:r="http://schemas.openxmlformats.org/officeDocument/2006/relationships" r:id="Re824e579ee634bef"/>
  </p:notesMasterIdLst>
  <p:sldIdLst>
    <p:sldId xmlns:r="http://schemas.openxmlformats.org/officeDocument/2006/relationships" id="256" r:id="Ra6eca3b67d2e49d9"/>
    <p:sldId xmlns:r="http://schemas.openxmlformats.org/officeDocument/2006/relationships" id="257" r:id="R4bbd45961dc64532"/>
    <p:sldId xmlns:r="http://schemas.openxmlformats.org/officeDocument/2006/relationships" id="258" r:id="R0368b79a268c40b8"/>
    <p:sldId xmlns:r="http://schemas.openxmlformats.org/officeDocument/2006/relationships" id="259" r:id="R7dde7ed009a347b3"/>
    <p:sldId xmlns:r="http://schemas.openxmlformats.org/officeDocument/2006/relationships" id="260" r:id="R997af390f2b74404"/>
    <p:sldId xmlns:r="http://schemas.openxmlformats.org/officeDocument/2006/relationships" id="261" r:id="R46c2b4c19a304b65"/>
    <p:sldId xmlns:r="http://schemas.openxmlformats.org/officeDocument/2006/relationships" id="262" r:id="R5a3080da223a4280"/>
    <p:sldId xmlns:r="http://schemas.openxmlformats.org/officeDocument/2006/relationships" id="263" r:id="Rc27e09775171485e"/>
    <p:sldId xmlns:r="http://schemas.openxmlformats.org/officeDocument/2006/relationships" id="264" r:id="R126a198b5c594049"/>
    <p:sldId xmlns:r="http://schemas.openxmlformats.org/officeDocument/2006/relationships" id="265" r:id="R2cae87d316e6405a"/>
    <p:sldId xmlns:r="http://schemas.openxmlformats.org/officeDocument/2006/relationships" id="266" r:id="R0a0147fc11fd4960"/>
    <p:sldId xmlns:r="http://schemas.openxmlformats.org/officeDocument/2006/relationships" id="267" r:id="R69ee2c9b8cf048b2"/>
    <p:sldId xmlns:r="http://schemas.openxmlformats.org/officeDocument/2006/relationships" id="268" r:id="R3578c8be46004200"/>
    <p:sldId xmlns:r="http://schemas.openxmlformats.org/officeDocument/2006/relationships" id="269" r:id="Ra4ee233a90e24fd8"/>
    <p:sldId xmlns:r="http://schemas.openxmlformats.org/officeDocument/2006/relationships" id="270" r:id="R42beb386f2b040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ba8cf34d34d3a" /><Relationship Type="http://schemas.openxmlformats.org/officeDocument/2006/relationships/slideMaster" Target="/ppt/slideMasters/slideMaster1.xml" Id="Rcf9210ba2b784d4f" /><Relationship Type="http://schemas.openxmlformats.org/officeDocument/2006/relationships/notesMaster" Target="/ppt/notesMasters/notesMaster1.xml" Id="Re824e579ee634bef" /><Relationship Type="http://schemas.openxmlformats.org/officeDocument/2006/relationships/presProps" Target="/ppt/presProps.xml" Id="R372c02ea3bd44ea9" /><Relationship Type="http://schemas.openxmlformats.org/officeDocument/2006/relationships/viewProps" Target="/ppt/viewProps.xml" Id="Rfbc41b0f81044e3e" /><Relationship Type="http://schemas.openxmlformats.org/officeDocument/2006/relationships/tableStyles" Target="/ppt/tableStyles.xml" Id="R418d76fb53104e4f" /><Relationship Type="http://schemas.openxmlformats.org/officeDocument/2006/relationships/slide" Target="/ppt/slides/slide1.xml" Id="Ra6eca3b67d2e49d9" /><Relationship Type="http://schemas.openxmlformats.org/officeDocument/2006/relationships/slide" Target="/ppt/slides/slide2.xml" Id="R4bbd45961dc64532" /><Relationship Type="http://schemas.openxmlformats.org/officeDocument/2006/relationships/slide" Target="/ppt/slides/slide3.xml" Id="R0368b79a268c40b8" /><Relationship Type="http://schemas.openxmlformats.org/officeDocument/2006/relationships/slide" Target="/ppt/slides/slide4.xml" Id="R7dde7ed009a347b3" /><Relationship Type="http://schemas.openxmlformats.org/officeDocument/2006/relationships/slide" Target="/ppt/slides/slide5.xml" Id="R997af390f2b74404" /><Relationship Type="http://schemas.openxmlformats.org/officeDocument/2006/relationships/slide" Target="/ppt/slides/slide6.xml" Id="R46c2b4c19a304b65" /><Relationship Type="http://schemas.openxmlformats.org/officeDocument/2006/relationships/slide" Target="/ppt/slides/slide7.xml" Id="R5a3080da223a4280" /><Relationship Type="http://schemas.openxmlformats.org/officeDocument/2006/relationships/slide" Target="/ppt/slides/slide8.xml" Id="Rc27e09775171485e" /><Relationship Type="http://schemas.openxmlformats.org/officeDocument/2006/relationships/slide" Target="/ppt/slides/slide9.xml" Id="R126a198b5c594049" /><Relationship Type="http://schemas.openxmlformats.org/officeDocument/2006/relationships/slide" Target="/ppt/slides/slide10.xml" Id="R2cae87d316e6405a" /><Relationship Type="http://schemas.openxmlformats.org/officeDocument/2006/relationships/slide" Target="/ppt/slides/slide11.xml" Id="R0a0147fc11fd4960" /><Relationship Type="http://schemas.openxmlformats.org/officeDocument/2006/relationships/slide" Target="/ppt/slides/slide12.xml" Id="R69ee2c9b8cf048b2" /><Relationship Type="http://schemas.openxmlformats.org/officeDocument/2006/relationships/slide" Target="/ppt/slides/slide13.xml" Id="R3578c8be46004200" /><Relationship Type="http://schemas.openxmlformats.org/officeDocument/2006/relationships/slide" Target="/ppt/slides/slide14.xml" Id="Ra4ee233a90e24fd8" /><Relationship Type="http://schemas.openxmlformats.org/officeDocument/2006/relationships/slide" Target="/ppt/slides/slide15.xml" Id="R42beb386f2b0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925c73f4340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f0cd598e147c1" /><Relationship Type="http://schemas.openxmlformats.org/officeDocument/2006/relationships/notesMaster" Target="/ppt/notesMasters/notesMaster1.xml" Id="Re08c8d29280647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c5664e7a64fa6" /><Relationship Type="http://schemas.openxmlformats.org/officeDocument/2006/relationships/notesMaster" Target="/ppt/notesMasters/notesMaster1.xml" Id="R7255b4a4cf25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91f1e31ac41c9" /><Relationship Type="http://schemas.openxmlformats.org/officeDocument/2006/relationships/notesMaster" Target="/ppt/notesMasters/notesMaster1.xml" Id="R3e29348ed5e9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302e3cbda40bf" /><Relationship Type="http://schemas.openxmlformats.org/officeDocument/2006/relationships/notesMaster" Target="/ppt/notesMasters/notesMaster1.xml" Id="R146b5d0528db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04bb620cc84a8a" /><Relationship Type="http://schemas.openxmlformats.org/officeDocument/2006/relationships/notesMaster" Target="/ppt/notesMasters/notesMaster1.xml" Id="Rc4a54b888913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6ae330a7304d26" /><Relationship Type="http://schemas.openxmlformats.org/officeDocument/2006/relationships/notesMaster" Target="/ppt/notesMasters/notesMaster1.xml" Id="R794c4fce00a04c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205e69cd4549fc" /><Relationship Type="http://schemas.openxmlformats.org/officeDocument/2006/relationships/notesMaster" Target="/ppt/notesMasters/notesMaster1.xml" Id="Rc4ed1bb68d2e43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3eed311d914a20" /><Relationship Type="http://schemas.openxmlformats.org/officeDocument/2006/relationships/notesMaster" Target="/ppt/notesMasters/notesMaster1.xml" Id="R9970f16f2cc7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822aa389044715" /><Relationship Type="http://schemas.openxmlformats.org/officeDocument/2006/relationships/notesMaster" Target="/ppt/notesMasters/notesMaster1.xml" Id="R0b2bb449d83847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4299aff5cf4de7" /><Relationship Type="http://schemas.openxmlformats.org/officeDocument/2006/relationships/notesMaster" Target="/ppt/notesMasters/notesMaster1.xml" Id="R3be1380e79c544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e368d0801a4b59" /><Relationship Type="http://schemas.openxmlformats.org/officeDocument/2006/relationships/notesMaster" Target="/ppt/notesMasters/notesMaster1.xml" Id="R9f5261d5d42643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ba3a10a1eb4645" /><Relationship Type="http://schemas.openxmlformats.org/officeDocument/2006/relationships/notesMaster" Target="/ppt/notesMasters/notesMaster1.xml" Id="R7d44343a61a2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657be6d5f44ad6" /><Relationship Type="http://schemas.openxmlformats.org/officeDocument/2006/relationships/notesMaster" Target="/ppt/notesMasters/notesMaster1.xml" Id="R4591b8e3f8e941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8e60a5a7984113" /><Relationship Type="http://schemas.openxmlformats.org/officeDocument/2006/relationships/notesMaster" Target="/ppt/notesMasters/notesMaster1.xml" Id="R151406027c504a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20468eb39c4f60" /><Relationship Type="http://schemas.openxmlformats.org/officeDocument/2006/relationships/notesMaster" Target="/ppt/notesMasters/notesMaster1.xml" Id="Re550b6d00ca7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4ddde20cb4f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d667055fa46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0658086b241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e2a1e13bb48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e3032a33243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ccdd3917346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91294e5de43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a179f6eb742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a241875a547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4dcf1fd7649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c4b45cde64c5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425298-A444-432C-9C51-23A7EBC55E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1B3BA5-9D1B-450C-BAD6-D8DE591EC2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D82C10-8448-4F1F-8F6E-FBE7D3846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117848-83E2-4972-98BE-1A111D47A6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ECADC-4BDB-4476-8322-78A01B868B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FB53CC-ECC7-4A11-B847-2D13A401F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E2797E-0E9E-49C1-A485-D752A36691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E87C1C-CD8D-494A-867C-92B36DD8A2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7641BB-1957-4100-AFF4-E8C923BA50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7E6C39-74E9-4019-9015-07446C16AB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B3986B-AA3A-4E4D-A5AA-C5ACCEEDC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1857C-4A38-47F6-9569-4BCE3E88BE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E16E99-4E55-480F-AD5D-CFC211A1CC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358C1C-BFC5-4F09-B28B-778CEB68A6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8CB1A2-4A11-4C9A-85BF-23A67EBE9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072A40-FE3B-4646-9DCB-22474A1DD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DFA09B-7480-46C6-A65D-9CAAE48082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D91BCD-493D-4246-A3B4-4501AB381F9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492830-1D4D-4C1B-8D01-65F681C64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1F4E2C-05FC-4159-A6C1-3B52D53785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78B5419-C6B9-4751-8A71-0EE38E5B6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96A7A7-D3D9-4D7C-A3F8-10F9295F3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FC3D4-CAC7-450C-86DC-1A0859C53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EE06C5-6C1F-4E7A-AC86-9A5BAAE28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57A87E4-ACCD-4308-8422-510F9C61C74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26927B-4503-4202-944E-CB660B541CC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D47008A-D807-4E3A-A739-0B91532B57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DA2B965-4AD0-4B37-914E-0EA0944C9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93F0A63-1563-4E09-B46E-8CAE421F2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523CFE-307D-40CE-8F39-A293054CC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CC989C7-5A21-46C8-994C-71AF32EF0E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3A6BFD9-49AF-45B5-AD2C-1B7663BD8A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35D0D53-F515-49CA-8C92-7DCA320E8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696FE7B-22E6-425E-8B5B-4E82FFA25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D6180C-8400-471B-95C5-FDF9DA757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334E36-A2FD-4FC6-8995-01EA981A2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2FC674-D84F-4DFE-8C18-982C44B21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7C8743-1AFA-4BC8-ABCC-C3852DFB14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4C68DFA-65C9-47F8-BD01-5026BD93C2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7AC061-6532-483B-8471-2FA5B7717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65F073-E05F-4432-8F84-05C3C5DE3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65AB04-E368-4EC3-96CF-CD5C7DFCA0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AA57B7-8B7D-4302-B44A-4ADF1BFB6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77E049-F23B-469B-95B0-50A37E5E823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1CF66B0-2CC1-4C27-9EFB-2287D0ADD0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3E4654-F965-4AE2-AE75-740DD90CA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5226BF-0E3C-437C-91C4-12D3FC6373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A35F74-D264-490B-85CC-4473E0B1C9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CC4D6-E535-4852-86E2-DC608DAB4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9FE2BC-8C4C-4B83-90FF-038D36C76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12356-EAD4-455A-95B3-518A9448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563CE-AF55-4191-AFC3-0FC779DE5B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C3EF7C-9FEF-4C99-9C0C-7253540C2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591BE9A-FAC0-4F80-839B-89DA1DD09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1493B5-8FE0-4943-AABE-6179A281E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D71B00-CE49-4E80-BBA9-85062D1022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C87BBE-5949-4D1D-A029-0AE700B72F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AB35A5-67DA-475F-BF36-F4B82E14B7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cb03c132045a7" /><Relationship Type="http://schemas.openxmlformats.org/officeDocument/2006/relationships/slideLayout" Target="/ppt/slideLayouts/slideLayout1.xml" Id="Ref42b40d4ed14e4c" /><Relationship Type="http://schemas.openxmlformats.org/officeDocument/2006/relationships/slideLayout" Target="/ppt/slideLayouts/slideLayout2.xml" Id="Rb5ae8b62d97c4647" /><Relationship Type="http://schemas.openxmlformats.org/officeDocument/2006/relationships/slideLayout" Target="/ppt/slideLayouts/slideLayout3.xml" Id="Rcb42f92aa62146cc" /><Relationship Type="http://schemas.openxmlformats.org/officeDocument/2006/relationships/slideLayout" Target="/ppt/slideLayouts/slideLayout4.xml" Id="R7823dd7da7984fba" /><Relationship Type="http://schemas.openxmlformats.org/officeDocument/2006/relationships/slideLayout" Target="/ppt/slideLayouts/slideLayout5.xml" Id="R9b4dbdd172434098" /><Relationship Type="http://schemas.openxmlformats.org/officeDocument/2006/relationships/slideLayout" Target="/ppt/slideLayouts/slideLayout6.xml" Id="R2c7e7cd903574806" /><Relationship Type="http://schemas.openxmlformats.org/officeDocument/2006/relationships/slideLayout" Target="/ppt/slideLayouts/slideLayout7.xml" Id="R2ea4e6b4b37a4a75" /><Relationship Type="http://schemas.openxmlformats.org/officeDocument/2006/relationships/slideLayout" Target="/ppt/slideLayouts/slideLayout8.xml" Id="R5d06c53aef034248" /><Relationship Type="http://schemas.openxmlformats.org/officeDocument/2006/relationships/slideLayout" Target="/ppt/slideLayouts/slideLayout9.xml" Id="R1eace720c1004b36" /><Relationship Type="http://schemas.openxmlformats.org/officeDocument/2006/relationships/slideLayout" Target="/ppt/slideLayouts/slideLayout10.xml" Id="R3a9d158745694337" /><Relationship Type="http://schemas.openxmlformats.org/officeDocument/2006/relationships/slideLayout" Target="/ppt/slideLayouts/slideLayout11.xml" Id="R16ceec322c3f4b2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F3CE9-D1C9-4205-99B6-6971CDAA1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C7E15B-3285-46C6-BF71-83C2751103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81C949-99AC-4523-83A8-2E749A39B0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910C5A-3030-4AA6-B969-78E7BC0F74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2E6F79-653B-44B4-8507-4219E64E49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2b40d4ed14e4c"/>
    <p:sldLayoutId xmlns:r="http://schemas.openxmlformats.org/officeDocument/2006/relationships" id="2147483650" r:id="Rb5ae8b62d97c4647"/>
    <p:sldLayoutId xmlns:r="http://schemas.openxmlformats.org/officeDocument/2006/relationships" id="2147483651" r:id="Rcb42f92aa62146cc"/>
    <p:sldLayoutId xmlns:r="http://schemas.openxmlformats.org/officeDocument/2006/relationships" id="2147483652" r:id="R7823dd7da7984fba"/>
    <p:sldLayoutId xmlns:r="http://schemas.openxmlformats.org/officeDocument/2006/relationships" id="2147483653" r:id="R9b4dbdd172434098"/>
    <p:sldLayoutId xmlns:r="http://schemas.openxmlformats.org/officeDocument/2006/relationships" id="2147483654" r:id="R2c7e7cd903574806"/>
    <p:sldLayoutId xmlns:r="http://schemas.openxmlformats.org/officeDocument/2006/relationships" id="2147483655" r:id="R2ea4e6b4b37a4a75"/>
    <p:sldLayoutId xmlns:r="http://schemas.openxmlformats.org/officeDocument/2006/relationships" id="2147483656" r:id="R5d06c53aef034248"/>
    <p:sldLayoutId xmlns:r="http://schemas.openxmlformats.org/officeDocument/2006/relationships" id="2147483657" r:id="R1eace720c1004b36"/>
    <p:sldLayoutId xmlns:r="http://schemas.openxmlformats.org/officeDocument/2006/relationships" id="2147483658" r:id="R3a9d158745694337"/>
    <p:sldLayoutId xmlns:r="http://schemas.openxmlformats.org/officeDocument/2006/relationships" id="2147483659" r:id="R16ceec322c3f4b25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08657ee5c8419d" /><Relationship Type="http://schemas.openxmlformats.org/officeDocument/2006/relationships/notesSlide" Target="/ppt/notesSlides/notesSlide1.xml" Id="Rc60e231bccc34d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84daea31a64caf" /><Relationship Type="http://schemas.openxmlformats.org/officeDocument/2006/relationships/notesSlide" Target="/ppt/notesSlides/notesSlide2.xml" Id="R0dc6a9392e714c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7d74062839436c" /><Relationship Type="http://schemas.openxmlformats.org/officeDocument/2006/relationships/notesSlide" Target="/ppt/notesSlides/notesSlide3.xml" Id="R018c1f5f470b41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ea3977b309488c" /><Relationship Type="http://schemas.openxmlformats.org/officeDocument/2006/relationships/notesSlide" Target="/ppt/notesSlides/notesSlide4.xml" Id="R4867246db8cc4c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92a2f7ac6947c3" /><Relationship Type="http://schemas.openxmlformats.org/officeDocument/2006/relationships/notesSlide" Target="/ppt/notesSlides/notesSlide5.xml" Id="R465d3cd6c42b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2a87af47324ad7" /><Relationship Type="http://schemas.openxmlformats.org/officeDocument/2006/relationships/image" Target="/ppt/media/image.png" Id="Rd7ea05e1845947d5" /><Relationship Type="http://schemas.openxmlformats.org/officeDocument/2006/relationships/notesSlide" Target="/ppt/notesSlides/notesSlide6.xml" Id="Rf549321769254e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921f5da12243c5" /><Relationship Type="http://schemas.openxmlformats.org/officeDocument/2006/relationships/notesSlide" Target="/ppt/notesSlides/notesSlide7.xml" Id="Rf7cae1640c8046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9bb26302384a07" /><Relationship Type="http://schemas.openxmlformats.org/officeDocument/2006/relationships/notesSlide" Target="/ppt/notesSlides/notesSlide8.xml" Id="R85c3d2858de846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b2445f47ae4cf8" /><Relationship Type="http://schemas.openxmlformats.org/officeDocument/2006/relationships/notesSlide" Target="/ppt/notesSlides/notesSlide9.xml" Id="Raef0e0d762fb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a4109291924cb1" /><Relationship Type="http://schemas.openxmlformats.org/officeDocument/2006/relationships/notesSlide" Target="/ppt/notesSlides/notesSlide10.xml" Id="R431659928eac44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4d7673bd2b4baa" /><Relationship Type="http://schemas.openxmlformats.org/officeDocument/2006/relationships/notesSlide" Target="/ppt/notesSlides/notesSlide11.xml" Id="R73f03d35c88b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74d67ed5354e39" /><Relationship Type="http://schemas.openxmlformats.org/officeDocument/2006/relationships/notesSlide" Target="/ppt/notesSlides/notesSlide12.xml" Id="R470c079d052141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1222c3d3b14893" /><Relationship Type="http://schemas.openxmlformats.org/officeDocument/2006/relationships/notesSlide" Target="/ppt/notesSlides/notesSlide13.xml" Id="R3332a02079e64c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dd831b82c6490f" /><Relationship Type="http://schemas.openxmlformats.org/officeDocument/2006/relationships/notesSlide" Target="/ppt/notesSlides/notesSlide14.xml" Id="Rd3abc1e9022e42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b47e0456674c37" /><Relationship Type="http://schemas.openxmlformats.org/officeDocument/2006/relationships/notesSlide" Target="/ppt/notesSlides/notesSlide15.xml" Id="R532c6a4a2e9142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20CF43-BF12-4674-985E-8C75739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TITLE &amp; ABSTRACT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93C99B-C68A-4806-A61E-DDCB8E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E8EE01-EFB4-4FE3-B988-B28252C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Financial Intelligence Engine for Investment Analysis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336C7-59A6-4BC0-8172-78A8071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Phase 1 prototype for AI-assisted financial research and investment suggestions.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B57D56-9228-40AF-9714-4A11FBB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BA47A-9F30-4C71-AE87-C39984E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FB3A007-FAA2-44E7-B2A0-6492A6C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4406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92BFD8-6B9E-4D4D-965E-D1C03F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93391"/>
            <a:ext cx="5129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Project Abstract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F44123-5AED-4960-9A30-E170A4C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13432"/>
            <a:ext cx="51297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This project builds an AI-powered financial intelligence system that reduces manual investment analysis effort by integrating market data, company fundamentals, technical indicators, sentiment signals, and multi-agent reasoning. The current Phase 1 prototype includes data ingestion, feature engineering, investment scoring, generated reports, and an interactive dashboard where users can ask investment questions.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C63BC-DE56-47CC-A141-FCD6F0E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45262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2C4FD3-7F72-4F07-AC49-6E8CE8F9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993391"/>
            <a:ext cx="4215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Research Objective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3C86AF-383C-46B5-A310-4EB1292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313432"/>
            <a:ext cx="42153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Design and implement a scalable, explainable system that can support Buy/Hold/Sell-style investment suggestions using structured and unstructured financial signals.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D02F25-91F5-4CDD-80F4-558B24D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7A95E8-638E-41A1-997E-620C934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COMPANY UNIVERSE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81FF20-9443-4C9D-9B26-08F5040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Nasdaq/SEC cached tickers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129352-564E-40E5-AC4C-04835D1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EA2340-BA26-43C0-9662-193C82A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DEEP ANALYSIS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8F15C1-0F13-4423-808A-BE177CA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selected demo companies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6749F0-6666-4C89-B1BB-63E158E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4517BE-D320-44FD-95B5-C4509A1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FEATURES/COMPANY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C63568-0963-4BED-B56D-47067FB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technical + composite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2FEC41-172F-4C68-BF44-8126A90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0BF252-6320-4EBA-96FC-4EAB9D1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NEWS ROWS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C04C35-2629-4622-A857-E08299F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sentiment demo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0D87FF-109A-45F5-9B0B-E62B03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CE9D3A9-15F2-4F5E-BB39-7D8B1D6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C7CAF46-CEAC-45B4-B077-7309D82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production-ready baseline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7CB0BA5-E992-4F40-89DF-010FCB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8CB904-541D-4BC5-A3B1-73A7178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E288CDC-BD01-4869-B0DB-8615E7E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pytest passing</a:t>
            </a:r>
          </a:p>
        </p:txBody>
      </p:sp>
    </p:spTree>
    <p:extLst>
      <p:ext uri="{BB962C8B-B14F-4D97-AF65-F5344CB8AC3E}">
        <p14:creationId xmlns:p14="http://schemas.microsoft.com/office/powerpoint/2010/main" val="912650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ARCHITECTURAL DESIGN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Modular architecture separates data breadth, signal depth, and user interaction</a:t>
            </a:r>
            <a:r>
              <a:rPr sz="28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 system is designed so each layer can be improved independently in later phases.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1000 US tickers
Nasdaq/SEC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prices, fundamentals
company info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Layer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RSI, MACD, ATR
moving averages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 news
signal scoring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risk, forecast,
decision, explain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tab, outputs,
analysis dashboard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Storage &amp; Outputs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CSV, JSON, readiness report, investment report, sentiment table, technical summary, and clickable output routes.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Interactive Q&amp;A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User questions are routed to the orchestrator, which coordinates sentiment, risk, forecast, decision, and explanation agents.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Next RAG Layer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PDF / 10-K / earnings report retrieval will enrich the existing retriever agent.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B3CC05-32BC-4611-8F83-2696519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ALGORITHMS / TECHNIQUES USED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9E98480-091B-4D60-8473-76A58F0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97530C-C470-4BAB-9ED4-2737CCD4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713232"/>
            <a:ext cx="9742293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prototype combines financial indicators, sentiment scoring, and multi-agent decision logic</a:t>
            </a:r>
            <a:r>
              <a:rPr sz="28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F6C9BE-39D0-497C-916F-F59D2EE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These are the core techniques implemented or scaffolded in Phase 1.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0CC071-DCD9-46F0-BD63-BEC1B87F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70745C3-01F4-4FDB-BBD2-DD632B3F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mlns:a="http://schemas.openxmlformats.org/drawingml/2006/main" x="594360" y="1783080"/>
          <a:ext xmlns:a="http://schemas.openxmlformats.org/drawingml/2006/main" cx="1097280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4846320"/>
              </a:tblGrid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Technique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implementation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acquisition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Yahoo Finance + Nasdaq/SEC universe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Historical OHLCV, fundamentals, company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Feature engineering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RSI, MACD, stochastic, ATR, Bollinger bands, moving averages, OBV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42 implemented feature categories per company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Sentiment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Keyword-based financial sentiment scoring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Positive, negative, neutral labels and aggregated sentiment 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Investment scoring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Weighted technical + sentiment + fundamental score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Buy / Hold / Sell style recommendations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Multi-agent orchestration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Retriever, Sentiment, Risk, Forecast, Decision, Explainability agents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Ask tab answers user investment 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Explainability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Agent summaries + generated rationale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Educational explanation and signal drivers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495A91C-8197-450B-9BBF-CF6E39D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32918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FA5BE0-F1FD-4EB9-A9F5-EB077A81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559552"/>
            <a:ext cx="2980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Example user question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F5514E-02A6-472B-9EBD-4DE2BC9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879592"/>
            <a:ext cx="298094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Should I invest in AAPL and MSFT for the next 30 days?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076ADC-B3B1-4F00-ACDC-ECD826F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40680"/>
            <a:ext cx="30175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9019E4-A74D-4435-89AE-1AB195E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559552"/>
            <a:ext cx="27066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7BD676D-2BE8-4F38-826B-0BFB731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879592"/>
            <a:ext cx="270662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Agent-backed suggestions with score, confidence, drivers, and disclaimer.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16808C3-05F8-4B08-96BC-81D33E1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440680"/>
            <a:ext cx="315468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A4DF65B-71F5-4F90-999F-080A8D5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59552"/>
            <a:ext cx="2843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AA66951-18EC-4A5C-B906-A9BF501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879592"/>
            <a:ext cx="284378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Recommendation report + dashboard answer panel.</a:t>
            </a:r>
          </a:p>
        </p:txBody>
      </p:sp>
    </p:spTree>
    <p:extLst>
      <p:ext uri="{BB962C8B-B14F-4D97-AF65-F5344CB8AC3E}">
        <p14:creationId xmlns:p14="http://schemas.microsoft.com/office/powerpoint/2010/main" val="1071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30D48B-3A22-4A8C-B675-A2707EB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EXPECTED OUTCOMES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6DA557-F2FC-40BB-B9DD-68ECC0F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6AFA97-90ED-4383-924E-448A6BA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713232"/>
            <a:ext cx="10056925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system should become an explainable AI assistant for investment research.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BEF6D1-9801-4937-BE25-ED37FAD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Outcomes are split into current Phase 1 deliverables and next review targets.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FE084A-4079-48FD-85A7-3AC8AB6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291A1F-71DA-45C8-B3E7-B5FA58C4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59E9968-51D5-4D7C-87AE-9C5FB83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CEDA28-E683-4A7C-8AC5-1D2D1A0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01952"/>
            <a:ext cx="4764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Expected outcomes for the project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2CFDD7-17A9-4072-AD9B-EA569D04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221991"/>
            <a:ext cx="476402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1. Reduce manual research time for stock screening.
2. Provide explainable Buy/Hold/Sell-style suggestions.
3. Combine structured market data with unstructured financial text.
4. Build an interactive dashboard for portfolio review.
5. Support future RAG-based document reasoning.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A2EE93-99DB-4332-8077-B3EF4B3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49834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E50CA57-0F90-4850-BDE0-92B7F70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01952"/>
            <a:ext cx="4672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What is achieved till now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B3D0BB-D2ED-4E26-82DF-FCC7A5B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221991"/>
            <a:ext cx="46725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1. 1000-company US equity universe cached.
2. 10-company detailed demo analysis.
3. 42 feature categories per company.
4. 300 generated news/sentiment rows.
5. Ask tab and clickable output reports.
6. 4 tests passing.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mlns:a="http://schemas.openxmlformats.org/drawingml/2006/main" x="1051560" y="4343400"/>
          <a:ext xmlns:a="http://schemas.openxmlformats.org/drawingml/2006/main" cx="10058400" cy="1325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303520"/>
              </a:tblGrid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value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completeness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All expected demo data sources populated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System complexity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100/100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Advanced multi-source processing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Production readiness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81%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17/21 checklist items 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volume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186,760 points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Phase 1 generated analysis scale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135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CD7218-58DD-4E3C-9F91-9817C53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REFERENCES + 30% CODE IMPLEMENTATION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DBF8E3-3768-4F17-96BB-2B2ECC9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4D6C-B204-4885-A735-50B2CDE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submission has working Phase 1 code and recent research grounding.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C138BF-D1C1-436F-AF82-C836015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Code will be zipped separately; this slide lists what the review panel can verify.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324433-CBA6-4F9F-89EE-515F366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03C45B-D3BE-4644-BD4F-8234AF6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6FD1D4-E93D-422F-95E6-42E8A88C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6576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B6988B-B953-4C75-9FCB-50C2E75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56231"/>
            <a:ext cx="3346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30% implementation evidence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36E12-6CBB-42BF-95D0-DE15E2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15609"/>
            <a:ext cx="334670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Implemented modules:
- 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data_layer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
- agents
- storage
- frontend
- reports / generated outputs
Run commands:
python demo_ultimate.py
python frontend/server.py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82C4255-132C-4006-9681-7F6C91A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37360"/>
            <a:ext cx="288036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094C96-1AFA-4A84-B556-385E2B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56231"/>
            <a:ext cx="2569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43B394-DED6-4E81-B0AE-E6BF9C3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176272"/>
            <a:ext cx="256946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Review 1: Phase 1 prototype
Next: RAG document ingestion
Next: ML risk/forecast models
Final: scaled evaluation, monitoring, and dashboard polish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09C3C9-CDED-4211-8AB4-4F7A74ED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737360"/>
            <a:ext cx="333756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CD2462-E170-4DC6-B68B-F0C4497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1856231"/>
            <a:ext cx="30266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Latest references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97D953-5C62-4272-9921-F0F60D8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519172"/>
            <a:ext cx="3026664" cy="3063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Xiao et al., Retrieval-Augmented LLMs for Financial Time-Series Forecasting, arXiv:2502.05878, 2025.
Choi et al., 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FinDER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: Financial Dataset for QA and Evaluating RAG, arXiv:2504.15800, 2025.
Yao et al., Evaluating LLMs for Financial Reasoning: CFA Benchmark, arXiv:2509.04468, 2025.
Xu et al., Analytical Stage-Based Multi-Agent Framework, Decision Analytics Journal, 2025.
Khan et al., Model-Agnostic Explainable AI Methods in Finance, Artificial Intelligence Review, 2025.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770320-490C-4687-BA1A-FC139B1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662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Submission package: PPT + zipped source code + generated outputs in data/.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Scope note: full 1000-company detailed scoring will require caching and rate-limit handling in Phase 2.</a:t>
            </a:r>
          </a:p>
        </p:txBody>
      </p:sp>
    </p:spTree>
    <p:extLst>
      <p:ext uri="{BB962C8B-B14F-4D97-AF65-F5344CB8AC3E}">
        <p14:creationId xmlns:p14="http://schemas.microsoft.com/office/powerpoint/2010/main" val="21459067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05e18459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7021" y="463397"/>
            <a:ext cx="11817957" cy="59312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26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F8A154-1EE6-4DB5-BE4A-C9BB26F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PROGRESS SINCE LAST REVIEW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93D82C-7BE1-4376-998C-2F35938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1 moved from prototype skeleton to working baseline.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402528-E709-4BDA-9F2F-79F11DF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New implementation evidence: large data, trained models, persistent vector DB, RAG query path, and OpenAI-ready GenAI layer.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5C884-A838-4062-93C6-D644EC3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ED47DA9-8D77-4FD1-AA3D-B710B35B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DBA9D1-2B69-4977-A9DB-C2C789C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787DF4-077B-4FDE-BB98-9168970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US equity universe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ED9360-FC94-4ACC-B7F0-0397488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10,000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C0EB2-68A6-47D2-913D-3BC4D4F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12E5C0-4E7E-4E70-8266-D8CB75F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C3225-B9A3-4797-87B2-455AA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ML feature table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1C6425-818E-434D-AADD-566CDF0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10,000 x 20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rows/features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9AC925-A540-4BD2-AF93-8D6D9F3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91FFDD-0BEA-476C-B37E-50B200E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6D3B66-1126-4DE1-9C86-5E58521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model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0A2970-15AF-4AEF-AF03-D66CB81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80.05%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222B4A5-BAAC-4A14-B973-6E89ED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A4A6606-6128-4614-BEC5-58FA4A2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5E9023-3E4E-4448-AF13-DBF8A5A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model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547B1F-29EA-45C6-B56B-0580480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68.95%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56488DD-90FF-4A40-8A13-D240B61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212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What changed after the first review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F1E6AC-5571-4F44-B08F-FA6652F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0749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Built a large Phase 1 data pipeline instead of a small demo-only universe.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Generated ML-ready features and trained baseline risk / forecast models.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Added persistent ChromaDB vector store for the RAG layer.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Connected Retriever Agent to vector DB when the index exists.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DC3C18-0654-4865-912D-BA90FE3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Evidence files produced by the system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9E0D5B-82CF-4433-B2D4-CE002A2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11880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data/processed/us_equity_universe.csv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data/features/phase1_model_features.csv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models/phase1_risk_model.pkl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models/phase1_forecast_model.pkl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reports/phase1_agent_report.md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ACB099-2C7B-473D-88A2-2A4AF96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5E2A70-6DD3-4F84-8B17-323DE2B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1877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40B8C-19B7-4F78-8CDB-80F2F87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RAG IMPLEMENTATION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7D2B94-7D19-4273-B302-06FC6CB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RAG now uses a persistent local vector database and an LLM-ready answer layer.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43744F-AECA-46F0-8AA9-E900B1A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This satisfies the Phase 1 baseline requirement while keeping cloud/OpenAI integration configurable.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477BEB-A6EC-4E72-BD70-099FCB2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1877BF-8ECD-4443-A289-1406DBF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0703B-6CEF-40CB-B476-6461729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2C6D2-B17A-4A8E-9EAB-B01E5A1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docs, reports, PDFs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DA33419-0981-4171-82BF-0D42E32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39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8601671-EFB9-47A7-AF06-8456F24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AEB92D-D3DA-47F5-9A5D-7413C8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2EEFE7-E918-4EE7-B4E8-BA448E1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900 char windows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16B57069-F367-4DBD-9DFC-BC3382C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0B8DA7-D086-4DEF-BB7B-5D810B9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80D1D8-8A76-4FE6-9E0F-40D85F5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70DFA-05F4-4BAC-A31F-D6FDA59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384-d hashing</a:t>
            </a:r>
          </a:p>
        </p:txBody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8A78BE2D-DB33-403D-AD2D-CB4D3B6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B8B92F9-E7CD-4538-9513-8100FF2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2C0A91-17E7-4C03-AAC5-BFAD2A9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ACF513-0A01-40BC-B885-646F717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vector DB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A2A0353D-7B76-4DC7-BD5E-465D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2EAA26E-0382-4198-B3A6-4C7879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4647F8-97C8-44A6-B41C-7F687C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9E14A5D-FC2D-4E99-A788-1AF8586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top-k evidence</a:t>
            </a:r>
          </a:p>
        </p:txBody>
      </p:sp>
      <p:sp>
        <p:nvSpPr>
          <p:cNvPr id="25" name="Right Arrow 24">
            <a:extLst xmlns:a="http://schemas.openxmlformats.org/drawingml/2006/main">
              <a:ext uri="{FF2B5EF4-FFF2-40B4-BE49-F238E27FC236}">
                <a16:creationId xmlns:a16="http://schemas.microsoft.com/office/drawing/2014/main" id="{E7DAC74E-A6DA-4DA5-A262-847A3E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E6D26F-F175-4BC5-90C9-F33F63E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D340BC-B28F-4D0D-AB0C-7EBFC2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LLM Layer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948131-AB4A-44AC-9748-0CC004E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local / OpenAI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F173D00-D5E6-463E-B66F-8F16D5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E7CF0-6D39-4CD2-9C24-4C05F3E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BA4D5A-7236-47D5-A10B-28E6E4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Vector DB persistence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DECF1FC-238C-4322-A5AC-98F8B13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  <a:br/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 PersistentClient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54B969F-9139-41E2-9140-D56A0B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20D0319-4133-4D9B-95A0-4ACFB12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86A8D4-8566-4920-B864-B251F95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Indexed corpus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F8B1C1-093A-47CB-9A31-9ECA830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476 chunks</a:t>
            </a:r>
            <a:br/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from docs + reports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3408B2D-9DBA-4073-8ED4-FB8F052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EFE214-DA02-44D3-8919-4E303C5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C43FBE1-93DF-4AC1-860E-9C99B4F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LLM integration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7A7996-BE98-4484-8EEE-97DA905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OpenAI-ready</a:t>
            </a:r>
            <a:br/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local fallback active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7EB28F-C3F9-49C0-8197-A9FD93F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332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Demo commands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CE9CFAB-2A0B-4B89-BBB7-5768868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149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D88883-F96E-45B0-B2A0-6E4BCF0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93792"/>
            <a:ext cx="9784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index_phase1_rag.py    -&gt; builds ChromaDB index</a:t>
            </a:r>
            <a:br/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query_phase1_rag.py "What is implemented in Phase 1?"    -&gt; retrieves evidence + generates answer</a:t>
            </a:r>
            <a:br/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demo_phase1_agents.py    -&gt; multi-agent investment report uses vector retrieval when available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89C56ED-4D20-494E-BA68-9681D3F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5C698BF-1735-4A1B-84FB-4287EE9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1029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EB4878-B34E-448A-A780-B888F73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PHASE 1 DEMO PATH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84FC4-32C0-4918-9DC1-A6F6C45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review demo can now show data scale, model training, vector RAG, and agent output.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616E8-A70B-4182-949F-BC9E6F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This slide lists the exact execution flow and what each command proves.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EFAC10-8A32-4C9B-8860-3E39AE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727386C-3617-4BB1-B1AE-28F8A20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18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C28AD2-3740-43E7-BF71-4AB0DD5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A5F2D-534F-4675-A4A8-0A165E7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572768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Storage + universe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28C529-B3E0-478D-BB4F-A1723D2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7276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setup_phase1_storage.py --min-count 10000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7D6F73-917D-4852-A767-8F6F67F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72768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Creates storage layers and caches 10K US tickers.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065B1E8-B27D-49CC-ACA9-C511C9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865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2FC247-A695-4050-94EE-7F7E823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9736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D6FBD9-F83E-4F5D-AFA6-A52FCB2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Feature generation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841A72-6C6C-4112-A7DF-75BD2B9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40864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build_phase1_data.py --min-count 10000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51E54F-037A-4A12-B1F2-DF06744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086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Builds 10K x 20 ML-ready feature table.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4DEA752-CFCD-41BC-A36B-9D3F650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7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55559A-FC4A-4252-9374-DB402D1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0D2E7-611A-449A-9C42-8395223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108960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 training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CB94E-5113-40C7-A12D-37A6F7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089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train_phase1_models.py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CD3FFD-228D-4536-B919-50B7FE6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108960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Trains risk and forecast baseline models with metrics.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5FE944D-1A56-497F-932B-A23164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227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A99F14-B2AD-4939-88B4-2EF22D1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06DC32-103C-44F3-AFB1-F40F447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77056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RAG indexing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61EA9F-56DD-4A08-876A-2A61F1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77056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index_phase1_rag.py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2436ABF-FDFE-4B67-940A-360CD52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77056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Persists 476 chunks into ChromaDB.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452CB8-BB33-4C85-85A3-7EB10AA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6950B1-02A9-4911-9AAB-E43D42A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4024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45EE26E-5649-430A-A024-1803FE5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45152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Final demo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6D97DF-46EC-4FC5-829E-2824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45152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demo_phase1_agents.py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ED2C2-F4E9-4F6F-B035-1A3E438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645152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Runs multi-agent report generation with retrieved evidence.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A7A7792-34FD-4F24-819C-91460ED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96128"/>
            <a:ext cx="10149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OpenAI key setup for GenAI layer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1BDE019-A953-4B3D-8C58-65FD2D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05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490250-6D37-49EE-AAFB-6DD33D4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16752"/>
            <a:ext cx="9738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$env:FIE_GENAI_PROVIDER="openai"; $env:FIE_GENAI_MODEL="gpt-5.4-mini"; $env:OPENAI_API_KEY="..."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C3DAAF-7CA0-4246-8466-4A691C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DC25BB2-484D-4B73-B5C2-CBE6608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3650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20CF43-BF12-4674-985E-8C75739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REAL DATA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93C99B-C68A-4806-A61E-DDCB8E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E8EE01-EFB4-4FE3-B988-B28252C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Phase 1 now runs on observed US equity market data.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336C7-59A6-4BC0-8172-78A8071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A realistic 10K-company universe supports a 20-company cohort with point-in-time model rows.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B57D56-9228-40AF-9714-4A11FBB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BA47A-9F30-4C71-AE87-C39984E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FB3A007-FAA2-44E7-B2A0-6492A6C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4406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92BFD8-6B9E-4D4D-965E-D1C03F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93391"/>
            <a:ext cx="5129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Data scope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F44123-5AED-4960-9A30-E170A4C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13432"/>
            <a:ext cx="51297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10,000 US equity metadata records establish the searchable universe.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20 diversified companies supply real daily prices for deep analysis.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25,480 OHLCV observations are cached for reproducible processing.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C63BC-DE56-47CC-A141-FCD6F0E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45262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2C4FD3-7F72-4F07-AC49-6E8CE8F9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993391"/>
            <a:ext cx="4215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Model-ready evidence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3C86AF-383C-46B5-A310-4EB1292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313432"/>
            <a:ext cx="42153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Features are computed point-in-time to avoid using future information.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23,880 labeled rows feed risk and forecast training.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split is chronological: 19,100 train rows and 4,780 later test rows.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D02F25-91F5-4CDD-80F4-558B24D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10,000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7A95E8-638E-41A1-997E-620C934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US EQUITIES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81FF20-9443-4C9D-9B26-08F5040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searchable metadata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129352-564E-40E5-AC4C-04835D1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EA2340-BA26-43C0-9662-193C82A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REAL COHORT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8F15C1-0F13-4423-808A-BE177CA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diversified companies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6749F0-6666-4C89-B1BB-63E158E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25,480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4517BE-D320-44FD-95B5-C4509A1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OHLCV ROWS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C63568-0963-4BED-B56D-47067FB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observed daily data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2FEC41-172F-4C68-BF44-8126A90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23,880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0BF252-6320-4EBA-96FC-4EAB9D1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MODEL ROWS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C04C35-2629-4622-A857-E08299F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point-in-time features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0D87FF-109A-45F5-9B0B-E62B03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19,100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CE9D3A9-15F2-4F5E-BB39-7D8B1D6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TRAIN ROWS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C7CAF46-CEAC-45B4-B077-7309D82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through 20 Jun 2025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7CB0BA5-E992-4F40-89DF-010FCB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4,780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8CB904-541D-4BC5-A3B1-73A7178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TEST ROWS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E288CDC-BD01-4869-B0DB-8615E7E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from 23 Jun 2025</a:t>
            </a:r>
          </a:p>
        </p:txBody>
      </p:sp>
    </p:spTree>
    <p:extLst>
      <p:ext uri="{BB962C8B-B14F-4D97-AF65-F5344CB8AC3E}">
        <p14:creationId xmlns:p14="http://schemas.microsoft.com/office/powerpoint/2010/main" val="912650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F8A154-1EE6-4DB5-BE4A-C9BB26F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MODEL EVALUATION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93D82C-7BE1-4376-998C-2F35938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Chronological testing replaces optimistic proxy scores with honest evidence.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402528-E709-4BDA-9F2F-79F11DF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is above the majority baseline; forecast remains a transparent baseline and is not overclaimed.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5C884-A838-4062-93C6-D644EC3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ED47DA9-8D77-4FD1-AA3D-B710B35B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DBA9D1-2B69-4977-A9DB-C2C789C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787DF4-077B-4FDE-BB98-9168970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accuracy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ED9360-FC94-4ACC-B7F0-0397488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61.51%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C0EB2-68A6-47D2-913D-3BC4D4F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12E5C0-4E7E-4E70-8266-D8CB75F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C3225-B9A3-4797-87B2-455AA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balanced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1C6425-818E-434D-AADD-566CDF0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58.69%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balanced accuracy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9AC925-A540-4BD2-AF93-8D6D9F3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91FFDD-0BEA-476C-B37E-50B200E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6D3B66-1126-4DE1-9C86-5E58521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accuracy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0A2970-15AF-4AEF-AF03-D66CB81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37.74%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222B4A5-BAAC-4A14-B973-6E89ED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A4A6606-6128-4614-BEC5-58FA4A2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5E9023-3E4E-4448-AF13-DBF8A5A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balanced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547B1F-29EA-45C6-B56B-0580480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38.18%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balanced accuracy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56488DD-90FF-4A40-8A13-D240B61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212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What the metrics establish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F1E6AC-5571-4F44-B08F-FA6652F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0749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RandomForest baselines use point-in-time features.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Chronological holdout begins 23 Jun 2025.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Risk gains 4.94 points over the majority baseline.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gains 4.85 balanced points over random.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DC3C18-0654-4865-912D-BA90FE3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Limit disclosed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9E0D5B-82CF-4433-B2D4-CE002A2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11880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Risk macro F1: 56.63%.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macro F1: 37.26%.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does not beat majority-class accuracy.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1 treats it as a measurable baseline, not a production claim.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ACB099-2C7B-473D-88A2-2A4AF96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5E2A70-6DD3-4F84-8B17-323DE2B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1877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40B8C-19B7-4F78-8CDB-80F2F87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SEC-AWARE HYBRID RAG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7D2B94-7D19-4273-B302-06FC6CB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SEC filings now join the persistent corpus with source-level provenance.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43744F-AECA-46F0-8AA9-E900B1A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Retrieval combines semantic similarity, exact financial terms, and metadata before the LLM writes a grounded answer.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477BEB-A6EC-4E72-BD70-099FCB2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1877BF-8ECD-4443-A289-1406DBF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0703B-6CEF-40CB-B476-6461729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SEC filings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2C6D2-B17A-4A8E-9EAB-B01E5A1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10-K / 10-Q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DA33419-0981-4171-82BF-0D42E32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39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8601671-EFB9-47A7-AF06-8456F24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AEB92D-D3DA-47F5-9A5D-7413C8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2EEFE7-E918-4EE7-B4E8-BA448E1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900-char windows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16B57069-F367-4DBD-9DFC-BC3382C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0B8DA7-D086-4DEF-BB7B-5D810B9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80D1D8-8A76-4FE6-9E0F-40D85F5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70DFA-05F4-4BAC-A31F-D6FDA59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384-d hashing</a:t>
            </a:r>
          </a:p>
        </p:txBody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8A78BE2D-DB33-403D-AD2D-CB4D3B6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B8B92F9-E7CD-4538-9513-8100FF2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2C0A91-17E7-4C03-AAC5-BFAD2A9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ACF513-0A01-40BC-B885-646F717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vectors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A2A0353D-7B76-4DC7-BD5E-465D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2EAA26E-0382-4198-B3A6-4C7879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4647F8-97C8-44A6-B41C-7F687C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Hybrid ranker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9E14A5D-FC2D-4E99-A788-1AF8586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vector + lexical</a:t>
            </a:r>
          </a:p>
        </p:txBody>
      </p:sp>
      <p:sp>
        <p:nvSpPr>
          <p:cNvPr id="25" name="Right Arrow 24">
            <a:extLst xmlns:a="http://schemas.openxmlformats.org/drawingml/2006/main">
              <a:ext uri="{FF2B5EF4-FFF2-40B4-BE49-F238E27FC236}">
                <a16:creationId xmlns:a16="http://schemas.microsoft.com/office/drawing/2014/main" id="{E7DAC74E-A6DA-4DA5-A262-847A3E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E6D26F-F175-4BC5-90C9-F33F63E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D340BC-B28F-4D0D-AB0C-7EBFC2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Answer layer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948131-AB4A-44AC-9748-0CC004E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local / OpenAI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F173D00-D5E6-463E-B66F-8F16D5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E7CF0-6D39-4CD2-9C24-4C05F3E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BA4D5A-7236-47D5-A10B-28E6E4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index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DECF1FC-238C-4322-A5AC-98F8B13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 PersistentClient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54B969F-9139-41E2-9140-D56A0B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20D0319-4133-4D9B-95A0-4ACFB12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86A8D4-8566-4920-B864-B251F95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Baseline corpus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F8B1C1-093A-47CB-9A31-9ECA830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511 chunks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before live SEC bootstrap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3408B2D-9DBA-4073-8ED4-FB8F052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EFE214-DA02-44D3-8919-4E303C5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C43FBE1-93DF-4AC1-860E-9C99B4F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Ranking weights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7A7996-BE98-4484-8EEE-97DA905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55% vector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35% lexical | 10% metadata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7EB28F-C3F9-49C0-8197-A9FD93F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332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Traceable retrieval contract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CE9CFAB-2A0B-4B89-BBB7-5768868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149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D88883-F96E-45B0-B2A0-6E4BCF0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93792"/>
            <a:ext cx="9784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SEC ingestion stores ticker, CIK, form, filing date, accession, URL, and source sidecars.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FIE_SEC_USER_AGENT=FinancialIntelligenceEngine/1.0 sumeetpanda.dev@gmail.com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Retrieved chunks retain source metadata for citations and explainability.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89C56ED-4D20-494E-BA68-9681D3F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5C698BF-1735-4A1B-84FB-4287EE9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10291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MULTI-AGENT DECISION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orchestrator converts one question into parallel evidence and model tasks.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Typed results, confidence scores, citations, and a final explanation keep the decision auditable.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query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ticker + horizon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routes tasks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collects results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RAG evidence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citations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forecast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weighted synthesis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/ Hold / Sell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drivers, confidence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Shared AgentResult contract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Every agent returns status, score, confidence, evidence, and errors through a consistent schema.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Parallel specialist execution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Retriever, Sentiment, Risk, and Forecast agents run under one orchestrated request.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Auditable final report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Decision and Explainability agents preserve citations, model metrics, drivers, and disclaimers.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CD7218-58DD-4E3C-9F91-9817C53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CLOUD DELIVERY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DBF8E3-3768-4F17-96BB-2B2ECC9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4D6C-B204-4885-A735-50B2CDE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same Phase 1 application now runs from GitHub to a public Render service.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C138BF-D1C1-436F-AF82-C836015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Docker, bootstrap assets, environment variables, and health checks make the demo reproducible.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324433-CBA6-4F9F-89EE-515F366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03C45B-D3BE-4644-BD4F-8234AF6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6FD1D4-E93D-422F-95E6-42E8A88C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6576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B6988B-B953-4C75-9FCB-50C2E75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56231"/>
            <a:ext cx="3346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1. Source and build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36E12-6CBB-42BF-95D0-DE15E2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15609"/>
            <a:ext cx="334670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GitHub main triggers deployment.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Docker packages the Python stack, frontend, API, models, and RAG assets.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Phase 1 upgrade commit: 0aa832f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82C4255-132C-4006-9681-7F6C91A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37360"/>
            <a:ext cx="288036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094C96-1AFA-4A84-B556-385E2B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56231"/>
            <a:ext cx="2569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2. Runtime bootstrap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43B394-DED6-4E81-B0AE-E6BF9C3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176272"/>
            <a:ext cx="256946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Startup attempts real 20-company data, models, and RAG.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Bundled assets restore the demo when market sources are unavailable.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Render Free storage is ephemeral.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09C3C9-CDED-4211-8AB4-4F7A74ED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737360"/>
            <a:ext cx="333756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CD2462-E170-4DC6-B68B-F0C4497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1856231"/>
            <a:ext cx="30266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3. Cloud configuration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97D953-5C62-4272-9921-F0F60D8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519172"/>
            <a:ext cx="3026664" cy="3063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Required: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FIE_SEC_USER_AGENT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GenAI: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FIE_GENAI_PROVIDER=openai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FIE_GENAI_MODEL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OPENAI_API_KEY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Local answer fallback remains available.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770320-490C-4687-BA1A-FC139B1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662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Delivery: GitHub -&gt; Docker -&gt; bootstrap data/models/RAG -&gt; FastAPI + frontend -&gt; Render HTTPS.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Verification: 14 tests passed | setup verification 5/5 | /health endpoint available.</a:t>
            </a:r>
          </a:p>
        </p:txBody>
      </p:sp>
    </p:spTree>
    <p:extLst>
      <p:ext uri="{BB962C8B-B14F-4D97-AF65-F5344CB8AC3E}">
        <p14:creationId xmlns:p14="http://schemas.microsoft.com/office/powerpoint/2010/main" val="2145906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EB4878-B34E-448A-A780-B888F73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FINAL DEMO PATH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84FC4-32C0-4918-9DC1-A6F6C45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final walkthrough proves scale, grounding, model honesty, and cloud delivery.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616E8-A70B-4182-949F-BC9E6F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Each step has visible evidence in the deployed interface or generated report.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EFAC10-8A32-4C9B-8860-3E39AE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727386C-3617-4BB1-B1AE-28F8A20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18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C28AD2-3740-43E7-BF71-4AB0DD5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A5F2D-534F-4675-A4A8-0A165E7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572768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 deployed dashboard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28C529-B3E0-478D-BB4F-A1723D2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7276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Render service URL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7D6F73-917D-4852-A767-8F6F67F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72768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Confirm the frontend loads and /health reports ready.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065B1E8-B27D-49CC-ACA9-C511C9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865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2FC247-A695-4050-94EE-7F7E823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9736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D6FBD9-F83E-4F5D-AFA6-A52FCB2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Verify data scale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841A72-6C6C-4112-A7DF-75BD2B9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40864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Overview and company search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51E54F-037A-4A12-B1F2-DF06744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086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Show 10K universe, 20-company cohort, and observed OHLCV.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4DEA752-CFCD-41BC-A36B-9D3F650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7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55559A-FC4A-4252-9374-DB402D1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0D2E7-611A-449A-9C42-8395223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108960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Ask a grounded question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CB94E-5113-40C7-A12D-37A6F7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089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Ask tab: AAPL risk, outlook, and evidence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CD3FFD-228D-4536-B919-50B7FE6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108960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Inspect retrieved sources, scores, confidence, and citations.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5FE944D-1A56-497F-932B-A23164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227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A99F14-B2AD-4939-88B4-2EF22D1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06DC32-103C-44F3-AFB1-F40F447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77056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Inspect model evidence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61EA9F-56DD-4A08-876A-2A61F1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77056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Risk and forecast metrics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2436ABF-FDFE-4B67-940A-360CD52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77056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Explain chronological split and the disclosed forecast limitation.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452CB8-BB33-4C85-85A3-7EB10AA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6950B1-02A9-4911-9AAB-E43D42A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4024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45EE26E-5649-430A-A024-1803FE5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45152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Show end-to-end report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6D97DF-46EC-4FC5-829E-2824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45152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Agent trace and final recommendation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ED2C2-F4E9-4F6F-B035-1A3E438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645152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Decision, explanation, drivers, evidence, and disclaimer.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A7A7792-34FD-4F24-819C-91460ED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96128"/>
            <a:ext cx="10149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Final review evidence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1BDE019-A953-4B3D-8C58-65FD2D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05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490250-6D37-49EE-AAFB-6DD33D4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16752"/>
            <a:ext cx="9738360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10K universe | 25,480 OHLCV rows | 511 RAG chunks | 14 tests passed | Render deployed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C3DAAF-7CA0-4246-8466-4A691C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DC25BB2-484D-4B73-B5C2-CBE6608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36508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2026-07-06T17:43:20.1930000Z</dcterms:created>
  <dcterms:modified xsi:type="dcterms:W3CDTF">2026-07-06T17:43:20.1930000Z</dcterms:modified>
</coreProperties>
</file>