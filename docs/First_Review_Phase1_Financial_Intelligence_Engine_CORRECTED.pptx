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TITLE &amp; 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04672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400" b="1" dirty="0">
                <a:solidFill>
                  <a:srgbClr val="122026"/>
                </a:solidFill>
                <a:latin typeface="Aptos"/>
              </a:rPr>
              <a:t>Financial Intelligence Engine for Investment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 dirty="0">
                <a:solidFill>
                  <a:srgbClr val="5B6970"/>
                </a:solidFill>
                <a:latin typeface="Aptos"/>
              </a:rPr>
              <a:t>Phase 1 prototype for AI-assisted financial research and investment suggestions.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93391"/>
            <a:ext cx="51297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Project 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13432"/>
            <a:ext cx="5129784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This project builds an AI-powered financial intelligence system that reduces manual investment analysis effort by integrating market data, company fundamentals, technical indicators, sentiment signals, and multi-agent reasoning. The current Phase 1 prototype includes data ingestion, feature engineering, investment scoring, generated reports, and an interactive dashboard where users can ask investment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4526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993391"/>
            <a:ext cx="42153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Research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313432"/>
            <a:ext cx="4215384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Design and implement a scalable, explainable system that can support Buy/Hold/Sell-style investment suggestions using structured and unstructured financial signals.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117A65"/>
                </a:solidFill>
                <a:latin typeface="Aptos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COMPANY UNIVERSE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Nasdaq/SEC cached tickers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255B92"/>
                </a:solidFill>
                <a:latin typeface="Apto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DEEP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selected demo companies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117A65"/>
                </a:solidFill>
                <a:latin typeface="Aptos"/>
              </a:rPr>
              <a:t>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FEATURES/COMPANY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technical + composite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255B92"/>
                </a:solidFill>
                <a:latin typeface="Aptos"/>
              </a:rPr>
              <a:t>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NEWS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sentiment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117A65"/>
                </a:solidFill>
                <a:latin typeface="Aptos"/>
              </a:rPr>
              <a:t>81%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production-ready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617720"/>
            <a:ext cx="16002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200" b="1">
                <a:solidFill>
                  <a:srgbClr val="255B92"/>
                </a:solidFill>
                <a:latin typeface="Aptos"/>
              </a:rPr>
              <a:t>4/4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965192"/>
            <a:ext cx="1645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50" b="1">
                <a:solidFill>
                  <a:srgbClr val="122026"/>
                </a:solidFill>
                <a:latin typeface="Aptos"/>
              </a:rPr>
              <a:t>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184648"/>
            <a:ext cx="17373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19" b="0">
                <a:solidFill>
                  <a:srgbClr val="5B6970"/>
                </a:solidFill>
                <a:latin typeface="Aptos"/>
              </a:rPr>
              <a:t>pytest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ARCHITECTURAL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046720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600" b="1" dirty="0">
                <a:solidFill>
                  <a:srgbClr val="122026"/>
                </a:solidFill>
                <a:latin typeface="Aptos"/>
              </a:rPr>
              <a:t>Modular architecture separates data breadth, signal depth, and user interaction</a:t>
            </a:r>
            <a:r>
              <a:rPr sz="2800" b="1" dirty="0">
                <a:solidFill>
                  <a:srgbClr val="122026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>
                <a:solidFill>
                  <a:srgbClr val="5B6970"/>
                </a:solidFill>
                <a:latin typeface="Aptos"/>
              </a:rPr>
              <a:t>The system is designed so each layer can be improved independently in later phases.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1600200" cy="1024128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1000 US tickers
Nasdaq/SEC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86000" y="1965960"/>
            <a:ext cx="1600200" cy="1024128"/>
          </a:xfrm>
          <a:prstGeom prst="roundRect">
            <a:avLst/>
          </a:prstGeom>
          <a:solidFill>
            <a:srgbClr val="255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0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prices, fundamentals
company info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60520" y="1965960"/>
            <a:ext cx="1600200" cy="1024128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Feature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RSI, MACD, ATR
moving averages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720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35040" y="1965960"/>
            <a:ext cx="1600200" cy="1024128"/>
          </a:xfrm>
          <a:prstGeom prst="roundRect">
            <a:avLst/>
          </a:prstGeom>
          <a:solidFill>
            <a:srgbClr val="255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79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Sentiment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financial news
signal scoring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35240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09559" y="1965960"/>
            <a:ext cx="1600200" cy="1024128"/>
          </a:xfrm>
          <a:prstGeom prst="round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00999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7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risk, forecast,
decision, explain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09759" y="2478024"/>
            <a:ext cx="228600" cy="0"/>
          </a:xfrm>
          <a:prstGeom prst="line">
            <a:avLst/>
          </a:prstGeom>
          <a:ln w="2032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1965960"/>
            <a:ext cx="1600200" cy="1024128"/>
          </a:xfrm>
          <a:prstGeom prst="roundRect">
            <a:avLst/>
          </a:prstGeom>
          <a:solidFill>
            <a:srgbClr val="255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19" y="2103120"/>
            <a:ext cx="1417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7" y="2404872"/>
            <a:ext cx="1380744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FFFFFF"/>
                </a:solidFill>
                <a:latin typeface="Aptos"/>
              </a:rPr>
              <a:t>Ask tab, outputs,
analysis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703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3822191"/>
            <a:ext cx="30723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Storage &amp; 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142231"/>
            <a:ext cx="3072384" cy="82295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CSV, JSON, readiness report, investment report, sentiment table, technical summary, and clickable output routes.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7033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0288" y="3822191"/>
            <a:ext cx="30723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Interactive 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142231"/>
            <a:ext cx="3072384" cy="82295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User questions are routed to the orchestrator, which coordinates sentiment, risk, forecast, decision, and explanation agents.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3703320"/>
            <a:ext cx="28346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9327" y="3822191"/>
            <a:ext cx="252374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Next RAG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142231"/>
            <a:ext cx="2523744" cy="82295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PDF / 10-K / earnings report retrieval will enrich the existing retriever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ALGORITHMS / TECHNIQUES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19" y="713232"/>
            <a:ext cx="9742293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400" b="1" dirty="0">
                <a:solidFill>
                  <a:srgbClr val="122026"/>
                </a:solidFill>
                <a:latin typeface="Aptos"/>
              </a:rPr>
              <a:t>The prototype combines financial indicators, sentiment scoring, and multi-agent decision logic</a:t>
            </a:r>
            <a:r>
              <a:rPr sz="2800" b="1" dirty="0">
                <a:solidFill>
                  <a:srgbClr val="122026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>
                <a:solidFill>
                  <a:srgbClr val="5B6970"/>
                </a:solidFill>
                <a:latin typeface="Aptos"/>
              </a:rPr>
              <a:t>These are the core techniques implemented or scaffolded in Phase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7830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160520"/>
                <a:gridCol w="4846320"/>
              </a:tblGrid>
              <a:tr h="47026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implementation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Data 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Yahoo Finance + Nasdaq/SEC universe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Historical OHLCV, fundamentals, company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Feature engineering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RSI, MACD, stochastic, ATR, Bollinger bands, moving averages, OBV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42 implemented feature categories per company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Sentiment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Keyword-based financial sentiment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Positive, negative, neutral labels and aggregated sentiment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Investment scoring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Weighted technical + sentiment + fundamental score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Buy / Hold / Sell style recommendations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Multi-agent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Retriever, Sentiment, Risk, Forecast, Decision, Explainability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Ask tab answers user investment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Agent summaries + generated rationale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Educational explanation and signal drivers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5440680"/>
            <a:ext cx="32918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5559552"/>
            <a:ext cx="298094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 dirty="0">
                <a:solidFill>
                  <a:srgbClr val="255B92"/>
                </a:solidFill>
                <a:latin typeface="Aptos"/>
              </a:rPr>
              <a:t>Example user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879592"/>
            <a:ext cx="2980944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 dirty="0">
                <a:solidFill>
                  <a:srgbClr val="122026"/>
                </a:solidFill>
                <a:latin typeface="Aptos"/>
              </a:rPr>
              <a:t>Should I invest in AAPL and MSFT for the next 30 days?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5440680"/>
            <a:ext cx="3017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5559552"/>
            <a:ext cx="270662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System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5879592"/>
            <a:ext cx="2706624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 dirty="0">
                <a:solidFill>
                  <a:srgbClr val="122026"/>
                </a:solidFill>
                <a:latin typeface="Aptos"/>
              </a:rPr>
              <a:t>Agent-backed suggestions with score, confidence, drivers, and disclaimer.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5440680"/>
            <a:ext cx="3154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73568" y="5559552"/>
            <a:ext cx="28437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5879592"/>
            <a:ext cx="2843784" cy="1554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Recommendation report + dashboard answer panel.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19" y="713232"/>
            <a:ext cx="10056925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2000" b="1" dirty="0">
                <a:solidFill>
                  <a:srgbClr val="122026"/>
                </a:solidFill>
                <a:latin typeface="Aptos"/>
              </a:rPr>
              <a:t>The system should become an explainable AI assistant for investment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>
                <a:solidFill>
                  <a:srgbClr val="5B6970"/>
                </a:solidFill>
                <a:latin typeface="Aptos"/>
              </a:rPr>
              <a:t>Outcomes are split into current Phase 1 deliverables and next review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0749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476402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Expected outcomes for the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21991"/>
            <a:ext cx="4764024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1. Reduce manual research time for stock screening.
2. Provide explainable Buy/Hold/Sell-style suggestions.
3. Combine structured market data with unstructured financial text.
4. Build an interactive dashboard for portfolio review.
5. Support future RAG-based document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783080"/>
            <a:ext cx="4983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8" y="1901952"/>
            <a:ext cx="467258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What is achieved till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221991"/>
            <a:ext cx="4672584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1. 1000-company US equity universe cached.
2. 10-company detailed demo analysis.
3. 42 feature categories per company.
4. 300 generated news/sentiment rows.
5. Ask tab and clickable output reports.
6. 4 tests passing.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51560" y="4343400"/>
          <a:ext cx="100584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5303520"/>
              </a:tblGrid>
              <a:tr h="265176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value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B1F2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Data 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All expected demo data sources populated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System complexity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100/100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Advanced multi-source processing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Production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17/21 checklist items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Data volume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186,760 points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22026"/>
                          </a:solidFill>
                          <a:latin typeface="Aptos"/>
                        </a:defRPr>
                      </a:pPr>
                      <a:r>
                        <a:t>Phase 1 generated analysis scale</a:t>
                      </a:r>
                    </a:p>
                  </a:txBody>
                  <a:tcPr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846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00" b="1">
                <a:solidFill>
                  <a:srgbClr val="117A65"/>
                </a:solidFill>
                <a:latin typeface="Aptos"/>
              </a:rPr>
              <a:t>REFERENCES + 30% CODE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530352" cy="32004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04672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600" b="1" dirty="0">
                <a:solidFill>
                  <a:srgbClr val="122026"/>
                </a:solidFill>
                <a:latin typeface="Aptos"/>
              </a:rPr>
              <a:t>The submission has working Phase 1 code and recent research grounding.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80467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0">
                <a:solidFill>
                  <a:srgbClr val="5B6970"/>
                </a:solidFill>
                <a:latin typeface="Aptos"/>
              </a:rPr>
              <a:t>Code will be zipped separately; this slide lists what the review panel can verify.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800" b="0">
                <a:solidFill>
                  <a:srgbClr val="5B6970"/>
                </a:solidFill>
                <a:latin typeface="Aptos"/>
              </a:rPr>
              <a:t>First Review | Financial Intelligence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3696" y="6473952"/>
            <a:ext cx="3200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>
                <a:solidFill>
                  <a:srgbClr val="5B6970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3657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56231"/>
            <a:ext cx="334670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117A65"/>
                </a:solidFill>
                <a:latin typeface="Aptos"/>
              </a:rPr>
              <a:t>30% implementation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15609"/>
            <a:ext cx="3346704" cy="1463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 dirty="0">
                <a:solidFill>
                  <a:srgbClr val="122026"/>
                </a:solidFill>
                <a:latin typeface="Aptos"/>
              </a:rPr>
              <a:t>Implemented modules:
- </a:t>
            </a:r>
            <a:r>
              <a:rPr sz="1080" b="0" dirty="0" err="1">
                <a:solidFill>
                  <a:srgbClr val="122026"/>
                </a:solidFill>
                <a:latin typeface="Aptos"/>
              </a:rPr>
              <a:t>data_layer</a:t>
            </a:r>
            <a:r>
              <a:rPr sz="1080" b="0" dirty="0">
                <a:solidFill>
                  <a:srgbClr val="122026"/>
                </a:solidFill>
                <a:latin typeface="Aptos"/>
              </a:rPr>
              <a:t>
- agents
- storage
- frontend
- reports / generated outputs
Run commands:
python demo_ultimate.py
python frontend/server.py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2880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856231"/>
            <a:ext cx="25694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176272"/>
            <a:ext cx="2569464" cy="1463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>
                <a:solidFill>
                  <a:srgbClr val="122026"/>
                </a:solidFill>
                <a:latin typeface="Aptos"/>
              </a:rPr>
              <a:t>Review 1: Phase 1 prototype
Next: RAG document ingestion
Next: ML risk/forecast models
Final: scaled evaluation, monitoring, and dashboard polish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173736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54696" y="1856231"/>
            <a:ext cx="30266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255B92"/>
                </a:solidFill>
                <a:latin typeface="Aptos"/>
              </a:rPr>
              <a:t>Latest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2519172"/>
            <a:ext cx="3026664" cy="30632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080" b="0" dirty="0">
                <a:solidFill>
                  <a:srgbClr val="122026"/>
                </a:solidFill>
                <a:latin typeface="Aptos"/>
              </a:rPr>
              <a:t>Xiao et al., Retrieval-Augmented LLMs for Financial Time-Series Forecasting, arXiv:2502.05878, 2025.
Choi et al., </a:t>
            </a:r>
            <a:r>
              <a:rPr sz="1080" b="0" dirty="0" err="1">
                <a:solidFill>
                  <a:srgbClr val="122026"/>
                </a:solidFill>
                <a:latin typeface="Aptos"/>
              </a:rPr>
              <a:t>FinDER</a:t>
            </a:r>
            <a:r>
              <a:rPr sz="1080" b="0" dirty="0">
                <a:solidFill>
                  <a:srgbClr val="122026"/>
                </a:solidFill>
                <a:latin typeface="Aptos"/>
              </a:rPr>
              <a:t>: Financial Dataset for QA and Evaluating RAG, arXiv:2504.15800, 2025.
Yao et al., Evaluating LLMs for Financial Reasoning: CFA Benchmark, arXiv:2509.04468, 2025.
Xu et al., Analytical Stage-Based Multi-Agent Framework, Decision Analytics Journal, 2025.
Khan et al., Model-Agnostic Explainable AI Methods in Finance, Artificial Intelligence Review,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6629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22026"/>
                </a:solidFill>
                <a:latin typeface="Aptos"/>
              </a:defRPr>
            </a:pPr>
            <a:r>
              <a:t>Submission package: PPT + zipped source code + generated outputs in data/.</a:t>
            </a:r>
          </a:p>
          <a:p>
            <a:pPr>
              <a:spcAft>
                <a:spcPts val="500"/>
              </a:spcAft>
              <a:defRPr sz="1150">
                <a:solidFill>
                  <a:srgbClr val="122026"/>
                </a:solidFill>
                <a:latin typeface="Aptos"/>
              </a:defRPr>
            </a:pPr>
            <a:r>
              <a:t>Scope note: full 1000-company detailed scoring will require caching and rate-limit handling in Phase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1" y="463397"/>
            <a:ext cx="11817957" cy="59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26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657</Words>
  <Application>Microsoft Office PowerPoint</Application>
  <PresentationFormat>Widescreen</PresentationFormat>
  <Paragraphs>119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8</cp:revision>
  <dcterms:created xsi:type="dcterms:W3CDTF">2013-01-27T09:14:16Z</dcterms:created>
  <dcterms:modified xsi:type="dcterms:W3CDTF">2026-06-09T18:06:49Z</dcterms:modified>
  <cp:category/>
</cp:coreProperties>
</file>