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366168388a64e5f" Type="http://schemas.openxmlformats.org/officeDocument/2006/relationships/extended-properties" Target="docProps/app.xml"/><Relationship Id="R95c3523ee3024601" Type="http://schemas.openxmlformats.org/officeDocument/2006/relationships/officeDocument" Target="ppt/presentation.xml"/><Relationship Id="Rb394d2d9a00545ac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57dbe4759748d8"/>
  </p:sldMasterIdLst>
  <p:notesMasterIdLst>
    <p:notesMasterId xmlns:r="http://schemas.openxmlformats.org/officeDocument/2006/relationships" r:id="R47719a2b95ea40d4"/>
  </p:notesMasterIdLst>
  <p:sldIdLst>
    <p:sldId xmlns:r="http://schemas.openxmlformats.org/officeDocument/2006/relationships" id="256" r:id="Rdba891d6c6b84991"/>
    <p:sldId xmlns:r="http://schemas.openxmlformats.org/officeDocument/2006/relationships" id="257" r:id="R3c14e1be169a4361"/>
    <p:sldId xmlns:r="http://schemas.openxmlformats.org/officeDocument/2006/relationships" id="258" r:id="R6bfee4c1d63d461f"/>
    <p:sldId xmlns:r="http://schemas.openxmlformats.org/officeDocument/2006/relationships" id="259" r:id="R5175900f890a4843"/>
    <p:sldId xmlns:r="http://schemas.openxmlformats.org/officeDocument/2006/relationships" id="260" r:id="Re0cd0baad92c4023"/>
    <p:sldId xmlns:r="http://schemas.openxmlformats.org/officeDocument/2006/relationships" id="261" r:id="Re0084be1fc0448f1"/>
    <p:sldId xmlns:r="http://schemas.openxmlformats.org/officeDocument/2006/relationships" id="262" r:id="R8622ba03f2fa457a"/>
    <p:sldId xmlns:r="http://schemas.openxmlformats.org/officeDocument/2006/relationships" id="263" r:id="R4eb88cfc8b9447b0"/>
    <p:sldId xmlns:r="http://schemas.openxmlformats.org/officeDocument/2006/relationships" id="264" r:id="R1661dc892969444f"/>
    <p:sldId xmlns:r="http://schemas.openxmlformats.org/officeDocument/2006/relationships" id="265" r:id="Rb2d47ed3ecf14199"/>
    <p:sldId xmlns:r="http://schemas.openxmlformats.org/officeDocument/2006/relationships" id="266" r:id="R4920effccdd1499c"/>
    <p:sldId xmlns:r="http://schemas.openxmlformats.org/officeDocument/2006/relationships" id="267" r:id="Rd93fdac9c92c4352"/>
    <p:sldId xmlns:r="http://schemas.openxmlformats.org/officeDocument/2006/relationships" id="268" r:id="Rd532c18d4d2846b5"/>
    <p:sldId xmlns:r="http://schemas.openxmlformats.org/officeDocument/2006/relationships" id="269" r:id="R7e261990f24541b8"/>
    <p:sldId xmlns:r="http://schemas.openxmlformats.org/officeDocument/2006/relationships" id="270" r:id="R54f690a5e0b54d14"/>
    <p:sldId xmlns:r="http://schemas.openxmlformats.org/officeDocument/2006/relationships" id="271" r:id="Rcd90bd7bd10c4188"/>
    <p:sldId xmlns:r="http://schemas.openxmlformats.org/officeDocument/2006/relationships" id="272" r:id="Rdd6258fe0375433e"/>
    <p:sldId xmlns:r="http://schemas.openxmlformats.org/officeDocument/2006/relationships" id="273" r:id="R33495775323a4c8a"/>
    <p:sldId xmlns:r="http://schemas.openxmlformats.org/officeDocument/2006/relationships" id="274" r:id="R1b4dc52cf811453e"/>
    <p:sldId xmlns:ns0="http://schemas.openxmlformats.org/officeDocument/2006/relationships" id="275" ns0:id="rId26"/>
    <p:sldId xmlns:ns0="http://schemas.openxmlformats.org/officeDocument/2006/relationships" id="276" ns0:id="rId2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1661dc892969444f" Type="http://schemas.openxmlformats.org/officeDocument/2006/relationships/slide" Target="slides/slide9.xml"/><Relationship Id="R1b4dc52cf811453e" Type="http://schemas.openxmlformats.org/officeDocument/2006/relationships/slide" Target="slides/slide19.xml"/><Relationship Id="R2b490c40ffe247ec" Type="http://schemas.openxmlformats.org/officeDocument/2006/relationships/tableStyles" Target="tableStyles.xml"/><Relationship Id="R33495775323a4c8a" Type="http://schemas.openxmlformats.org/officeDocument/2006/relationships/slide" Target="slides/slide18.xml"/><Relationship Id="R3c14e1be169a4361" Type="http://schemas.openxmlformats.org/officeDocument/2006/relationships/slide" Target="slides/slide2.xml"/><Relationship Id="R47719a2b95ea40d4" Type="http://schemas.openxmlformats.org/officeDocument/2006/relationships/notesMaster" Target="notesMasters/notesMaster1.xml"/><Relationship Id="R4920effccdd1499c" Type="http://schemas.openxmlformats.org/officeDocument/2006/relationships/slide" Target="slides/slide11.xml"/><Relationship Id="R4eb88cfc8b9447b0" Type="http://schemas.openxmlformats.org/officeDocument/2006/relationships/slide" Target="slides/slide8.xml"/><Relationship Id="R5175900f890a4843" Type="http://schemas.openxmlformats.org/officeDocument/2006/relationships/slide" Target="slides/slide4.xml"/><Relationship Id="R54f690a5e0b54d14" Type="http://schemas.openxmlformats.org/officeDocument/2006/relationships/slide" Target="slides/slide15.xml"/><Relationship Id="R5a67764a214d465a" Type="http://schemas.openxmlformats.org/officeDocument/2006/relationships/theme" Target="theme/theme1.xml"/><Relationship Id="R6bfee4c1d63d461f" Type="http://schemas.openxmlformats.org/officeDocument/2006/relationships/slide" Target="slides/slide3.xml"/><Relationship Id="R6c57dbe4759748d8" Type="http://schemas.openxmlformats.org/officeDocument/2006/relationships/slideMaster" Target="slideMasters/slideMaster1.xml"/><Relationship Id="R7e261990f24541b8" Type="http://schemas.openxmlformats.org/officeDocument/2006/relationships/slide" Target="slides/slide14.xml"/><Relationship Id="R8622ba03f2fa457a" Type="http://schemas.openxmlformats.org/officeDocument/2006/relationships/slide" Target="slides/slide7.xml"/><Relationship Id="Ra3f81e50d1c345ed" Type="http://schemas.openxmlformats.org/officeDocument/2006/relationships/presProps" Target="presProps.xml"/><Relationship Id="Racc0658998ef4a02" Type="http://schemas.openxmlformats.org/officeDocument/2006/relationships/viewProps" Target="viewProps.xml"/><Relationship Id="Rb2d47ed3ecf14199" Type="http://schemas.openxmlformats.org/officeDocument/2006/relationships/slide" Target="slides/slide10.xml"/><Relationship Id="Rcd90bd7bd10c4188" Type="http://schemas.openxmlformats.org/officeDocument/2006/relationships/slide" Target="slides/slide16.xml"/><Relationship Id="Rd532c18d4d2846b5" Type="http://schemas.openxmlformats.org/officeDocument/2006/relationships/slide" Target="slides/slide13.xml"/><Relationship Id="Rd93fdac9c92c4352" Type="http://schemas.openxmlformats.org/officeDocument/2006/relationships/slide" Target="slides/slide12.xml"/><Relationship Id="Rdba891d6c6b84991" Type="http://schemas.openxmlformats.org/officeDocument/2006/relationships/slide" Target="slides/slide1.xml"/><Relationship Id="Rdd6258fe0375433e" Type="http://schemas.openxmlformats.org/officeDocument/2006/relationships/slide" Target="slides/slide17.xml"/><Relationship Id="Re0084be1fc0448f1" Type="http://schemas.openxmlformats.org/officeDocument/2006/relationships/slide" Target="slides/slide6.xml"/><Relationship Id="Re0cd0baad92c4023" Type="http://schemas.openxmlformats.org/officeDocument/2006/relationships/slide" Target="slides/slide5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5d3ea08dc0234f9a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37ac7836649f4976" Type="http://schemas.openxmlformats.org/officeDocument/2006/relationships/slide" Target="../slides/slide1.xml"/><Relationship Id="Rf612bed41051465c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b7f5301919343a3" Type="http://schemas.openxmlformats.org/officeDocument/2006/relationships/notesMaster" Target="../notesMasters/notesMaster1.xml"/><Relationship Id="Rca85335fe82543df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3df937c4a2fe4cb6" Type="http://schemas.openxmlformats.org/officeDocument/2006/relationships/notesMaster" Target="../notesMasters/notesMaster1.xml"/><Relationship Id="Reaf553deb0c44276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74af171a877b495b" Type="http://schemas.openxmlformats.org/officeDocument/2006/relationships/slide" Target="../slides/slide4.xml"/><Relationship Id="Rb224ae53c03a446a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8600850c0c4c459f" Type="http://schemas.openxmlformats.org/officeDocument/2006/relationships/slide" Target="../slides/slide5.xml"/><Relationship Id="Rb5ecd74b36e94d66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4e2d1402fb0243e3" Type="http://schemas.openxmlformats.org/officeDocument/2006/relationships/slide" Target="../slides/slide6.xml"/><Relationship Id="Rf405e80be15c4ae9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8c3fe982cc6d46d7" Type="http://schemas.openxmlformats.org/officeDocument/2006/relationships/slide" Target="../slides/slide7.xml"/><Relationship Id="Rbf9ac411c328427b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bfae64ecf9f54eb5" Type="http://schemas.openxmlformats.org/officeDocument/2006/relationships/slide" Target="../slides/slide8.xml"/><Relationship Id="Rf300abd1d25449eb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67b210db117d4bed" Type="http://schemas.openxmlformats.org/officeDocument/2006/relationships/slide" Target="../slides/slide9.xml"/><Relationship Id="R855b1470513344df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0da61ffc3fe0464a" Type="http://schemas.openxmlformats.org/officeDocument/2006/relationships/notesMaster" Target="../notesMasters/notesMaster1.xml"/><Relationship Id="R3bbb053b926746e7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0a8822c11a254d67" Type="http://schemas.openxmlformats.org/officeDocument/2006/relationships/notesMaster" Target="../notesMasters/notesMaster1.xml"/><Relationship Id="R424f138084424a4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82f2c1b4a9b4983" Type="http://schemas.openxmlformats.org/officeDocument/2006/relationships/notesMaster" Target="../notesMasters/notesMaster1.xml"/><Relationship Id="Rdb4556cd1d90410f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79720b87c673456e" Type="http://schemas.openxmlformats.org/officeDocument/2006/relationships/notesMaster" Target="../notesMasters/notesMaster1.xml"/><Relationship Id="R97f99c5feaf0426c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849c244e91d94a8b" Type="http://schemas.openxmlformats.org/officeDocument/2006/relationships/notesMaster" Target="../notesMasters/notesMaster1.xml"/><Relationship Id="Re9757260d55248fc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5d8859865e8c4bf1" Type="http://schemas.openxmlformats.org/officeDocument/2006/relationships/notesMaster" Target="../notesMasters/notesMaster1.xml"/><Relationship Id="Rcf799dc0639b4a37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23bda2bc1734477c" Type="http://schemas.openxmlformats.org/officeDocument/2006/relationships/slide" Target="../slides/slide16.xml"/><Relationship Id="R7a437d9053ab4cce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2843ad1a853742be" Type="http://schemas.openxmlformats.org/officeDocument/2006/relationships/slide" Target="../slides/slide17.xml"/><Relationship Id="R52d821d73850477f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d2ff859c4aa94e1b" Type="http://schemas.openxmlformats.org/officeDocument/2006/relationships/slide" Target="../slides/slide18.xml"/><Relationship Id="Rfcf5b45195af41f5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69296972a4e549b8" Type="http://schemas.openxmlformats.org/officeDocument/2006/relationships/notesMaster" Target="../notesMasters/notesMaster1.xml"/><Relationship Id="Rf343cc16139343fb" Type="http://schemas.openxmlformats.org/officeDocument/2006/relationships/slide" Target="../slides/slide1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3354612116a4a4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8f4fe9cddbb4add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18f1e15b1b3144a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05c7891880ae4e4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4c51d66e3af4239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60d86575e121429b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e8f4cb28d448415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8cfd899c5fdc4e40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d378979baca8473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ccae896ddfc1440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416a5184fa2049e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D425298-A444-432C-9C51-23A7EBC55E0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71B3BA5-9D1B-450C-BAD6-D8DE591EC2A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3D82C10-8448-4F1F-8F6E-FBE7D3846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3117848-83E2-4972-98BE-1A111D47A6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B0ECADC-4BDB-4476-8322-78A01B868B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FB53CC-ECC7-4A11-B847-2D13A401F3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2797E-0E9E-49C1-A485-D752A366917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7E87C1C-CD8D-494A-867C-92B36DD8A2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7641BB-1957-4100-AFF4-E8C923BA50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7E6C39-74E9-4019-9015-07446C16AB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CB3986B-AA3A-4E4D-A5AA-C5ACCEEDC8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C1857C-4A38-47F6-9569-4BCE3E88BE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E16E99-4E55-480F-AD5D-CFC211A1CC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358C1C-BFC5-4F09-B28B-778CEB68A6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8CB1A2-4A11-4C9A-85BF-23A67EBE98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072A40-FE3B-4646-9DCB-22474A1DDD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DDFA09B-7480-46C6-A65D-9CAAE480824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2D91BCD-493D-4246-A3B4-4501AB381F9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A492830-1D4D-4C1B-8D01-65F681C64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1F4E2C-05FC-4159-A6C1-3B52D53785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78B5419-C6B9-4751-8A71-0EE38E5B605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96A7A7-D3D9-4D7C-A3F8-10F9295F30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8CFC3D4-CAC7-450C-86DC-1A0859C539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7EE06C5-6C1F-4E7A-AC86-9A5BAAE289D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57A87E4-ACCD-4308-8422-510F9C61C74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726927B-4503-4202-944E-CB660B541CC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D47008A-D807-4E3A-A739-0B91532B57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DA2B965-4AD0-4B37-914E-0EA0944C9E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93F0A63-1563-4E09-B46E-8CAE421F23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523CFE-307D-40CE-8F39-A293054CC9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CC989C7-5A21-46C8-994C-71AF32EF0E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3A6BFD9-49AF-45B5-AD2C-1B7663BD8A3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35D0D53-F515-49CA-8C92-7DCA320E8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96FE7B-22E6-425E-8B5B-4E82FFA25D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BD6180C-8400-471B-95C5-FDF9DA757B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334E36-A2FD-4FC6-8995-01EA981A2D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2FC674-D84F-4DFE-8C18-982C44B218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97C8743-1AFA-4BC8-ABCC-C3852DFB148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4C68DFA-65C9-47F8-BD01-5026BD93C2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7AC061-6532-483B-8471-2FA5B7717E1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665F073-E05F-4432-8F84-05C3C5DE34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F65AB04-E368-4EC3-96CF-CD5C7DFCA0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6AA57B7-8B7D-4302-B44A-4ADF1BFB64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E77E049-F23B-469B-95B0-50A37E5E823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1CF66B0-2CC1-4C27-9EFB-2287D0ADD0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03E4654-F965-4AE2-AE75-740DD90CA9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5226BF-0E3C-437C-91C4-12D3FC6373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0A35F74-D264-490B-85CC-4473E0B1C9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6CC4D6-E535-4852-86E2-DC608DAB4E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A9FE2BC-8C4C-4B83-90FF-038D36C761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A712356-EAD4-455A-95B3-518A9448309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7563CE-AF55-4191-AFC3-0FC779DE5B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2C3EF7C-9FEF-4C99-9C0C-7253540C28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591BE9A-FAC0-4F80-839B-89DA1DD09E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11493B5-8FE0-4943-AABE-6179A281E1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D71B00-CE49-4E80-BBA9-85062D1022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EC87BBE-5949-4D1D-A029-0AE700B72F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DAB35A5-67DA-475F-BF36-F4B82E14B7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98e07e6d90e4e32" Type="http://schemas.openxmlformats.org/officeDocument/2006/relationships/slideLayout" Target="../slideLayouts/slideLayout4.xml"/><Relationship Id="R3e84247437da4e4a" Type="http://schemas.openxmlformats.org/officeDocument/2006/relationships/slideLayout" Target="../slideLayouts/slideLayout3.xml"/><Relationship Id="R4cbd8919fcfe4e8b" Type="http://schemas.openxmlformats.org/officeDocument/2006/relationships/slideLayout" Target="../slideLayouts/slideLayout8.xml"/><Relationship Id="R61fbd7230cf64351" Type="http://schemas.openxmlformats.org/officeDocument/2006/relationships/slideLayout" Target="../slideLayouts/slideLayout6.xml"/><Relationship Id="R67a60798257e40f9" Type="http://schemas.openxmlformats.org/officeDocument/2006/relationships/slideLayout" Target="../slideLayouts/slideLayout7.xml"/><Relationship Id="R7f164f7bea3c422d" Type="http://schemas.openxmlformats.org/officeDocument/2006/relationships/slideLayout" Target="../slideLayouts/slideLayout11.xml"/><Relationship Id="R9497225123154983" Type="http://schemas.openxmlformats.org/officeDocument/2006/relationships/slideLayout" Target="../slideLayouts/slideLayout2.xml"/><Relationship Id="Ra5fac27ded3f417a" Type="http://schemas.openxmlformats.org/officeDocument/2006/relationships/slideLayout" Target="../slideLayouts/slideLayout5.xml"/><Relationship Id="Rb172ea78f8e24d7b" Type="http://schemas.openxmlformats.org/officeDocument/2006/relationships/slideLayout" Target="../slideLayouts/slideLayout10.xml"/><Relationship Id="Rd132172fb06d4e00" Type="http://schemas.openxmlformats.org/officeDocument/2006/relationships/slideLayout" Target="../slideLayouts/slideLayout9.xml"/><Relationship Id="Rd377b370747b497d" Type="http://schemas.openxmlformats.org/officeDocument/2006/relationships/slideLayout" Target="../slideLayouts/slideLayout1.xml"/><Relationship Id="Rdb4f3c7f9f344f5c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38F3CE9-D1C9-4205-99B6-6971CDAA13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C7E15B-3285-46C6-BF71-83C2751103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81C949-99AC-4523-83A8-2E749A39B07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910C5A-3030-4AA6-B969-78E7BC0F74B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82E6F79-653B-44B4-8507-4219E64E494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77b370747b497d"/>
    <p:sldLayoutId xmlns:r="http://schemas.openxmlformats.org/officeDocument/2006/relationships" id="2147483650" r:id="R9497225123154983"/>
    <p:sldLayoutId xmlns:r="http://schemas.openxmlformats.org/officeDocument/2006/relationships" id="2147483651" r:id="R3e84247437da4e4a"/>
    <p:sldLayoutId xmlns:r="http://schemas.openxmlformats.org/officeDocument/2006/relationships" id="2147483652" r:id="R198e07e6d90e4e32"/>
    <p:sldLayoutId xmlns:r="http://schemas.openxmlformats.org/officeDocument/2006/relationships" id="2147483653" r:id="Ra5fac27ded3f417a"/>
    <p:sldLayoutId xmlns:r="http://schemas.openxmlformats.org/officeDocument/2006/relationships" id="2147483654" r:id="R61fbd7230cf64351"/>
    <p:sldLayoutId xmlns:r="http://schemas.openxmlformats.org/officeDocument/2006/relationships" id="2147483655" r:id="R67a60798257e40f9"/>
    <p:sldLayoutId xmlns:r="http://schemas.openxmlformats.org/officeDocument/2006/relationships" id="2147483656" r:id="R4cbd8919fcfe4e8b"/>
    <p:sldLayoutId xmlns:r="http://schemas.openxmlformats.org/officeDocument/2006/relationships" id="2147483657" r:id="Rd132172fb06d4e00"/>
    <p:sldLayoutId xmlns:r="http://schemas.openxmlformats.org/officeDocument/2006/relationships" id="2147483658" r:id="Rb172ea78f8e24d7b"/>
    <p:sldLayoutId xmlns:r="http://schemas.openxmlformats.org/officeDocument/2006/relationships" id="2147483659" r:id="R7f164f7bea3c422d"/>
  </p:sldLayoutIdLst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469d5612a9c47e8" Type="http://schemas.openxmlformats.org/officeDocument/2006/relationships/slideLayout" Target="../slideLayouts/slideLayout7.xml"/><Relationship Id="Rcbc6981765f74d9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e3392e2329246d2" Type="http://schemas.openxmlformats.org/officeDocument/2006/relationships/slideLayout" Target="../slideLayouts/slideLayout7.xml"/><Relationship Id="R6c34882c44f445ec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4b46967311d4a08" Type="http://schemas.openxmlformats.org/officeDocument/2006/relationships/slideLayout" Target="../slideLayouts/slideLayout7.xml"/><Relationship Id="Rf0765380bf3b498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3540f444bb224262" Type="http://schemas.openxmlformats.org/officeDocument/2006/relationships/notesSlide" Target="../notesSlides/notesSlide4.xml"/><Relationship Id="Ra9a8ca73ff5c489a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2e2c829fc6c44622" Type="http://schemas.openxmlformats.org/officeDocument/2006/relationships/slideLayout" Target="../slideLayouts/slideLayout7.xml"/><Relationship Id="Rf5f4cb072216445b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1608643a945444b1" Type="http://schemas.openxmlformats.org/officeDocument/2006/relationships/image" Target="../media/image.png"/><Relationship Id="Rbd46115a36464b33" Type="http://schemas.openxmlformats.org/officeDocument/2006/relationships/slideLayout" Target="../slideLayouts/slideLayout7.xml"/><Relationship Id="Rff2a09781403431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e9931add79984722" Type="http://schemas.openxmlformats.org/officeDocument/2006/relationships/notesSlide" Target="../notesSlides/notesSlide7.xml"/><Relationship Id="Rea1f71902314483a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183759d0d7f44610" Type="http://schemas.openxmlformats.org/officeDocument/2006/relationships/notesSlide" Target="../notesSlides/notesSlide8.xml"/><Relationship Id="R19a8ff0b38984707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0f7ffee1188a480e" Type="http://schemas.openxmlformats.org/officeDocument/2006/relationships/notesSlide" Target="../notesSlides/notesSlide9.xml"/><Relationship Id="R677b19b6370b4ff9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1fd47339cfd0495e" Type="http://schemas.openxmlformats.org/officeDocument/2006/relationships/slideLayout" Target="../slideLayouts/slideLayout7.xml"/><Relationship Id="Rdb15a4a1a7f5418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ac65c4a5e2fe48b6" Type="http://schemas.openxmlformats.org/officeDocument/2006/relationships/slideLayout" Target="../slideLayouts/slideLayout7.xml"/><Relationship Id="Rb4671153d0cb4f2b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7c1498d1746e4769" Type="http://schemas.openxmlformats.org/officeDocument/2006/relationships/notesSlide" Target="../notesSlides/notesSlide12.xml"/><Relationship Id="R86e25957f961431d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82f63bfdc57243e8" Type="http://schemas.openxmlformats.org/officeDocument/2006/relationships/slideLayout" Target="../slideLayouts/slideLayout7.xml"/><Relationship Id="Rb52d93461905486b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23c8509eba19462d" Type="http://schemas.openxmlformats.org/officeDocument/2006/relationships/slideLayout" Target="../slideLayouts/slideLayout7.xml"/><Relationship Id="Rd4d0b6e2399f40e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b906663741a74700" Type="http://schemas.openxmlformats.org/officeDocument/2006/relationships/notesSlide" Target="../notesSlides/notesSlide15.xml"/><Relationship Id="Rb9402b7564184968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93e5a7d38fd048b1" Type="http://schemas.openxmlformats.org/officeDocument/2006/relationships/notesSlide" Target="../notesSlides/notesSlide16.xml"/><Relationship Id="Rf3a6707be04a4b4d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2febc406da2d4d48" Type="http://schemas.openxmlformats.org/officeDocument/2006/relationships/slideLayout" Target="../slideLayouts/slideLayout7.xml"/><Relationship Id="R6aea0d758b3f40f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b7bde2b53732424e" Type="http://schemas.openxmlformats.org/officeDocument/2006/relationships/notesSlide" Target="../notesSlides/notesSlide18.xml"/><Relationship Id="Rebf72e1fa8af45bd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0caeb6c56ddb4fc2" Type="http://schemas.openxmlformats.org/officeDocument/2006/relationships/slideLayout" Target="../slideLayouts/slideLayout7.xml"/><Relationship Id="Red17fe3e7e824d9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20CF43-BF12-4674-985E-8C75739F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TITLE &amp; ABSTRACT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293C99B-C68A-4806-A61E-DDCB8EA7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CE8EE01-EFB4-4FE3-B988-B28252CE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4062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Financial Intelligence Engine for Investment Analysis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65336C7-59A6-4BC0-8172-78A8071B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Phase 1 prototype for AI-assisted financial research and investment suggestions.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B57D56-9228-40AF-9714-4A11FBBA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First Review | Financial Intelligence Engine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ECBA47A-9F30-4C71-AE87-C39984E2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FB3A007-FAA2-44E7-B2A0-6492A6CF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19"/>
            <a:ext cx="5440680" cy="2148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992BFD8-6B9E-4D4D-965E-D1C03F58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1993391"/>
            <a:ext cx="51297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Project Abstract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FF44123-5AED-4960-9A30-E170A4CD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313432"/>
            <a:ext cx="5129784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This project builds an AI-powered financial intelligence system that reduces manual investment analysis effort by integrating market data, company fundamentals, technical indicators, sentiment signals, and multi-agent reasoning. The current Phase 1 prototype includes data ingestion, feature engineering, investment scoring, generated reports, and an interactive dashboard where users can ask investment questions.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FBC63BC-DE56-47CC-A141-FCD6F0E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74519"/>
            <a:ext cx="4526280" cy="2148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A2C4FD3-7F72-4F07-AC49-6E8CE8F9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993391"/>
            <a:ext cx="4215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Research Objective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73C86AF-383C-46B5-A310-4EB12926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313432"/>
            <a:ext cx="4215384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Design and implement a scalable, explainable system that can support Buy/Hold/Sell-style investment suggestions using structured and unstructured financial signals.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1D02F25-91F5-4CDD-80F4-558B24D0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1000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77A95E8-638E-41A1-997E-620C934C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65192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COMPANY UNIVERSE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281FF20-9443-4C9D-9B26-08F50409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Nasdaq/SEC cached tickers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D129352-564E-40E5-AC4C-04835D1E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1EA2340-BA26-43C0-9662-193C82A3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965192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DEEP ANALYSIS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E8F15C1-0F13-4423-808A-BE177CA8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selected demo companies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06749F0-6666-4C89-B1BB-63E158ED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34517BE-D320-44FD-95B5-C4509A1D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965192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FEATURES/COMPANY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0C63568-0963-4BED-B56D-47067FBD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technical + composite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12FEC41-172F-4C68-BF44-8126A90C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300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90BF252-6320-4EBA-96FC-4EAB9D10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965192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NEWS ROWS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E6C04C35-2629-4622-A857-E08299FB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sentiment demo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50D87FF-109A-45F5-9B0B-E62B037C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81%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ECE9D3A9-15F2-4F5E-BB39-7D8B1D67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965192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READINESS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C7CAF46-CEAC-45B4-B077-7309D824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production-ready baseline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7CB0BA5-E992-4F40-89DF-010FCB4A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4/4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B58CB904-541D-4BC5-A3B1-73A7178E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965192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BE288CDC-BD01-4869-B0DB-8615E7E9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pytest passing</a:t>
            </a:r>
          </a:p>
        </p:txBody>
      </p:sp>
    </p:spTree>
    <p:extLst>
      <p:ext uri="{BB962C8B-B14F-4D97-AF65-F5344CB8AC3E}">
        <p14:creationId xmlns:p14="http://schemas.microsoft.com/office/powerpoint/2010/main" val="9126502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21DD98-8656-47AB-AB3F-161FD785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ARCHITECTURAL DESIGN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C04383D-DCC3-40F5-9A0F-0985A238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DC493C6-0AEE-4E74-AA41-621D185E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467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6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Modular architecture separates data breadth, signal depth, and user interaction</a:t>
            </a:r>
            <a:r>
              <a:rPr sz="28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6BA2416-0044-4138-A197-4E409AC2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The system is designed so each layer can be improved independently in later phases.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8992A0-A754-4DAE-BE23-2C3F16E9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First Review | Financial Intelligence Engine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5B0C58-17E3-4134-AEA4-1A8C513E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89647A3-A401-4224-8917-B6DD9846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C96E83-9916-4349-9C5F-9D12E9D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103120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Universe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141E9D0-F0CC-47EE-9A80-2BCA18E9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1000 US tickers
Nasdaq/SEC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F4C45320-2615-4521-991D-076CD994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71020EB-9D4F-4D3A-A7FC-E548CC32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9AE5AEF-6714-41AE-9683-CC7AC9D9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03120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 Layer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D5B4C73-723C-4523-A8FB-1614A7B2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prices, fundamentals
company info</a:t>
            </a: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C7E17F59-41A6-4756-BDE1-B85F7820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A677DC8-A80A-4B6A-8A82-0D8833EF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8972876-8F76-46B9-A187-5E19F0D9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59" y="2103120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Feature Layer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19590FD-E98F-4695-B436-86B3E2F6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RSI, MACD, ATR
moving averages</a:t>
            </a:r>
          </a:p>
        </p:txBody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946F74FF-816E-4C68-BE83-C10C18F8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3258365-A023-469D-B0AF-96D141B7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D212894-AEE3-4AF2-923D-8601B096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79" y="2103120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Sentiment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50A180B-B48C-462A-8F3A-D04B5A60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financial news
signal scoring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5F85DFC5-1E20-425A-BC6F-E462167D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8F255F51-9940-4570-96BF-3F17E2D8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59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DC20D06-9C61-4D39-A37E-4CAB9AE2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0999" y="2103120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F2AE2A-858B-48C2-9787-0A065C63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28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risk, forecast,
decision, explain</a:t>
            </a: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D909458E-4F97-4F57-94C6-B34B6A43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59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6001313F-7EB7-4078-9E9E-138E2B67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925285D-52C8-43D9-AF10-6D1DBB04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19" y="2103120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23D0FDE9-6128-43C5-8A6E-4AB50B94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380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 tab, outputs,
analysis dashboard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7155E6FB-B27F-4F22-AAEA-FE780A08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1303E1F-E6BC-444C-8D84-2071F6D6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Storage &amp; Outputs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EFC2BD6-48BF-4D7B-BF81-A0C1AD46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CSV, JSON, readiness report, investment report, sentiment table, technical summary, and clickable output routes.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48129C2A-F1A7-41C1-88FE-1F9D8F78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C988E3A0-2262-458D-9048-AE80EFCF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Interactive Q&amp;A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07BC573-EF31-4994-93CC-646F2B7C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User questions are routed to the orchestrator, which coordinates sentiment, risk, forecast, decision, and explanation agents.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B344A3A7-76F5-49BD-8A45-053E1908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703320"/>
            <a:ext cx="283464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9DE36345-9569-49B1-801E-D52C559B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3822191"/>
            <a:ext cx="25237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Next RAG Layer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4E4E7544-F973-4586-8A6A-43B55714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4142231"/>
            <a:ext cx="252374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PDF / 10-K / earnings report retrieval will enrich the existing retriever agent.</a:t>
            </a:r>
          </a:p>
        </p:txBody>
      </p:sp>
    </p:spTree>
    <p:extLst>
      <p:ext uri="{BB962C8B-B14F-4D97-AF65-F5344CB8AC3E}">
        <p14:creationId xmlns:p14="http://schemas.microsoft.com/office/powerpoint/2010/main" val="16555599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CB3CC05-32BC-4611-8F83-26965195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ALGORITHMS / TECHNIQUES USED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9E98480-091B-4D60-8473-76A58F012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997530C-C470-4BAB-9ED4-2737CCD4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19" y="713232"/>
            <a:ext cx="9742293" cy="467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4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prototype combines financial indicators, sentiment scoring, and multi-agent decision logic</a:t>
            </a:r>
            <a:r>
              <a:rPr sz="28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F6C9BE-39D0-497C-916F-F59D2EE1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These are the core techniques implemented or scaffolded in Phase 1.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A0CC071-DCD9-46F0-BD63-BEC1B87F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First Review | Financial Intelligence Engine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70745C3-01F4-4FDB-BBD2-DD632B3F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8" name="Table 7"/>
          <p:cNvGraphicFramePr/>
          <p:nvPr/>
        </p:nvGraphicFramePr>
        <p:xfrm>
          <a:off xmlns:a="http://schemas.openxmlformats.org/drawingml/2006/main" x="594360" y="1783080"/>
          <a:ext xmlns:a="http://schemas.openxmlformats.org/drawingml/2006/main" cx="10972800" cy="329184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4160520"/>
                <a:gridCol w="4846320"/>
              </a:tblGrid>
              <a:tr h="470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Component</a:t>
                      </a:r>
                    </a:p>
                  </a:txBody>
                  <a:tcPr marL="91440" marR="91440" marT="45720" marB="45720">
                    <a:solidFill>
                      <a:srgbClr val="0B1F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Technique</a:t>
                      </a:r>
                    </a:p>
                  </a:txBody>
                  <a:tcPr marL="91440" marR="91440" marT="45720" marB="45720">
                    <a:solidFill>
                      <a:srgbClr val="0B1F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implementation</a:t>
                      </a:r>
                    </a:p>
                  </a:txBody>
                  <a:tcPr marL="91440" marR="91440" marT="45720" marB="45720">
                    <a:solidFill>
                      <a:srgbClr val="0B1F24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Data acquisition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Yahoo Finance + Nasdaq/SEC universe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Historical OHLCV, fundamentals, company metadata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Feature engineering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RSI, MACD, stochastic, ATR, Bollinger bands, moving averages, OBV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42 implemented feature categories per company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Sentiment analysis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Keyword-based financial sentiment scoring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Positive, negative, neutral labels and aggregated sentiment metrics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Investment scoring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Weighted technical + sentiment + fundamental score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Buy / Hold / Sell style recommendations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Multi-agent orchestration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Retriever, Sentiment, Risk, Forecast, Decision, Explainability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Ask tab answers user investment questions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Explainability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Agent summaries + generated rationale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Educational explanation and signal drivers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495A91C-8197-450B-9BBF-CF6E39D9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329184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EFA5BE0-F1FD-4EB9-A9F5-EB077A81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559552"/>
            <a:ext cx="29809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Example user question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EF5514E-02A6-472B-9EBD-4DE2BC9A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879592"/>
            <a:ext cx="2980944" cy="1554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Should I invest in AAPL and MSFT for the next 30 days?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7076ADC-B3B1-4F00-ACDC-ECD826F9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5440680"/>
            <a:ext cx="30175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79019E4-A74D-4435-89AE-1AB195E5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5559552"/>
            <a:ext cx="270662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System response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7BD676D-2BE8-4F38-826B-0BFB731C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5879592"/>
            <a:ext cx="2706624" cy="1554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Agent-backed suggestions with score, confidence, drivers, and disclaimer.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716808C3-05F8-4B08-96BC-81D33E16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5440680"/>
            <a:ext cx="31546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A4DF65B-71F5-4F90-999F-080A8D58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5559552"/>
            <a:ext cx="28437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AA66951-18EC-4A5C-B906-A9BF5011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5879592"/>
            <a:ext cx="2843784" cy="1554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Recommendation report + dashboard answer panel.</a:t>
            </a:r>
          </a:p>
        </p:txBody>
      </p:sp>
    </p:spTree>
    <p:extLst>
      <p:ext uri="{BB962C8B-B14F-4D97-AF65-F5344CB8AC3E}">
        <p14:creationId xmlns:p14="http://schemas.microsoft.com/office/powerpoint/2010/main" val="107122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630D48B-3A22-4A8C-B675-A2707EBC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EXPECTED OUTCOMES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66DA557-F2FC-40BB-B9DD-68ECC0F3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B6AFA97-90ED-4383-924E-448A6BAC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19" y="713232"/>
            <a:ext cx="10056925" cy="3447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0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system should become an explainable AI assistant for investment research.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1BEF6D1-9801-4937-BE25-ED37FADD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Outcomes are split into current Phase 1 deliverables and next review targets.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8FE084A-4079-48FD-85A7-3AC8AB6D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First Review | Financial Intelligence Engine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291A1F-71DA-45C8-B3E7-B5FA58C4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59E9968-51D5-4D7C-87AE-9C5FB83F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07492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2CEDA28-E683-4A7C-8AC5-1D2D1A08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1901952"/>
            <a:ext cx="476402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Expected outcomes for the project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72CFDD7-17A9-4072-AD9B-EA569D04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221991"/>
            <a:ext cx="4764024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1. Reduce manual research time for stock screening.
2. Provide explainable Buy/Hold/Sell-style suggestions.
3. Combine structured market data with unstructured financial text.
4. Build an interactive dashboard for portfolio review.
5. Support future RAG-based document reasoning.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3A2EE93-99DB-4332-8077-B3EF4B31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783080"/>
            <a:ext cx="498348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E50CA57-0F90-4850-BDE0-92B7F70A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901952"/>
            <a:ext cx="46725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What is achieved till now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DB3D0BB-D2ED-4E26-82DF-FCC7A5BB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221991"/>
            <a:ext cx="4672584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1. 1000-company US equity universe cached.
2. 10-company detailed demo analysis.
3. 42 feature categories per company.
4. 300 generated news/sentiment rows.
5. Ask tab and clickable output reports.
6. 4 tests passing.</a:t>
            </a:r>
          </a:p>
        </p:txBody>
      </p:sp>
      <p:graphicFrame>
        <p:nvGraphicFramePr>
          <p:cNvPr id="14" name="Table 13"/>
          <p:cNvGraphicFramePr/>
          <p:nvPr/>
        </p:nvGraphicFramePr>
        <p:xfrm>
          <a:off xmlns:a="http://schemas.openxmlformats.org/drawingml/2006/main" x="1051560" y="4343400"/>
          <a:ext xmlns:a="http://schemas.openxmlformats.org/drawingml/2006/main" cx="10058400" cy="132588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194560"/>
                <a:gridCol w="5303520"/>
              </a:tblGrid>
              <a:tr h="265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0B1F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value</a:t>
                      </a:r>
                    </a:p>
                  </a:txBody>
                  <a:tcPr marL="91440" marR="91440" marT="45720" marB="45720">
                    <a:solidFill>
                      <a:srgbClr val="0B1F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Meaning</a:t>
                      </a:r>
                    </a:p>
                  </a:txBody>
                  <a:tcPr marL="91440" marR="91440" marT="45720" marB="45720">
                    <a:solidFill>
                      <a:srgbClr val="0B1F2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Data completeness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100%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All expected demo data sources populated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System complexity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100/100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Advanced multi-source processing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Production readiness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81%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17/21 checklist items complete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Data volume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186,760 points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Phase 1 generated analysis scale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11353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ECD7218-58DD-4E3C-9F91-9817C531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REFERENCES + 30% CODE IMPLEMENTATION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DBF8E3-3768-4F17-96BB-2B2ECC93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2234D6C-B204-4885-A735-50B2CDEA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2831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6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submission has working Phase 1 code and recent research grounding.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9C138BF-D1C1-436F-AF82-C836015E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Code will be zipped separately; this slide lists what the review panel can verify.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F324433-CBA6-4F9F-89EE-515F3664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First Review | Financial Intelligence Engine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03C45B-D3BE-4644-BD4F-8234AF6E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96FD1D4-E93D-422F-95E6-42E8A88C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37360"/>
            <a:ext cx="3657600" cy="1965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1B6988B-B953-4C75-9FCB-50C2E759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856231"/>
            <a:ext cx="33467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30% implementation evidence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3536E12-6CBB-42BF-95D0-DE15E20F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115609"/>
            <a:ext cx="3346704" cy="14630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Implemented modules:
- </a:t>
            </a:r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data_layer</a:t>
            </a:r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
- agents
- storage
- frontend
- reports / generated outputs
Run commands:
python demo_ultimate.py
python frontend/server.py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82C4255-132C-4006-9681-7F6C91AA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737360"/>
            <a:ext cx="2880360" cy="1965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9094C96-1AFA-4A84-B556-385E2B44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1856231"/>
            <a:ext cx="256946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Timeline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43B394-DED6-4E81-B0AE-E6BF9C38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2176272"/>
            <a:ext cx="2569464" cy="14630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Review 1: Phase 1 prototype
Next: RAG document ingestion
Next: ML risk/forecast models
Final: scaled evaluation, monitoring, and dashboard polish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809C3C9-CDED-4211-8AB4-4F7A74ED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1737360"/>
            <a:ext cx="3337560" cy="3566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8CD2462-E170-4DC6-B68B-F0C4497C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4696" y="1856231"/>
            <a:ext cx="302666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Latest references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97D953-5C62-4272-9921-F0F60D87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2519172"/>
            <a:ext cx="3026664" cy="30632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Xiao et al., Retrieval-Augmented LLMs for Financial Time-Series Forecasting, arXiv:2502.05878, 2025.
Choi et al., </a:t>
            </a:r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FinDER</a:t>
            </a:r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: Financial Dataset for QA and Evaluating RAG, arXiv:2504.15800, 2025.
Yao et al., Evaluating LLMs for Financial Reasoning: CFA Benchmark, arXiv:2509.04468, 2025.
Xu et al., Analytical Stage-Based Multi-Agent Framework, Decision Analytics Journal, 2025.
Khan et al., Model-Agnostic Explainable AI Methods in Finance, Artificial Intelligence Review, 2025.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9770320-490C-4687-BA1A-FC139B1C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00600"/>
            <a:ext cx="6629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500"/>
              </a:spcAft>
              <a:buNone/>
              <a:defRPr sz="1150">
                <a:solidFill>
                  <a:srgbClr val="122026"/>
                </a:solidFill>
                <a:latin typeface="Aptos"/>
                <a:ea typeface="Aptos"/>
                <a:cs typeface="Aptos"/>
              </a:defRPr>
            </a:pPr>
            <a:r>
              <a:t>Submission package: PPT + zipped source code + generated outputs in data/.</a:t>
            </a:r>
          </a:p>
          <a:p xmlns:a="http://schemas.openxmlformats.org/drawingml/2006/main">
            <a:pPr>
              <a:spcAft>
                <a:spcPts val="500"/>
              </a:spcAft>
              <a:buNone/>
              <a:defRPr sz="1150">
                <a:solidFill>
                  <a:srgbClr val="122026"/>
                </a:solidFill>
                <a:latin typeface="Aptos"/>
                <a:ea typeface="Aptos"/>
                <a:cs typeface="Aptos"/>
              </a:defRPr>
            </a:pPr>
            <a:r>
              <a:t>Scope note: full 1000-company detailed scoring will require caching and rate-limit handling in Phase 2.</a:t>
            </a:r>
          </a:p>
        </p:txBody>
      </p:sp>
    </p:spTree>
    <p:extLst>
      <p:ext uri="{BB962C8B-B14F-4D97-AF65-F5344CB8AC3E}">
        <p14:creationId xmlns:p14="http://schemas.microsoft.com/office/powerpoint/2010/main" val="214590679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8643a945444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87021" y="463397"/>
            <a:ext cx="11817957" cy="593120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0260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1F8A154-1EE6-4DB5-BE4A-C9BB26F0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PROGRESS SINCE LAST REVIEW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693D82C-7BE1-4376-998C-2F35938F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Phase 1 moved from prototype skeleton to working baseline.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F402528-E709-4BDA-9F2F-79F11DF4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New implementation evidence: large data, trained models, persistent vector DB, RAG query path, and OpenAI-ready GenAI layer.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B35C884-A838-4062-93C6-D644EC34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ED47DA9-8D77-4FD1-AA3D-B710B35B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FDBA9D1-2B69-4977-A9DB-C2C789CE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8787DF4-077B-4FDE-BB98-91689701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46504"/>
            <a:ext cx="21854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US equity universe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9ED9360-FC94-4ACC-B7F0-03974881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10,000</a:t>
            </a:r>
            <a:br/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companies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27C0EB2-68A6-47D2-913D-3BC4D4F6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212E5C0-4E7E-4E70-8266-D8CB75FA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BFC3225-B9A3-4797-87B2-455AAB3C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746504"/>
            <a:ext cx="21854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ML feature table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81C6425-818E-434D-AADD-566CDF01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10,000 x 20</a:t>
            </a:r>
            <a:br/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rows/features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F9AC925-A540-4BD2-AF93-8D6D9F3D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591FFDD-0BEA-476C-B37E-50B200E9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9778"/>
          </a:solidFill>
          <a:ln xmlns:a="http://schemas.openxmlformats.org/drawingml/2006/main">
            <a:solidFill>
              <a:srgbClr val="2097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16D3B66-1126-4DE1-9C86-5E58521C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746504"/>
            <a:ext cx="21854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Risk model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00A2970-15AF-4AEF-AF03-D66CB8134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80.05%</a:t>
            </a:r>
            <a:br/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222B4A5-BAAC-4A14-B973-6E89ED24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4A4A6606-6128-4614-BEC5-58FA4A2B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730"/>
          </a:solidFill>
          <a:ln xmlns:a="http://schemas.openxmlformats.org/drawingml/2006/main">
            <a:solidFill>
              <a:srgbClr val="E0973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85E9023-3E4E-4448-AF13-DBF8A5A0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1746504"/>
            <a:ext cx="21854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Forecast model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D547B1F-29EA-45C6-B56B-05804803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68.95%</a:t>
            </a:r>
            <a:br/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56488DD-90FF-4A40-8A13-D240B61D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46120"/>
            <a:ext cx="52120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What changed after the first review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4F1E6AC-5571-4F44-B08F-FA6652F3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507492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Built a large Phase 1 data pipeline instead of a small demo-only universe.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Generated ML-ready features and trained baseline risk / forecast models.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Added persistent ChromaDB vector store for the RAG layer.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Connected Retriever Agent to vector DB when the index exists.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0CDC3C18-0654-4865-912D-BA90FE32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46120"/>
            <a:ext cx="4754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Evidence files produced by the system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8E9E0D5B-82CF-4433-B2D4-CE002A27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11880"/>
            <a:ext cx="4800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data/processed/us_equity_universe.csv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data/features/phase1_model_features.csv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models/phase1_risk_model.pkl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models/phase1_forecast_model.pkl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data/vectors/chroma/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reports/phase1_agent_report.md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06ACB099-2C7B-473D-88A2-2A4AF965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1 progress update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515E2A70-6DD3-4F84-8B17-323DE2BB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418772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C40B8C-19B7-4F78-8CDB-80F2F87D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RAG IMPLEMENTATION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7D2B94-7D19-4273-B302-06FC6CB6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RAG now uses a persistent local vector database and an LLM-ready answer layer.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243744F-AECA-46F0-8AA9-E900B1A6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This satisfies the Phase 1 baseline requirement while keeping cloud/OpenAI integration configurable.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477BEB-A6EC-4E72-BD70-099FCB29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81877BF-8ECD-4443-A289-1406DBFC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20703B-6CEF-40CB-B476-64617297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984248"/>
            <a:ext cx="145389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Documents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0A2C6D2-B17A-4A8E-9EAB-B01E5A1E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2267712"/>
            <a:ext cx="14538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docs, reports, PDFs</a:t>
            </a:r>
          </a:p>
        </p:txBody>
      </p:sp>
      <p:sp>
        <p:nvSpPr>
          <p:cNvPr id="9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8DA33419-0981-4171-82BF-0D42E32C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39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8601671-EFB9-47A7-AF06-8456F244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0AEB92D-D3DA-47F5-9A5D-7413C8EB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1984248"/>
            <a:ext cx="145389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Chunking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2EEFE7-E918-4EE7-B4E8-BA448E12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2267712"/>
            <a:ext cx="14538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900 char windows</a:t>
            </a:r>
          </a:p>
        </p:txBody>
      </p:sp>
      <p:sp>
        <p:nvSpPr>
          <p:cNvPr id="13" name="Right Arrow 12">
            <a:extLst xmlns:a="http://schemas.openxmlformats.org/drawingml/2006/main">
              <a:ext uri="{FF2B5EF4-FFF2-40B4-BE49-F238E27FC236}">
                <a16:creationId xmlns:a16="http://schemas.microsoft.com/office/drawing/2014/main" id="{16B57069-F367-4DBD-9DFC-BC3382C6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C0B8DA7-D086-4DEF-BB7B-5D810B93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384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480D1D8-8A76-4FE6-9E0F-40D85F51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984248"/>
            <a:ext cx="145389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Embeddings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6370DFA-05F4-4BAC-A31F-D6FDA592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2267712"/>
            <a:ext cx="14538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384-d hashing</a:t>
            </a:r>
          </a:p>
        </p:txBody>
      </p:sp>
      <p:sp>
        <p:nvSpPr>
          <p:cNvPr id="17" name="Right Arrow 16">
            <a:extLst xmlns:a="http://schemas.openxmlformats.org/drawingml/2006/main">
              <a:ext uri="{FF2B5EF4-FFF2-40B4-BE49-F238E27FC236}">
                <a16:creationId xmlns:a16="http://schemas.microsoft.com/office/drawing/2014/main" id="{8A78BE2D-DB33-403D-AD2D-CB4D3B68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B8B92F9-E7CD-4538-9513-8100FF2F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616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62C0A91-17E7-4C03-AAC5-BFAD2A94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984248"/>
            <a:ext cx="145389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ChromaDB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4ACF513-0A01-40BC-B885-646F7173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267712"/>
            <a:ext cx="14538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persistent vector DB</a:t>
            </a:r>
          </a:p>
        </p:txBody>
      </p:sp>
      <p:sp>
        <p:nvSpPr>
          <p:cNvPr id="21" name="Right Arrow 20">
            <a:extLst xmlns:a="http://schemas.openxmlformats.org/drawingml/2006/main">
              <a:ext uri="{FF2B5EF4-FFF2-40B4-BE49-F238E27FC236}">
                <a16:creationId xmlns:a16="http://schemas.microsoft.com/office/drawing/2014/main" id="{A2A0353D-7B76-4DC7-BD5E-465D2A15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E2EAA26E-0382-4198-B3A6-4C787981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A4647F8-97C8-44A6-B41C-7F687CC8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84248"/>
            <a:ext cx="145389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9E14A5D-FC2D-4E99-A788-1AF85864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67712"/>
            <a:ext cx="14538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top-k evidence</a:t>
            </a:r>
          </a:p>
        </p:txBody>
      </p:sp>
      <p:sp>
        <p:nvSpPr>
          <p:cNvPr id="25" name="Right Arrow 24">
            <a:extLst xmlns:a="http://schemas.openxmlformats.org/drawingml/2006/main">
              <a:ext uri="{FF2B5EF4-FFF2-40B4-BE49-F238E27FC236}">
                <a16:creationId xmlns:a16="http://schemas.microsoft.com/office/drawing/2014/main" id="{E7DAC74E-A6DA-4DA5-A262-847A3E31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17E6D26F-F175-4BC5-90C9-F33F63E7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9D340BC-B28F-4D0D-AB0C-7EBFC2A7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1984248"/>
            <a:ext cx="145389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LLM Layer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5948131-AB4A-44AC-9748-0CC004E3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2267712"/>
            <a:ext cx="14538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local / OpenAI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BF173D00-D5E6-463E-B66F-8F16D550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10BE7CF0-6D39-4CD2-9C24-4C05F3E8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9778"/>
          </a:solidFill>
          <a:ln xmlns:a="http://schemas.openxmlformats.org/drawingml/2006/main">
            <a:solidFill>
              <a:srgbClr val="2097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8CBA4D5A-7236-47D5-A10B-28E6E494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300984"/>
            <a:ext cx="29626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Vector DB persistence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7DECF1FC-238C-4322-A5AC-98F8B134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data/vectors/chroma/</a:t>
            </a:r>
            <a:br/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Chroma PersistentClient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854B969F-9139-41E2-9140-D56A0B56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20D0319-4133-4D9B-95A0-4ACFB12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2D86A8D4-8566-4920-B864-B251F952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3300984"/>
            <a:ext cx="29626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Indexed corpus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4F8B1C1-093A-47CB-9A31-9ECA8304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476 chunks</a:t>
            </a:r>
            <a:br/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from docs + reports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D3408B2D-9DBA-4073-8ED4-FB8F0523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B0EFE214-DA02-44D3-8919-4E303C5B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730"/>
          </a:solidFill>
          <a:ln xmlns:a="http://schemas.openxmlformats.org/drawingml/2006/main">
            <a:solidFill>
              <a:srgbClr val="E0973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C43FBE1-93DF-4AC1-860E-9C99B4FD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300984"/>
            <a:ext cx="29626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LLM integration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597A7996-BE98-4484-8EEE-97DA905A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OpenAI-ready</a:t>
            </a:r>
            <a:br/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local fallback active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D27EB28F-C3F9-49C0-8197-A9FD93FF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6592"/>
            <a:ext cx="103327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Demo commands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6CE9CFAB-2A0B-4B89-BBB7-57688689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4920"/>
            <a:ext cx="10149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1F6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17D88883-F96E-45B0-B2A0-6E4BCF0A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193792"/>
            <a:ext cx="9784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python index_phase1_rag.py    -&gt; builds ChromaDB index</a:t>
            </a:r>
            <a:br/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python query_phase1_rag.py "What is implemented in Phase 1?"    -&gt; retrieves evidence + generates answer</a:t>
            </a:r>
            <a:br/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python demo_phase1_agents.py    -&gt; multi-agent investment report uses vector retrieval when available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389C56ED-4D20-494E-BA68-9681D3F1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1 progress update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95C698BF-1735-4A1B-84FB-4287EE96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010291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6EB4878-B34E-448A-A780-B888F739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PHASE 1 DEMO PATH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E84FC4-32C0-4918-9DC1-A6F6C45C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The review demo can now show data scale, model training, vector RAG, and agent output.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8616E8-A70B-4182-949F-BC9E6F47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This slide lists the exact execution flow and what each command proves.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EFAC10-8A32-4C9B-8860-3E39AEF8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E727386C-3617-4BB1-B1AE-28F8A207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184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C28AD2-3740-43E7-BF71-4AB0DD55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91640"/>
            <a:ext cx="38404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5CA5F2D-534F-4675-A4A8-0A165E72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572768"/>
            <a:ext cx="2057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Storage + universe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28C529-B3E0-478D-BB4F-A1723D25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572768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python setup_phase1_storage.py --min-count 10000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7D6F73-917D-4852-A767-8F6F67F1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572768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Creates storage layers and caches 10K US tickers.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4065B1E8-B27D-49CC-ACA9-C511C9A7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86584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2FC247-A695-4050-94EE-7F7E8234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59736"/>
            <a:ext cx="38404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8D6FBD9-F83E-4F5D-AFA6-A52FCB2C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340864"/>
            <a:ext cx="2057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Feature generation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7841A72-6C6C-4112-A7DF-75BD2B99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340864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python build_phase1_data.py --min-count 10000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351E54F-037A-4A12-B1F2-DF067440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340864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Builds 10K x 20 ML-ready feature table.</a:t>
            </a:r>
          </a:p>
        </p:txBody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94DEA752-CFCD-41BC-A36B-9D3F650E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154679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355559A-FC4A-4252-9374-DB402D18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27832"/>
            <a:ext cx="38404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730D2E7-611A-449A-9C42-83952238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108960"/>
            <a:ext cx="2057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Model training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BCCB94E-5113-40C7-A12D-37A6F76C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108960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python train_phase1_models.py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8CD3FFD-228D-4536-B919-50B7FE64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108960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Trains risk and forecast baseline models with metrics.</a:t>
            </a: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85FE944D-1A56-497F-932B-A231642B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22776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A99F14-B2AD-4939-88B4-2EF22D10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95928"/>
            <a:ext cx="38404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306DC32-103C-44F3-AFB1-F40F4471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877056"/>
            <a:ext cx="2057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RAG indexing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761EA9F-56DD-4A08-876A-2A61F183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87705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python index_phase1_rag.py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2436ABF-FDFE-4B67-940A-360CD52E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877056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Persists 476 chunks into ChromaDB.</a:t>
            </a:r>
          </a:p>
        </p:txBody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A6452CB8-BB33-4C85-85A3-7EB10AA5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9087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606950B1-02A9-4911-9AAB-E43D42A1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764024"/>
            <a:ext cx="38404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445EE26E-5649-430A-A024-1803FE5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645152"/>
            <a:ext cx="2057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Final demo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306D97DF-46EC-4FC5-829E-2824F832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645152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python demo_phase1_agents.py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F0DED2C2-F4E9-4F6F-B035-1A3E438F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64515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Runs multi-agent report generation with retrieved evidence.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0A7A7792-34FD-4F24-819C-91460EDA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596128"/>
            <a:ext cx="101498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OpenAI key setup for GenAI layer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01BDE019-A953-4B3D-8C58-65FD2D5A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925312"/>
            <a:ext cx="100584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1F6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2F490250-6D37-49EE-AAFB-6DD33D4A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6016752"/>
            <a:ext cx="9738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$env:FIE_GENAI_PROVIDER="openai"; $env:FIE_GENAI_MODEL="gpt-5.4-mini"; $env:OPENAI_API_KEY="..."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5C3DAAF-7CA0-4246-8466-4A691CF1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1 progress update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4DC25BB2-484D-4B73-B5C2-CBE6608A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436508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20CF43-BF12-4674-985E-8C75739F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REAL DATA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293C99B-C68A-4806-A61E-DDCB8EA7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CE8EE01-EFB4-4FE3-B988-B28252CE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4062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Phase 1 now runs on observed US equity market data.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65336C7-59A6-4BC0-8172-78A8071B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A realistic 10K-company universe supports a 20-company cohort with point-in-time model rows.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B57D56-9228-40AF-9714-4A11FBBA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Financial Intelligence Engine | Phase 1 final review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ECBA47A-9F30-4C71-AE87-C39984E2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FB3A007-FAA2-44E7-B2A0-6492A6CF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19"/>
            <a:ext cx="5440680" cy="2148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992BFD8-6B9E-4D4D-965E-D1C03F58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1993391"/>
            <a:ext cx="51297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Data scope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FF44123-5AED-4960-9A30-E170A4CD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313432"/>
            <a:ext cx="5129784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10,000 US equity metadata records establish the searchable universe.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20 diversified companies supply real daily prices for deep analysis.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25,480 OHLCV observations are cached for reproducible processing.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FBC63BC-DE56-47CC-A141-FCD6F0E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74519"/>
            <a:ext cx="4526280" cy="2148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A2C4FD3-7F72-4F07-AC49-6E8CE8F9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993391"/>
            <a:ext cx="4215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Model-ready evidence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73C86AF-383C-46B5-A310-4EB12926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313432"/>
            <a:ext cx="4215384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Features are computed point-in-time to avoid using future information.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23,880 labeled rows feed risk and forecast training.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split is chronological: 19,100 train rows and 4,780 later test rows.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1D02F25-91F5-4CDD-80F4-558B24D0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10,000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77A95E8-638E-41A1-997E-620C934C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65192"/>
            <a:ext cx="1645920" cy="166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US EQUITIES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281FF20-9443-4C9D-9B26-08F50409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searchable metadata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D129352-564E-40E5-AC4C-04835D1E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1EA2340-BA26-43C0-9662-193C82A3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965192"/>
            <a:ext cx="1645920" cy="166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REAL COHORT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E8F15C1-0F13-4423-808A-BE177CA8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diversified companies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06749F0-6666-4C89-B1BB-63E158ED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25,480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34517BE-D320-44FD-95B5-C4509A1D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965192"/>
            <a:ext cx="1645920" cy="166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OHLCV ROWS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0C63568-0963-4BED-B56D-47067FBD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observed daily data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12FEC41-172F-4C68-BF44-8126A90C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23,880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90BF252-6320-4EBA-96FC-4EAB9D10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965192"/>
            <a:ext cx="1645920" cy="166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MODEL ROWS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E6C04C35-2629-4622-A857-E08299FB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point-in-time features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50D87FF-109A-45F5-9B0B-E62B037C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19,100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ECE9D3A9-15F2-4F5E-BB39-7D8B1D67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965192"/>
            <a:ext cx="1645920" cy="166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TRAIN ROWS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C7CAF46-CEAC-45B4-B077-7309D824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through 20 Jun 2025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7CB0BA5-E992-4F40-89DF-010FCB4A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4,780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B58CB904-541D-4BC5-A3B1-73A7178E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965192"/>
            <a:ext cx="1645920" cy="166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TEST ROWS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BE288CDC-BD01-4869-B0DB-8615E7E9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from 23 Jun 2025</a:t>
            </a:r>
          </a:p>
        </p:txBody>
      </p:sp>
    </p:spTree>
    <p:extLst>
      <p:ext uri="{BB962C8B-B14F-4D97-AF65-F5344CB8AC3E}">
        <p14:creationId xmlns:p14="http://schemas.microsoft.com/office/powerpoint/2010/main" val="9126502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1F8A154-1EE6-4DB5-BE4A-C9BB26F0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MODEL EVALUATION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693D82C-7BE1-4376-998C-2F35938F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Chronological testing replaces optimistic proxy scores with honest evidence.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F402528-E709-4BDA-9F2F-79F11DF4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Risk is above the majority baseline; forecast remains a transparent baseline and is not overclaimed.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B35C884-A838-4062-93C6-D644EC34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ED47DA9-8D77-4FD1-AA3D-B710B35B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FDBA9D1-2B69-4977-A9DB-C2C789CE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8787DF4-077B-4FDE-BB98-91689701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46504"/>
            <a:ext cx="218541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Risk accuracy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9ED9360-FC94-4ACC-B7F0-03974881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61.51%</a:t>
            </a:r>
          </a:p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27C0EB2-68A6-47D2-913D-3BC4D4F6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212E5C0-4E7E-4E70-8266-D8CB75FA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BFC3225-B9A3-4797-87B2-455AAB3C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746504"/>
            <a:ext cx="218541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Risk balanced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81C6425-818E-434D-AADD-566CDF01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58.69%</a:t>
            </a:r>
          </a:p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balanced accuracy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F9AC925-A540-4BD2-AF93-8D6D9F3D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591FFDD-0BEA-476C-B37E-50B200E9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9778"/>
          </a:solidFill>
          <a:ln xmlns:a="http://schemas.openxmlformats.org/drawingml/2006/main">
            <a:solidFill>
              <a:srgbClr val="2097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16D3B66-1126-4DE1-9C86-5E58521C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746504"/>
            <a:ext cx="218541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Forecast accuracy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00A2970-15AF-4AEF-AF03-D66CB8134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37.74%</a:t>
            </a:r>
          </a:p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222B4A5-BAAC-4A14-B973-6E89ED24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4A4A6606-6128-4614-BEC5-58FA4A2B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730"/>
          </a:solidFill>
          <a:ln xmlns:a="http://schemas.openxmlformats.org/drawingml/2006/main">
            <a:solidFill>
              <a:srgbClr val="E0973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85E9023-3E4E-4448-AF13-DBF8A5A0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1746504"/>
            <a:ext cx="218541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Forecast balanced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D547B1F-29EA-45C6-B56B-05804803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38.18%</a:t>
            </a:r>
          </a:p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balanced accuracy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56488DD-90FF-4A40-8A13-D240B61D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46120"/>
            <a:ext cx="52120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What the metrics establish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4F1E6AC-5571-4F44-B08F-FA6652F3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507492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RandomForest baselines use point-in-time features.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Chronological holdout begins 23 Jun 2025.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Risk gains 4.94 points over the majority baseline.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Forecast gains 4.85 balanced points over random.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0CDC3C18-0654-4865-912D-BA90FE32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46120"/>
            <a:ext cx="4754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Limit disclosed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8E9E0D5B-82CF-4433-B2D4-CE002A27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11880"/>
            <a:ext cx="4800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Risk macro F1: 56.63%.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Forecast macro F1: 37.26%.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Forecast does not beat majority-class accuracy.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Phase 1 treats it as a measurable baseline, not a production claim.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06ACB099-2C7B-473D-88A2-2A4AF965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1 final review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515E2A70-6DD3-4F84-8B17-323DE2BB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41877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C40B8C-19B7-4F78-8CDB-80F2F87D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SEC-AWARE HYBRID RAG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7D2B94-7D19-4273-B302-06FC6CB6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SEC filings now join the persistent corpus with source-level provenance.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243744F-AECA-46F0-8AA9-E900B1A6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Retrieval combines semantic similarity, exact financial terms, and metadata before the LLM writes a grounded answer.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477BEB-A6EC-4E72-BD70-099FCB29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81877BF-8ECD-4443-A289-1406DBFC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20703B-6CEF-40CB-B476-64617297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SEC filings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0A2C6D2-B17A-4A8E-9EAB-B01E5A1E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10-K / 10-Q</a:t>
            </a:r>
          </a:p>
        </p:txBody>
      </p:sp>
      <p:sp>
        <p:nvSpPr>
          <p:cNvPr id="9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8DA33419-0981-4171-82BF-0D42E32C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39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8601671-EFB9-47A7-AF06-8456F244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0AEB92D-D3DA-47F5-9A5D-7413C8EB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Chunking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2EEFE7-E918-4EE7-B4E8-BA448E12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900-char windows</a:t>
            </a:r>
          </a:p>
        </p:txBody>
      </p:sp>
      <p:sp>
        <p:nvSpPr>
          <p:cNvPr id="13" name="Right Arrow 12">
            <a:extLst xmlns:a="http://schemas.openxmlformats.org/drawingml/2006/main">
              <a:ext uri="{FF2B5EF4-FFF2-40B4-BE49-F238E27FC236}">
                <a16:creationId xmlns:a16="http://schemas.microsoft.com/office/drawing/2014/main" id="{16B57069-F367-4DBD-9DFC-BC3382C6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C0B8DA7-D086-4DEF-BB7B-5D810B93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384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480D1D8-8A76-4FE6-9E0F-40D85F51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Embeddings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6370DFA-05F4-4BAC-A31F-D6FDA592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384-d hashing</a:t>
            </a:r>
          </a:p>
        </p:txBody>
      </p:sp>
      <p:sp>
        <p:nvSpPr>
          <p:cNvPr id="17" name="Right Arrow 16">
            <a:extLst xmlns:a="http://schemas.openxmlformats.org/drawingml/2006/main">
              <a:ext uri="{FF2B5EF4-FFF2-40B4-BE49-F238E27FC236}">
                <a16:creationId xmlns:a16="http://schemas.microsoft.com/office/drawing/2014/main" id="{8A78BE2D-DB33-403D-AD2D-CB4D3B68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B8B92F9-E7CD-4538-9513-8100FF2F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616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62C0A91-17E7-4C03-AAC5-BFAD2A94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ChromaDB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4ACF513-0A01-40BC-B885-646F7173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persistent vectors</a:t>
            </a:r>
          </a:p>
        </p:txBody>
      </p:sp>
      <p:sp>
        <p:nvSpPr>
          <p:cNvPr id="21" name="Right Arrow 20">
            <a:extLst xmlns:a="http://schemas.openxmlformats.org/drawingml/2006/main">
              <a:ext uri="{FF2B5EF4-FFF2-40B4-BE49-F238E27FC236}">
                <a16:creationId xmlns:a16="http://schemas.microsoft.com/office/drawing/2014/main" id="{A2A0353D-7B76-4DC7-BD5E-465D2A15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E2EAA26E-0382-4198-B3A6-4C787981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A4647F8-97C8-44A6-B41C-7F687CC8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Hybrid ranker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9E14A5D-FC2D-4E99-A788-1AF85864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vector + lexical</a:t>
            </a:r>
          </a:p>
        </p:txBody>
      </p:sp>
      <p:sp>
        <p:nvSpPr>
          <p:cNvPr id="25" name="Right Arrow 24">
            <a:extLst xmlns:a="http://schemas.openxmlformats.org/drawingml/2006/main">
              <a:ext uri="{FF2B5EF4-FFF2-40B4-BE49-F238E27FC236}">
                <a16:creationId xmlns:a16="http://schemas.microsoft.com/office/drawing/2014/main" id="{E7DAC74E-A6DA-4DA5-A262-847A3E31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17E6D26F-F175-4BC5-90C9-F33F63E7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9D340BC-B28F-4D0D-AB0C-7EBFC2A7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Answer layer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5948131-AB4A-44AC-9748-0CC004E3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local / OpenAI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BF173D00-D5E6-463E-B66F-8F16D550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10BE7CF0-6D39-4CD2-9C24-4C05F3E8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9778"/>
          </a:solidFill>
          <a:ln xmlns:a="http://schemas.openxmlformats.org/drawingml/2006/main">
            <a:solidFill>
              <a:srgbClr val="2097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8CBA4D5A-7236-47D5-A10B-28E6E494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300984"/>
            <a:ext cx="296265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Persistent index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7DECF1FC-238C-4322-A5AC-98F8B134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data/vectors/chroma/</a:t>
            </a:r>
          </a:p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Chroma PersistentClient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854B969F-9139-41E2-9140-D56A0B56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20D0319-4133-4D9B-95A0-4ACFB12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2D86A8D4-8566-4920-B864-B251F952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3300984"/>
            <a:ext cx="296265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Baseline corpus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4F8B1C1-093A-47CB-9A31-9ECA8304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511 chunks</a:t>
            </a:r>
          </a:p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before live SEC bootstrap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D3408B2D-9DBA-4073-8ED4-FB8F0523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B0EFE214-DA02-44D3-8919-4E303C5B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730"/>
          </a:solidFill>
          <a:ln xmlns:a="http://schemas.openxmlformats.org/drawingml/2006/main">
            <a:solidFill>
              <a:srgbClr val="E0973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C43FBE1-93DF-4AC1-860E-9C99B4FD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300984"/>
            <a:ext cx="296265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Ranking weights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597A7996-BE98-4484-8EEE-97DA905A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55% vector</a:t>
            </a:r>
          </a:p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35% lexical | 10% metadata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D27EB28F-C3F9-49C0-8197-A9FD93FF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6592"/>
            <a:ext cx="1033272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Traceable retrieval contract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6CE9CFAB-2A0B-4B89-BBB7-57688689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4920"/>
            <a:ext cx="10149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1F6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17D88883-F96E-45B0-B2A0-6E4BCF0A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193792"/>
            <a:ext cx="9784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SEC ingestion stores ticker, CIK, form, filing date, accession, URL, and source sidecars.</a:t>
            </a:r>
          </a:p>
          <a:p xmlns:a="http://schemas.openxmlformats.org/drawingml/2006/main">
            <a:pPr algn="l">
              <a:buNone/>
            </a:pPr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FIE_SEC_USER_AGENT=FinancialIntelligenceEngine/1.0 sumeetpanda.dev@gmail.com</a:t>
            </a:r>
          </a:p>
          <a:p xmlns:a="http://schemas.openxmlformats.org/drawingml/2006/main">
            <a:pPr algn="l">
              <a:buNone/>
            </a:pPr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Retrieved chunks retain source metadata for citations and explainability.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389C56ED-4D20-494E-BA68-9681D3F1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1 final review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95C698BF-1735-4A1B-84FB-4287EE96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010291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21DD98-8656-47AB-AB3F-161FD785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MULTI-AGENT DECISION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C04383D-DCC3-40F5-9A0F-0985A238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DC493C6-0AEE-4E74-AA41-621D185E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467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6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orchestrator converts one question into parallel evidence and model tasks.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6BA2416-0044-4138-A197-4E409AC2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Typed results, confidence scores, citations, and a final explanation keep the decision auditable.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8992A0-A754-4DAE-BE23-2C3F16E9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Financial Intelligence Engine | Phase 1 final review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5B0C58-17E3-4134-AEA4-1A8C513E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89647A3-A401-4224-8917-B6DD9846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C96E83-9916-4349-9C5F-9D12E9D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User query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141E9D0-F0CC-47EE-9A80-2BCA18E9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ticker + horizon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F4C45320-2615-4521-991D-076CD994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71020EB-9D4F-4D3A-A7FC-E548CC32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9AE5AEF-6714-41AE-9683-CC7AC9D9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Orchestrator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D5B4C73-723C-4523-A8FB-1614A7B2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routes tasks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collects results</a:t>
            </a: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C7E17F59-41A6-4756-BDE1-B85F7820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A677DC8-A80A-4B6A-8A82-0D8833EF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8972876-8F76-46B9-A187-5E19F0D9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5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Retrieval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19590FD-E98F-4695-B436-86B3E2F6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RAG evidence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 citations</a:t>
            </a:r>
          </a:p>
        </p:txBody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946F74FF-816E-4C68-BE83-C10C18F8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3258365-A023-469D-B0AF-96D141B7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D212894-AEE3-4AF2-923D-8601B096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7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Signals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50A180B-B48C-462A-8F3A-D04B5A60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sentiment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 + forecast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5F85DFC5-1E20-425A-BC6F-E462167D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8F255F51-9940-4570-96BF-3F17E2D8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59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DC20D06-9C61-4D39-A37E-4CAB9AE2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099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F2AE2A-858B-48C2-9787-0A065C63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28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weighted synthesis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Buy / Hold / Sell</a:t>
            </a: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D909458E-4F97-4F57-94C6-B34B6A43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59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6001313F-7EB7-4078-9E9E-138E2B67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925285D-52C8-43D9-AF10-6D1DBB04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1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23D0FDE9-6128-43C5-8A6E-4AB50B94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380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drivers, confidence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limitations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7155E6FB-B27F-4F22-AAEA-FE780A08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1303E1F-E6BC-444C-8D84-2071F6D6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Shared AgentResult contract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EFC2BD6-48BF-4D7B-BF81-A0C1AD46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Every agent returns status, score, confidence, evidence, and errors through a consistent schema.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48129C2A-F1A7-41C1-88FE-1F9D8F78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C988E3A0-2262-458D-9048-AE80EFCF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Parallel specialist execution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07BC573-EF31-4994-93CC-646F2B7C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Retriever, Sentiment, Risk, and Forecast agents run under one orchestrated request.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B344A3A7-76F5-49BD-8A45-053E1908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703320"/>
            <a:ext cx="283464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9DE36345-9569-49B1-801E-D52C559B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3822191"/>
            <a:ext cx="25237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Auditable final report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4E4E7544-F973-4586-8A6A-43B55714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4142231"/>
            <a:ext cx="252374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Decision and Explainability agents preserve citations, model metrics, drivers, and disclaimers.</a:t>
            </a:r>
          </a:p>
        </p:txBody>
      </p:sp>
    </p:spTree>
    <p:extLst>
      <p:ext uri="{BB962C8B-B14F-4D97-AF65-F5344CB8AC3E}">
        <p14:creationId xmlns:p14="http://schemas.microsoft.com/office/powerpoint/2010/main" val="16555599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ECD7218-58DD-4E3C-9F91-9817C531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CLOUD DELIVERY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DBF8E3-3768-4F17-96BB-2B2ECC93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2234D6C-B204-4885-A735-50B2CDEA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2831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6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same Phase 1 application now runs from GitHub to a public Render service.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9C138BF-D1C1-436F-AF82-C836015E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Docker, bootstrap assets, environment variables, and health checks make the demo reproducible.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F324433-CBA6-4F9F-89EE-515F3664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Financial Intelligence Engine | Phase 1 final review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03C45B-D3BE-4644-BD4F-8234AF6E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96FD1D4-E93D-422F-95E6-42E8A88C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37360"/>
            <a:ext cx="3657600" cy="1965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1B6988B-B953-4C75-9FCB-50C2E759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856231"/>
            <a:ext cx="33467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1. Source and build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3536E12-6CBB-42BF-95D0-DE15E20F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115609"/>
            <a:ext cx="3346704" cy="14630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GitHub main triggers deployment.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Docker packages the Python stack, frontend, API, models, and RAG assets.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Phase 1 upgrade commit: 0aa832f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82C4255-132C-4006-9681-7F6C91AA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737360"/>
            <a:ext cx="2880360" cy="1965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9094C96-1AFA-4A84-B556-385E2B44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1856231"/>
            <a:ext cx="256946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2. Runtime bootstrap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43B394-DED6-4E81-B0AE-E6BF9C38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2176272"/>
            <a:ext cx="2569464" cy="14630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Startup attempts real 20-company data, models, and RAG.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Bundled assets restore the demo when market sources are unavailable.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Render Free storage is ephemeral.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809C3C9-CDED-4211-8AB4-4F7A74ED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1737360"/>
            <a:ext cx="3337560" cy="3566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8CD2462-E170-4DC6-B68B-F0C4497C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4696" y="1856231"/>
            <a:ext cx="302666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3. Cloud configuration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97D953-5C62-4272-9921-F0F60D87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2519172"/>
            <a:ext cx="3026664" cy="30632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Required: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FIE_SEC_USER_AGENT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GenAI: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FIE_GENAI_PROVIDER=openai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FIE_GENAI_MODEL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OPENAI_API_KEY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Local answer fallback remains available.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9770320-490C-4687-BA1A-FC139B1C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00600"/>
            <a:ext cx="6629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500"/>
              </a:spcAft>
              <a:buNone/>
              <a:defRPr sz="1150">
                <a:solidFill>
                  <a:srgbClr val="122026"/>
                </a:solidFill>
                <a:latin typeface="Aptos"/>
                <a:ea typeface="Aptos"/>
                <a:cs typeface="Aptos"/>
              </a:defRPr>
            </a:pPr>
            <a:r>
              <a:t>Delivery: GitHub -&gt; Docker -&gt; bootstrap data/models/RAG -&gt; FastAPI + frontend -&gt; Render HTTPS.</a:t>
            </a:r>
          </a:p>
          <a:p xmlns:a="http://schemas.openxmlformats.org/drawingml/2006/main">
            <a:pPr>
              <a:spcAft>
                <a:spcPts val="500"/>
              </a:spcAft>
              <a:buNone/>
              <a:defRPr sz="1150">
                <a:solidFill>
                  <a:srgbClr val="122026"/>
                </a:solidFill>
                <a:latin typeface="Aptos"/>
                <a:ea typeface="Aptos"/>
                <a:cs typeface="Aptos"/>
              </a:defRPr>
            </a:pPr>
            <a:r>
              <a:t>Verification: 14 tests passed | setup verification 5/5 | /health endpoint available.</a:t>
            </a:r>
          </a:p>
        </p:txBody>
      </p:sp>
    </p:spTree>
    <p:extLst>
      <p:ext uri="{BB962C8B-B14F-4D97-AF65-F5344CB8AC3E}">
        <p14:creationId xmlns:p14="http://schemas.microsoft.com/office/powerpoint/2010/main" val="214590679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6EB4878-B34E-448A-A780-B888F739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FINAL DEMO PATH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E84FC4-32C0-4918-9DC1-A6F6C45C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The final walkthrough proves scale, grounding, model honesty, and cloud delivery.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8616E8-A70B-4182-949F-BC9E6F47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Each step has visible evidence in the deployed interface or generated report.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EFAC10-8A32-4C9B-8860-3E39AEF8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E727386C-3617-4BB1-B1AE-28F8A207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184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C28AD2-3740-43E7-BF71-4AB0DD55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91640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5CA5F2D-534F-4675-A4A8-0A165E72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572768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Open deployed dashboard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28C529-B3E0-478D-BB4F-A1723D25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572768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Render service URL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7D6F73-917D-4852-A767-8F6F67F1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572768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Confirm the frontend loads and /health reports ready.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4065B1E8-B27D-49CC-ACA9-C511C9A7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86584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2FC247-A695-4050-94EE-7F7E8234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59736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8D6FBD9-F83E-4F5D-AFA6-A52FCB2C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340864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Verify data scale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7841A72-6C6C-4112-A7DF-75BD2B99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340864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Overview and company search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351E54F-037A-4A12-B1F2-DF067440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340864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Show 10K universe, 20-company cohort, and observed OHLCV.</a:t>
            </a:r>
          </a:p>
        </p:txBody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94DEA752-CFCD-41BC-A36B-9D3F650E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154679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355559A-FC4A-4252-9374-DB402D18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27832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730D2E7-611A-449A-9C42-83952238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108960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Ask a grounded question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BCCB94E-5113-40C7-A12D-37A6F76C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108960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Ask tab: AAPL risk, outlook, and evidence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8CD3FFD-228D-4536-B919-50B7FE64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108960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Inspect retrieved sources, scores, confidence, and citations.</a:t>
            </a: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85FE944D-1A56-497F-932B-A231642B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22776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A99F14-B2AD-4939-88B4-2EF22D10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95928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306DC32-103C-44F3-AFB1-F40F4471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877056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Inspect model evidence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761EA9F-56DD-4A08-876A-2A61F183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87705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Risk and forecast metrics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2436ABF-FDFE-4B67-940A-360CD52E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877056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Explain chronological split and the disclosed forecast limitation.</a:t>
            </a:r>
          </a:p>
        </p:txBody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A6452CB8-BB33-4C85-85A3-7EB10AA5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9087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606950B1-02A9-4911-9AAB-E43D42A1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764024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445EE26E-5649-430A-A024-1803FE5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645152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Show end-to-end report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306D97DF-46EC-4FC5-829E-2824F832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645152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Agent trace and final recommendation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F0DED2C2-F4E9-4F6F-B035-1A3E438F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64515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Decision, explanation, drivers, evidence, and disclaimer.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0A7A7792-34FD-4F24-819C-91460EDA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596128"/>
            <a:ext cx="101498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Final review evidence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01BDE019-A953-4B3D-8C58-65FD2D5A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925312"/>
            <a:ext cx="100584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1F6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2F490250-6D37-49EE-AAFB-6DD33D4A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6016752"/>
            <a:ext cx="9738360" cy="2179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10K universe | 25,480 OHLCV rows | 511 RAG chunks | 14 tests passed | Render deployed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5C3DAAF-7CA0-4246-8466-4A691CF1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1 final review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4DC25BB2-484D-4B73-B5C2-CBE6608A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4365081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C40B8C-19B7-4F78-8CDB-80F2F87D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PHASE 2 REVIEW 1 UPDATE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7D2B94-7D19-4273-B302-06FC6CB6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The first Phase 2 fix closes the highest-risk demo gap: hallucinated investment advice.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243744F-AECA-46F0-8AA9-E900B1A6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A broad $5000 investment question now stays grounded in agent outputs, scoring rules, and conservative allocation guardrails.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477BEB-A6EC-4E72-BD70-099FCB29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81877BF-8ECD-4443-A289-1406DBFC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20703B-6CEF-40CB-B476-64617297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Demo issue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0A2C6D2-B17A-4A8E-9EAB-B01E5A1E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$5000 ask</a:t>
            </a:r>
          </a:p>
        </p:txBody>
      </p:sp>
      <p:sp>
        <p:nvSpPr>
          <p:cNvPr id="9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8DA33419-0981-4171-82BF-0D42E32C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39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8601671-EFB9-47A7-AF06-8456F244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0AEB92D-D3DA-47F5-9A5D-7413C8EB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2EEFE7-E918-4EE7-B4E8-BA448E12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LLM drift</a:t>
            </a:r>
          </a:p>
        </p:txBody>
      </p:sp>
      <p:sp>
        <p:nvSpPr>
          <p:cNvPr id="13" name="Right Arrow 12">
            <a:extLst xmlns:a="http://schemas.openxmlformats.org/drawingml/2006/main">
              <a:ext uri="{FF2B5EF4-FFF2-40B4-BE49-F238E27FC236}">
                <a16:creationId xmlns:a16="http://schemas.microsoft.com/office/drawing/2014/main" id="{16B57069-F367-4DBD-9DFC-BC3382C6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C0B8DA7-D086-4DEF-BB7B-5D810B93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384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480D1D8-8A76-4FE6-9E0F-40D85F51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Fix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6370DFA-05F4-4BAC-A31F-D6FDA592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strict mode</a:t>
            </a:r>
          </a:p>
        </p:txBody>
      </p:sp>
      <p:sp>
        <p:nvSpPr>
          <p:cNvPr id="17" name="Right Arrow 16">
            <a:extLst xmlns:a="http://schemas.openxmlformats.org/drawingml/2006/main">
              <a:ext uri="{FF2B5EF4-FFF2-40B4-BE49-F238E27FC236}">
                <a16:creationId xmlns:a16="http://schemas.microsoft.com/office/drawing/2014/main" id="{8A78BE2D-DB33-403D-AD2D-CB4D3B68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B8B92F9-E7CD-4538-9513-8100FF2F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616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62C0A91-17E7-4C03-AAC5-BFAD2A94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4ACF513-0A01-40BC-B885-646F7173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agent signals</a:t>
            </a:r>
          </a:p>
        </p:txBody>
      </p:sp>
      <p:sp>
        <p:nvSpPr>
          <p:cNvPr id="21" name="Right Arrow 20">
            <a:extLst xmlns:a="http://schemas.openxmlformats.org/drawingml/2006/main">
              <a:ext uri="{FF2B5EF4-FFF2-40B4-BE49-F238E27FC236}">
                <a16:creationId xmlns:a16="http://schemas.microsoft.com/office/drawing/2014/main" id="{A2A0353D-7B76-4DC7-BD5E-465D2A15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E2EAA26E-0382-4198-B3A6-4C787981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A4647F8-97C8-44A6-B41C-7F687CC8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Guardrails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9E14A5D-FC2D-4E99-A788-1AF85864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reserve + filters</a:t>
            </a:r>
          </a:p>
        </p:txBody>
      </p:sp>
      <p:sp>
        <p:nvSpPr>
          <p:cNvPr id="25" name="Right Arrow 24">
            <a:extLst xmlns:a="http://schemas.openxmlformats.org/drawingml/2006/main">
              <a:ext uri="{FF2B5EF4-FFF2-40B4-BE49-F238E27FC236}">
                <a16:creationId xmlns:a16="http://schemas.microsoft.com/office/drawing/2014/main" id="{E7DAC74E-A6DA-4DA5-A262-847A3E31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17E6D26F-F175-4BC5-90C9-F33F63E7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9D340BC-B28F-4D0D-AB0C-7EBFC2A7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Proof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5948131-AB4A-44AC-9748-0CC004E3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16 tests passed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BF173D00-D5E6-463E-B66F-8F16D550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10BE7CF0-6D39-4CD2-9C24-4C05F3E8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9778"/>
          </a:solidFill>
          <a:ln xmlns:a="http://schemas.openxmlformats.org/drawingml/2006/main">
            <a:solidFill>
              <a:srgbClr val="2097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8CBA4D5A-7236-47D5-A10B-28E6E494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300984"/>
            <a:ext cx="296265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Issue observed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7DECF1FC-238C-4322-A5AC-98F8B134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Phase 1 demo</a:t>
            </a:r>
          </a:p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broad investment question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854B969F-9139-41E2-9140-D56A0B56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20D0319-4133-4D9B-95A0-4ACFB12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2D86A8D4-8566-4920-B864-B251F952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3300984"/>
            <a:ext cx="296265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Fix committed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4F8B1C1-093A-47CB-9A31-9ECA8304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fe8679b</a:t>
            </a:r>
          </a:p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origin/main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D3408B2D-9DBA-4073-8ED4-FB8F0523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B0EFE214-DA02-44D3-8919-4E303C5B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730"/>
          </a:solidFill>
          <a:ln xmlns:a="http://schemas.openxmlformats.org/drawingml/2006/main">
            <a:solidFill>
              <a:srgbClr val="E0973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C43FBE1-93DF-4AC1-860E-9C99B4FD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300984"/>
            <a:ext cx="296265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Review message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597A7996-BE98-4484-8EEE-97DA905A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Phase 2 starts</a:t>
            </a:r>
          </a:p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with reliability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D27EB28F-C3F9-49C0-8197-A9FD93FF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6592"/>
            <a:ext cx="1033272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6CE9CFAB-2A0B-4B89-BBB7-57688689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4920"/>
            <a:ext cx="10149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1F6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17D88883-F96E-45B0-B2A0-6E4BCF0A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193792"/>
            <a:ext cx="9784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Budget questions now bypass free GenAI rewriting. The report shows candidate selection, scoring logic, Sell exclusion, and reserve handling.</a:t>
            </a:r>
          </a:p>
          <a:p xmlns:a="http://schemas.openxmlformats.org/drawingml/2006/main">
            <a:pPr algn="l">
              <a:buNone/>
            </a:pPr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Mentor-visible improvement: the system explains its reasoning instead of hallucinating advice.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389C56ED-4D20-494E-BA68-9681D3F1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2 Review 1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95C698BF-1735-4A1B-84FB-4287EE96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1010291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21DD98-8656-47AB-AB3F-161FD785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GROUNDED ASK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C04383D-DCC3-40F5-9A0F-0985A238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DC493C6-0AEE-4E74-AA41-621D185E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467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6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Ask workflow is now deterministic for budget questions and auditable for mentor review.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6BA2416-0044-4138-A197-4E409AC2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The final answer can explain why it suggested a stock, why it kept reserve cash, and which model signals drove the decision.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8992A0-A754-4DAE-BE23-2C3F16E9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Financial Intelligence Engine | Phase 2 Review 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5B0C58-17E3-4134-AEA4-1A8C513E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89647A3-A401-4224-8917-B6DD9846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C96E83-9916-4349-9C5F-9D12E9D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User asks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141E9D0-F0CC-47EE-9A80-2BCA18E9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$5000 + why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investment query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F4C45320-2615-4521-991D-076CD994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71020EB-9D4F-4D3A-A7FC-E548CC32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9AE5AEF-6714-41AE-9683-CC7AC9D9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Orchestrator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D5B4C73-723C-4523-A8FB-1614A7B2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selects valid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candidate tickers</a:t>
            </a: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C7E17F59-41A6-4756-BDE1-B85F7820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A677DC8-A80A-4B6A-8A82-0D8833EF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8972876-8F76-46B9-A187-5E19F0D9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5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Strict mode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19590FD-E98F-4695-B436-86B3E2F6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blocks free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LLM rewrite</a:t>
            </a:r>
          </a:p>
        </p:txBody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946F74FF-816E-4C68-BE83-C10C18F8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3258365-A023-469D-B0AF-96D141B7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D212894-AEE3-4AF2-923D-8601B096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7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 signals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50A180B-B48C-462A-8F3A-D04B5A60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sentiment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 + forecast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5F85DFC5-1E20-425A-BC6F-E462167D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8F255F51-9940-4570-96BF-3F17E2D8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59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DC20D06-9C61-4D39-A37E-4CAB9AE2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099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score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F2AE2A-858B-48C2-9787-0A065C63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28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/ 35 / 35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weighted model</a:t>
            </a: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D909458E-4F97-4F57-94C6-B34B6A43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59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6001313F-7EB7-4078-9E9E-138E2B67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925285D-52C8-43D9-AF10-6D1DBB04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1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23D0FDE9-6128-43C5-8A6E-4AB50B94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380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allocation,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drivers, disclaimer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7155E6FB-B27F-4F22-AAEA-FE780A08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1303E1F-E6BC-444C-8D84-2071F6D6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No unsupported claims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EFC2BD6-48BF-4D7B-BF81-A0C1AD46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OpenAI prompt is tightened to prevent invented tickers, dollar amounts, metrics, or recommendations.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48129C2A-F1A7-41C1-88FE-1F9D8F78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C988E3A0-2262-458D-9048-AE80EFCF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Conservative allocation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07BC573-EF31-4994-93CC-646F2B7C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Sell/Strong Sell candidates are excluded; weak Hold signals keep larger reserve/watchlist cash.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B344A3A7-76F5-49BD-8A45-053E1908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703320"/>
            <a:ext cx="283464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9DE36345-9569-49B1-801E-D52C559B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3822191"/>
            <a:ext cx="25237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Test-backed behavior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4E4E7544-F973-4586-8A6A-43B55714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4142231"/>
            <a:ext cx="252374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A fake hallucinating provider is used in tests to prove budget questions return the grounded report.</a:t>
            </a:r>
          </a:p>
        </p:txBody>
      </p:sp>
    </p:spTree>
    <p:extLst>
      <p:ext uri="{BB962C8B-B14F-4D97-AF65-F5344CB8AC3E}">
        <p14:creationId xmlns:p14="http://schemas.microsoft.com/office/powerpoint/2010/main" val="165555990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6EB4878-B34E-448A-A780-B888F739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PHASE 2 ROADMAP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E84FC4-32C0-4918-9DC1-A6F6C45C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The next phase moves from prototype demo to startup-grade financial intelligence.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8616E8-A70B-4182-949F-BC9E6F47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Priority is reliability first, then data scale, model quality, production RAG, and product readiness.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EFAC10-8A32-4C9B-8860-3E39AEF8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E727386C-3617-4BB1-B1AE-28F8A207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184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C28AD2-3740-43E7-BF71-4AB0DD55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91640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5CA5F2D-534F-4675-A4A8-0A165E72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572768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Stabilize Ask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28C529-B3E0-478D-BB4F-A1723D25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572768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Grounding and guardrails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7D6F73-917D-4852-A767-8F6F67F1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572768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Finish anti-hallucination checks for budget, ticker, and comparison questions.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4065B1E8-B27D-49CC-ACA9-C511C9A7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86584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2FC247-A695-4050-94EE-7F7E8234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59736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8D6FBD9-F83E-4F5D-AFA6-A52FCB2C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340864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Upgrade RAG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7841A72-6C6C-4112-A7DF-75BD2B99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340864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Embeddings + vector DB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351E54F-037A-4A12-B1F2-DF067440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340864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Move from Chroma baseline to pgvector/Supabase plus stronger embeddings.</a:t>
            </a:r>
          </a:p>
        </p:txBody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94DEA752-CFCD-41BC-A36B-9D3F650E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154679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355559A-FC4A-4252-9374-DB402D18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27832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730D2E7-611A-449A-9C42-83952238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108960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Expand data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BCCB94E-5113-40C7-A12D-37A6F76C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108960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SEC, news, fundamentals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8CD3FFD-228D-4536-B919-50B7FE64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108960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Scale filings, earnings/news ingestion, and refresh pipelines.</a:t>
            </a: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85FE944D-1A56-497F-932B-A231642B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22776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A99F14-B2AD-4939-88B4-2EF22D10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95928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306DC32-103C-44F3-AFB1-F40F4471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877056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Improve models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761EA9F-56DD-4A08-876A-2A61F183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87705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Backtesting + better features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2436ABF-FDFE-4B67-940A-360CD52E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877056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Train stronger risk/forecast models and compare baselines.</a:t>
            </a:r>
          </a:p>
        </p:txBody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A6452CB8-BB33-4C85-85A3-7EB10AA5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9087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606950B1-02A9-4911-9AAB-E43D42A1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764024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445EE26E-5649-430A-A024-1803FE5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645152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Productize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306D97DF-46EC-4FC5-829E-2824F832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645152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Cloud + monitoring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F0DED2C2-F4E9-4F6F-B035-1A3E438F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64515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Add deployment reliability, logs, user-ready reports, and saved analysis workflows.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0A7A7792-34FD-4F24-819C-91460EDA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596128"/>
            <a:ext cx="101498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Mentor ask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01BDE019-A953-4B3D-8C58-65FD2D5A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925312"/>
            <a:ext cx="100584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1F6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2F490250-6D37-49EE-AAFB-6DD33D4A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6016752"/>
            <a:ext cx="9738360" cy="2179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Validate Phase 2 scope: reliability, production RAG, real data scale, stronger ML, and startup path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5C3DAAF-7CA0-4246-8466-4A691CF1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2 Review 1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4DC25BB2-484D-4B73-B5C2-CBE6608A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4365081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21DD98-8656-47AB-AB3F-161FD785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QUERY INTELLIGENCE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C04383D-DCC3-40F5-9A0F-0985A238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DC493C6-0AEE-4E74-AA41-621D185E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467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6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Phase 2 now classifies the user question before the multi-agent workflow runs.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6BA2416-0044-4138-A197-4E409AC2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4175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The app can detect budget, risk profile, horizon, allocation need, and comparison intent, then route agents with clearer assumptions.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8992A0-A754-4DAE-BE23-2C3F16E9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Financial Intelligence Engine | Phase 2 progress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5B0C58-17E3-4134-AEA4-1A8C513E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89647A3-A401-4224-8917-B6DD9846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C96E83-9916-4349-9C5F-9D12E9D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User asks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141E9D0-F0CC-47EE-9A80-2BCA18E9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$2500 + conservative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 3 months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F4C45320-2615-4521-991D-076CD994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71020EB-9D4F-4D3A-A7FC-E548CC32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9AE5AEF-6714-41AE-9683-CC7AC9D9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Classifier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D5B4C73-723C-4523-A8FB-1614A7B2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intent + budget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 + horizon</a:t>
            </a: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C7E17F59-41A6-4756-BDE1-B85F7820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A677DC8-A80A-4B6A-8A82-0D8833EF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8972876-8F76-46B9-A187-5E19F0D9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5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Orchestrator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19590FD-E98F-4695-B436-86B3E2F6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profile-aware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ticker selection</a:t>
            </a:r>
          </a:p>
        </p:txBody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946F74FF-816E-4C68-BE83-C10C18F8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3258365-A023-469D-B0AF-96D141B7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D212894-AEE3-4AF2-923D-8601B096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7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Forecast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50A180B-B48C-462A-8F3A-D04B5A60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uses detected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90-day horizon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5F85DFC5-1E20-425A-BC6F-E462167D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8F255F51-9940-4570-96BF-3F17E2D8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59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DC20D06-9C61-4D39-A37E-4CAB9AE2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099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Answer UI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F2AE2A-858B-48C2-9787-0A065C63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28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shows routing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confidence</a:t>
            </a: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D909458E-4F97-4F57-94C6-B34B6A43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59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6001313F-7EB7-4078-9E9E-138E2B67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925285D-52C8-43D9-AF10-6D1DBB04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1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23D0FDE9-6128-43C5-8A6E-4AB50B94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380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20 passing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regressions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7155E6FB-B27F-4F22-AAEA-FE780A08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1303E1F-E6BC-444C-8D84-2071F6D6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EFC2BD6-48BF-4D7B-BF81-A0C1AD46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system no longer treats every question the same; it adapts its workflow to the user's actual intent.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48129C2A-F1A7-41C1-88FE-1F9D8F78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C988E3A0-2262-458D-9048-AE80EFCF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What changed in code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07BC573-EF31-4994-93CC-646F2B7C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Added agents/query_intelligence.py and wired query_profile through OrchestratorAgent and /api/ask.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B344A3A7-76F5-49BD-8A45-053E1908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703320"/>
            <a:ext cx="283464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9DE36345-9569-49B1-801E-D52C559B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3822191"/>
            <a:ext cx="25237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Product impact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4E4E7544-F973-4586-8A6A-43B55714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4142231"/>
            <a:ext cx="252374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Users see intent, risk preference, horizon, and confidence, which makes the assistant feel more transparent and startup-ready.</a:t>
            </a:r>
          </a:p>
        </p:txBody>
      </p:sp>
    </p:spTree>
    <p:extLst>
      <p:ext uri="{BB962C8B-B14F-4D97-AF65-F5344CB8AC3E}">
        <p14:creationId xmlns:p14="http://schemas.microsoft.com/office/powerpoint/2010/main" val="1655559900"/>
      </p:ext>
    </p:extLst>
  </p:cSld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10896"/>
            <a:ext cx="246888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28466"/>
                </a:solidFill>
                <a:latin typeface="Aptos"/>
              </a:rPr>
              <a:t>ASK EXPERIENCE UPGRADE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149840" cy="47548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2201C"/>
                </a:solidFill>
                <a:latin typeface="Aptos"/>
              </a:rPr>
              <a:t>The chat now answers like a product, not an internal report.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097280"/>
            <a:ext cx="9966960" cy="34747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86962"/>
                </a:solidFill>
                <a:latin typeface="Aptos"/>
              </a:rPr>
              <a:t>Phase 2 improvement converts raw agent output into clear user actions, portfolio context, and safer next steps.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27048"/>
            <a:ext cx="10241280" cy="18288"/>
          </a:xfrm>
          <a:prstGeom prst="rect">
            <a:avLst/>
          </a:prstGeom>
          <a:solidFill>
            <a:srgbClr val="C7DBD2"/>
          </a:solidFill>
          <a:ln>
            <a:solidFill>
              <a:srgbClr val="C7D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4892040" cy="3611880"/>
          </a:xfrm>
          <a:prstGeom prst="roundRect">
            <a:avLst/>
          </a:prstGeom>
          <a:solidFill>
            <a:srgbClr val="FDFDFC"/>
          </a:solidFill>
          <a:ln w="12700">
            <a:solidFill>
              <a:srgbClr val="C7D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93392"/>
            <a:ext cx="1097280" cy="27432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975B20"/>
                </a:solidFill>
                <a:latin typeface="Aptos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4343400" cy="2148840"/>
          </a:xfrm>
          <a:prstGeom prst="rect">
            <a:avLst/>
          </a:prstGeom>
          <a:noFill/>
        </p:spPr>
        <p:txBody>
          <a:bodyPr wrap="none" lIns="73152" rIns="36576" tIns="36576" b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586962"/>
                </a:solidFill>
                <a:latin typeface="Aptos"/>
              </a:defRPr>
            </a:pPr>
            <a:r>
              <a:t>Displayed technical routing and formulas in the main answer.</a:t>
            </a:r>
          </a:p>
          <a:p>
            <a:pPr>
              <a:spcAft>
                <a:spcPts val="800"/>
              </a:spcAft>
              <a:defRPr sz="1500">
                <a:solidFill>
                  <a:srgbClr val="586962"/>
                </a:solidFill>
                <a:latin typeface="Aptos"/>
              </a:defRPr>
            </a:pPr>
            <a:r>
              <a:t>Hold signals looked like direct investment instructions.</a:t>
            </a:r>
          </a:p>
          <a:p>
            <a:pPr>
              <a:spcAft>
                <a:spcPts val="800"/>
              </a:spcAft>
              <a:defRPr sz="1500">
                <a:solidFill>
                  <a:srgbClr val="586962"/>
                </a:solidFill>
                <a:latin typeface="Aptos"/>
              </a:defRPr>
            </a:pPr>
            <a:r>
              <a:t>User could not see their current portfolio or concentration risk.</a:t>
            </a:r>
          </a:p>
          <a:p>
            <a:pPr>
              <a:spcAft>
                <a:spcPts val="800"/>
              </a:spcAft>
              <a:defRPr sz="1500">
                <a:solidFill>
                  <a:srgbClr val="586962"/>
                </a:solidFill>
                <a:latin typeface="Aptos"/>
              </a:defRPr>
            </a:pPr>
            <a:r>
              <a:t>Important answer was mixed with raw retrieved report 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0" y="1783080"/>
            <a:ext cx="4892040" cy="3611880"/>
          </a:xfrm>
          <a:prstGeom prst="roundRect">
            <a:avLst/>
          </a:prstGeom>
          <a:solidFill>
            <a:srgbClr val="EEF7F3"/>
          </a:solidFill>
          <a:ln w="12700">
            <a:solidFill>
              <a:srgbClr val="C7D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1993392"/>
            <a:ext cx="1005840" cy="27432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8483A"/>
                </a:solidFill>
                <a:latin typeface="Aptos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95728"/>
            <a:ext cx="4343400" cy="2148840"/>
          </a:xfrm>
          <a:prstGeom prst="rect">
            <a:avLst/>
          </a:prstGeom>
          <a:noFill/>
        </p:spPr>
        <p:txBody>
          <a:bodyPr wrap="none" lIns="73152" rIns="36576" tIns="36576" b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2201C"/>
                </a:solidFill>
                <a:latin typeface="Aptos"/>
              </a:defRPr>
            </a:pPr>
            <a:r>
              <a:t>What You Should Do: reserve cash + staged action.</a:t>
            </a:r>
          </a:p>
          <a:p>
            <a:pPr>
              <a:spcAft>
                <a:spcPts val="800"/>
              </a:spcAft>
              <a:defRPr sz="1500">
                <a:solidFill>
                  <a:srgbClr val="12201C"/>
                </a:solidFill>
                <a:latin typeface="Aptos"/>
              </a:defRPr>
            </a:pPr>
            <a:r>
              <a:t>Where To Invest: dollar allocation by ticker.</a:t>
            </a:r>
          </a:p>
          <a:p>
            <a:pPr>
              <a:spcAft>
                <a:spcPts val="800"/>
              </a:spcAft>
              <a:defRPr sz="1500">
                <a:solidFill>
                  <a:srgbClr val="12201C"/>
                </a:solidFill>
                <a:latin typeface="Aptos"/>
              </a:defRPr>
            </a:pPr>
            <a:r>
              <a:t>Your Current Portfolio: optional holdings and overlap warnings.</a:t>
            </a:r>
          </a:p>
          <a:p>
            <a:pPr>
              <a:spcAft>
                <a:spcPts val="800"/>
              </a:spcAft>
              <a:defRPr sz="1500">
                <a:solidFill>
                  <a:srgbClr val="12201C"/>
                </a:solidFill>
                <a:latin typeface="Aptos"/>
              </a:defRPr>
            </a:pPr>
            <a:r>
              <a:t>Technical trace is collapsed for mentor/examiner inspection.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892040"/>
            <a:ext cx="1463040" cy="310896"/>
          </a:xfrm>
          <a:prstGeom prst="roundRect">
            <a:avLst/>
          </a:prstGeom>
          <a:solidFill>
            <a:srgbClr val="E5EEF8"/>
          </a:solidFill>
          <a:ln w="12700">
            <a:solidFill>
              <a:srgbClr val="E5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956048"/>
            <a:ext cx="1316736" cy="14630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2B5E94"/>
                </a:solidFill>
                <a:latin typeface="Aptos"/>
              </a:rPr>
              <a:t>frontend/index.html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4892040"/>
            <a:ext cx="1325880" cy="310896"/>
          </a:xfrm>
          <a:prstGeom prst="roundRect">
            <a:avLst/>
          </a:prstGeom>
          <a:solidFill>
            <a:srgbClr val="E5EEF8"/>
          </a:solidFill>
          <a:ln w="12700">
            <a:solidFill>
              <a:srgbClr val="E5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87752" y="4956048"/>
            <a:ext cx="1179576" cy="14630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2B5E94"/>
                </a:solidFill>
                <a:latin typeface="Aptos"/>
              </a:rPr>
              <a:t>frontend/app.js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4892040"/>
            <a:ext cx="1417320" cy="310896"/>
          </a:xfrm>
          <a:prstGeom prst="roundRect">
            <a:avLst/>
          </a:prstGeom>
          <a:solidFill>
            <a:srgbClr val="E5EEF8"/>
          </a:solidFill>
          <a:ln w="12700">
            <a:solidFill>
              <a:srgbClr val="E5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50791" y="4956048"/>
            <a:ext cx="1271016" cy="14630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2B5E94"/>
                </a:solidFill>
                <a:latin typeface="Aptos"/>
              </a:rPr>
              <a:t>frontend/server.py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10896"/>
            <a:ext cx="246888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28466"/>
                </a:solidFill>
                <a:latin typeface="Aptos"/>
              </a:rPr>
              <a:t>GUARDRAILS +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149840" cy="47548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2201C"/>
                </a:solidFill>
                <a:latin typeface="Aptos"/>
              </a:rPr>
              <a:t>Portfolio-aware Ask flow is safer and faster for live review.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097280"/>
            <a:ext cx="9966960" cy="34747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86962"/>
                </a:solidFill>
                <a:latin typeface="Aptos"/>
              </a:rPr>
              <a:t>The assistant now parses holdings, avoids concentration, and exposes timings for every agent step.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27048"/>
            <a:ext cx="10241280" cy="18288"/>
          </a:xfrm>
          <a:prstGeom prst="rect">
            <a:avLst/>
          </a:prstGeom>
          <a:solidFill>
            <a:srgbClr val="C7DBD2"/>
          </a:solidFill>
          <a:ln>
            <a:solidFill>
              <a:srgbClr val="C7D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92024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08483A"/>
                </a:solidFill>
                <a:latin typeface="Aptos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276856"/>
            <a:ext cx="1874519" cy="29260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50" b="0">
                <a:solidFill>
                  <a:srgbClr val="586962"/>
                </a:solidFill>
                <a:latin typeface="Aptos"/>
              </a:rPr>
              <a:t>Budget, risk style,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139696"/>
            <a:ext cx="32004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128466"/>
                </a:solidFill>
                <a:latin typeface="Aptos"/>
              </a:rPr>
              <a:t>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82880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965960"/>
            <a:ext cx="192024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08483A"/>
                </a:solidFill>
                <a:latin typeface="Aptos"/>
              </a:rPr>
              <a:t>Portfolio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276856"/>
            <a:ext cx="1874519" cy="29260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50" b="0">
                <a:solidFill>
                  <a:srgbClr val="586962"/>
                </a:solidFill>
                <a:latin typeface="Aptos"/>
              </a:rPr>
              <a:t>AAPL 5 shares, MSFT $800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139696"/>
            <a:ext cx="32004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128466"/>
                </a:solidFill>
                <a:latin typeface="Aptos"/>
              </a:rPr>
              <a:t>-&gt;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65960"/>
            <a:ext cx="192024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08483A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276856"/>
            <a:ext cx="1874519" cy="29260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50" b="0">
                <a:solidFill>
                  <a:srgbClr val="586962"/>
                </a:solidFill>
                <a:latin typeface="Aptos"/>
              </a:rPr>
              <a:t>RAG + Sentiment + Risk + Forecast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139696"/>
            <a:ext cx="32004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128466"/>
                </a:solidFill>
                <a:latin typeface="Aptos"/>
              </a:rPr>
              <a:t>-&gt;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82880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965960"/>
            <a:ext cx="192024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08483A"/>
                </a:solidFill>
                <a:latin typeface="Aptos"/>
              </a:rPr>
              <a:t>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92" y="2276856"/>
            <a:ext cx="1874519" cy="29260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50" b="0">
                <a:solidFill>
                  <a:srgbClr val="586962"/>
                </a:solidFill>
                <a:latin typeface="Aptos"/>
              </a:rPr>
              <a:t>Reserve + staged allocation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154680"/>
            <a:ext cx="4663440" cy="2057400"/>
          </a:xfrm>
          <a:prstGeom prst="roundRect">
            <a:avLst/>
          </a:prstGeom>
          <a:solidFill>
            <a:srgbClr val="EEF7F3"/>
          </a:solidFill>
          <a:ln w="12700">
            <a:solidFill>
              <a:srgbClr val="C7D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364992"/>
            <a:ext cx="3200400" cy="27432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2201C"/>
                </a:solidFill>
                <a:latin typeface="Aptos"/>
              </a:rPr>
              <a:t>User-facing 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730752"/>
            <a:ext cx="4069080" cy="1188720"/>
          </a:xfrm>
          <a:prstGeom prst="rect">
            <a:avLst/>
          </a:prstGeom>
          <a:noFill/>
        </p:spPr>
        <p:txBody>
          <a:bodyPr wrap="none" lIns="73152" rIns="36576" tIns="36576" bIns="36576">
            <a:spAutoFit/>
          </a:bodyPr>
          <a:lstStyle/>
          <a:p>
            <a:pPr>
              <a:spcAft>
                <a:spcPts val="800"/>
              </a:spcAft>
              <a:defRPr sz="1350">
                <a:solidFill>
                  <a:srgbClr val="12201C"/>
                </a:solidFill>
                <a:latin typeface="Aptos"/>
              </a:defRPr>
            </a:pPr>
            <a:r>
              <a:t>No full-budget single-stock recommendation.</a:t>
            </a:r>
          </a:p>
          <a:p>
            <a:pPr>
              <a:spcAft>
                <a:spcPts val="800"/>
              </a:spcAft>
              <a:defRPr sz="1350">
                <a:solidFill>
                  <a:srgbClr val="12201C"/>
                </a:solidFill>
                <a:latin typeface="Aptos"/>
              </a:defRPr>
            </a:pPr>
            <a:r>
              <a:t>Single-stock Buy allocation capped by risk profile.</a:t>
            </a:r>
          </a:p>
          <a:p>
            <a:pPr>
              <a:spcAft>
                <a:spcPts val="800"/>
              </a:spcAft>
              <a:defRPr sz="1350">
                <a:solidFill>
                  <a:srgbClr val="12201C"/>
                </a:solidFill>
                <a:latin typeface="Aptos"/>
              </a:defRPr>
            </a:pPr>
            <a:r>
              <a:t>Hold-level signals become Watch actions, not Buy instructions.</a:t>
            </a:r>
          </a:p>
          <a:p>
            <a:pPr>
              <a:spcAft>
                <a:spcPts val="800"/>
              </a:spcAft>
              <a:defRPr sz="1350">
                <a:solidFill>
                  <a:srgbClr val="12201C"/>
                </a:solidFill>
                <a:latin typeface="Aptos"/>
              </a:defRPr>
            </a:pPr>
            <a:r>
              <a:t>Portfolio overlap warning if a suggested ticker is already owned.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0" y="3154680"/>
            <a:ext cx="46634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0" y="3364992"/>
            <a:ext cx="3017520" cy="27432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2201C"/>
                </a:solidFill>
                <a:latin typeface="Aptos"/>
              </a:rPr>
              <a:t>Measured 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3767328"/>
            <a:ext cx="2194560" cy="4114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8483A"/>
                </a:solidFill>
                <a:latin typeface="Aptos"/>
              </a:rPr>
              <a:t>8.8s -&gt; 2.0s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25312" y="4187952"/>
            <a:ext cx="292608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86962"/>
                </a:solidFill>
                <a:latin typeface="Aptos"/>
              </a:rPr>
              <a:t>First local Ask run after optimization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767328"/>
            <a:ext cx="1737360" cy="4114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400" b="1">
                <a:solidFill>
                  <a:srgbClr val="2B5E94"/>
                </a:solidFill>
                <a:latin typeface="Aptos"/>
              </a:rPr>
              <a:t>&lt; 1s cached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187952"/>
            <a:ext cx="164592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586962"/>
                </a:solidFill>
                <a:latin typeface="Aptos"/>
              </a:rPr>
              <a:t>Repeated warm path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4526280"/>
            <a:ext cx="3931920" cy="548640"/>
          </a:xfrm>
          <a:prstGeom prst="rect">
            <a:avLst/>
          </a:prstGeom>
          <a:noFill/>
        </p:spPr>
        <p:txBody>
          <a:bodyPr wrap="none" lIns="73152" rIns="36576" tIns="36576" bIns="36576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586962"/>
                </a:solidFill>
                <a:latin typeface="Aptos"/>
              </a:defRPr>
            </a:pPr>
            <a:r>
              <a:t>Cached OrchestratorAgent and CSV data.</a:t>
            </a:r>
          </a:p>
          <a:p>
            <a:pPr>
              <a:spcAft>
                <a:spcPts val="800"/>
              </a:spcAft>
              <a:defRPr sz="1250">
                <a:solidFill>
                  <a:srgbClr val="586962"/>
                </a:solidFill>
                <a:latin typeface="Aptos"/>
              </a:defRPr>
            </a:pPr>
            <a:r>
              <a:t>Reduced Chroma rerank pool with FIE_VECTOR_CANDIDATES.</a:t>
            </a:r>
          </a:p>
          <a:p>
            <a:pPr>
              <a:spcAft>
                <a:spcPts val="800"/>
              </a:spcAft>
              <a:defRPr sz="1250">
                <a:solidFill>
                  <a:srgbClr val="586962"/>
                </a:solidFill>
                <a:latin typeface="Aptos"/>
              </a:defRPr>
            </a:pPr>
            <a:r>
              <a:t>Added per-agent timings in API response.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623560"/>
            <a:ext cx="2057400" cy="310896"/>
          </a:xfrm>
          <a:prstGeom prst="roundRect">
            <a:avLst/>
          </a:prstGeom>
          <a:solidFill>
            <a:srgbClr val="E5EEF8"/>
          </a:solidFill>
          <a:ln w="12700">
            <a:solidFill>
              <a:srgbClr val="E5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687568"/>
            <a:ext cx="1911095" cy="14630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2B5E94"/>
                </a:solidFill>
                <a:latin typeface="Aptos"/>
              </a:rPr>
              <a:t>agents/orchestrator_agent.py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17520" y="5623560"/>
            <a:ext cx="1691640" cy="310896"/>
          </a:xfrm>
          <a:prstGeom prst="roundRect">
            <a:avLst/>
          </a:prstGeom>
          <a:solidFill>
            <a:srgbClr val="E5EEF8"/>
          </a:solidFill>
          <a:ln w="12700">
            <a:solidFill>
              <a:srgbClr val="E5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90672" y="5687568"/>
            <a:ext cx="1545336" cy="14630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2B5E94"/>
                </a:solidFill>
                <a:latin typeface="Aptos"/>
              </a:rPr>
              <a:t>rag_layer/retriever.py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92040" y="5623560"/>
            <a:ext cx="1325880" cy="310896"/>
          </a:xfrm>
          <a:prstGeom prst="roundRect">
            <a:avLst/>
          </a:prstGeom>
          <a:solidFill>
            <a:srgbClr val="EEF7F3"/>
          </a:solidFill>
          <a:ln w="12700">
            <a:solidFill>
              <a:srgbClr val="EE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65192" y="5687568"/>
            <a:ext cx="1179576" cy="14630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8483A"/>
                </a:solidFill>
                <a:latin typeface="Aptos"/>
              </a:rPr>
              <a:t>tests: 23 passed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5623560"/>
            <a:ext cx="2194560" cy="310896"/>
          </a:xfrm>
          <a:prstGeom prst="roundRect">
            <a:avLst/>
          </a:prstGeom>
          <a:solidFill>
            <a:srgbClr val="EEF7F3"/>
          </a:solidFill>
          <a:ln w="12700">
            <a:solidFill>
              <a:srgbClr val="EE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3952" y="5687568"/>
            <a:ext cx="2048255" cy="14630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08483A"/>
                </a:solidFill>
                <a:latin typeface="Aptos"/>
              </a:rPr>
              <a:t>Render redeploy from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2026-08-22T09:34:33.6200000Z</dcterms:created>
  <dcterms:modified xsi:type="dcterms:W3CDTF">2026-08-22T09:34:33.6210000Z</dcterms:modified>
</coreProperties>
</file>