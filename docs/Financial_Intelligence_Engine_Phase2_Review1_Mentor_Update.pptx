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94d2d9a00545ac" /><Relationship Type="http://schemas.openxmlformats.org/officeDocument/2006/relationships/extended-properties" Target="/docProps/app.xml" Id="R3366168388a64e5f" /><Relationship Type="http://schemas.openxmlformats.org/officeDocument/2006/relationships/officeDocument" Target="/ppt/presentation.xml" Id="R95c3523ee30246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7dbe4759748d8"/>
  </p:sldMasterIdLst>
  <p:notesMasterIdLst>
    <p:notesMasterId xmlns:r="http://schemas.openxmlformats.org/officeDocument/2006/relationships" r:id="R47719a2b95ea40d4"/>
  </p:notesMasterIdLst>
  <p:sldIdLst>
    <p:sldId xmlns:r="http://schemas.openxmlformats.org/officeDocument/2006/relationships" id="256" r:id="Rdba891d6c6b84991"/>
    <p:sldId xmlns:r="http://schemas.openxmlformats.org/officeDocument/2006/relationships" id="257" r:id="R3c14e1be169a4361"/>
    <p:sldId xmlns:r="http://schemas.openxmlformats.org/officeDocument/2006/relationships" id="258" r:id="R6bfee4c1d63d461f"/>
    <p:sldId xmlns:r="http://schemas.openxmlformats.org/officeDocument/2006/relationships" id="259" r:id="R5175900f890a4843"/>
    <p:sldId xmlns:r="http://schemas.openxmlformats.org/officeDocument/2006/relationships" id="260" r:id="Re0cd0baad92c4023"/>
    <p:sldId xmlns:r="http://schemas.openxmlformats.org/officeDocument/2006/relationships" id="261" r:id="Re0084be1fc0448f1"/>
    <p:sldId xmlns:r="http://schemas.openxmlformats.org/officeDocument/2006/relationships" id="262" r:id="R8622ba03f2fa457a"/>
    <p:sldId xmlns:r="http://schemas.openxmlformats.org/officeDocument/2006/relationships" id="263" r:id="R4eb88cfc8b9447b0"/>
    <p:sldId xmlns:r="http://schemas.openxmlformats.org/officeDocument/2006/relationships" id="264" r:id="R1661dc892969444f"/>
    <p:sldId xmlns:r="http://schemas.openxmlformats.org/officeDocument/2006/relationships" id="265" r:id="Rb2d47ed3ecf14199"/>
    <p:sldId xmlns:r="http://schemas.openxmlformats.org/officeDocument/2006/relationships" id="266" r:id="R4920effccdd1499c"/>
    <p:sldId xmlns:r="http://schemas.openxmlformats.org/officeDocument/2006/relationships" id="267" r:id="Rd93fdac9c92c4352"/>
    <p:sldId xmlns:r="http://schemas.openxmlformats.org/officeDocument/2006/relationships" id="268" r:id="Rd532c18d4d2846b5"/>
    <p:sldId xmlns:r="http://schemas.openxmlformats.org/officeDocument/2006/relationships" id="269" r:id="R7e261990f24541b8"/>
    <p:sldId xmlns:r="http://schemas.openxmlformats.org/officeDocument/2006/relationships" id="270" r:id="R54f690a5e0b54d14"/>
    <p:sldId xmlns:r="http://schemas.openxmlformats.org/officeDocument/2006/relationships" id="271" r:id="Rcd90bd7bd10c4188"/>
    <p:sldId xmlns:r="http://schemas.openxmlformats.org/officeDocument/2006/relationships" id="272" r:id="Rdd6258fe0375433e"/>
    <p:sldId xmlns:r="http://schemas.openxmlformats.org/officeDocument/2006/relationships" id="273" r:id="R33495775323a4c8a"/>
    <p:sldId xmlns:r="http://schemas.openxmlformats.org/officeDocument/2006/relationships" id="274" r:id="R1b4dc52cf81145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67764a214d465a" /><Relationship Type="http://schemas.openxmlformats.org/officeDocument/2006/relationships/slideMaster" Target="/ppt/slideMasters/slideMaster1.xml" Id="R6c57dbe4759748d8" /><Relationship Type="http://schemas.openxmlformats.org/officeDocument/2006/relationships/notesMaster" Target="/ppt/notesMasters/notesMaster1.xml" Id="R47719a2b95ea40d4" /><Relationship Type="http://schemas.openxmlformats.org/officeDocument/2006/relationships/presProps" Target="/ppt/presProps.xml" Id="Ra3f81e50d1c345ed" /><Relationship Type="http://schemas.openxmlformats.org/officeDocument/2006/relationships/viewProps" Target="/ppt/viewProps.xml" Id="Racc0658998ef4a02" /><Relationship Type="http://schemas.openxmlformats.org/officeDocument/2006/relationships/tableStyles" Target="/ppt/tableStyles.xml" Id="R2b490c40ffe247ec" /><Relationship Type="http://schemas.openxmlformats.org/officeDocument/2006/relationships/slide" Target="/ppt/slides/slide1.xml" Id="Rdba891d6c6b84991" /><Relationship Type="http://schemas.openxmlformats.org/officeDocument/2006/relationships/slide" Target="/ppt/slides/slide2.xml" Id="R3c14e1be169a4361" /><Relationship Type="http://schemas.openxmlformats.org/officeDocument/2006/relationships/slide" Target="/ppt/slides/slide3.xml" Id="R6bfee4c1d63d461f" /><Relationship Type="http://schemas.openxmlformats.org/officeDocument/2006/relationships/slide" Target="/ppt/slides/slide4.xml" Id="R5175900f890a4843" /><Relationship Type="http://schemas.openxmlformats.org/officeDocument/2006/relationships/slide" Target="/ppt/slides/slide5.xml" Id="Re0cd0baad92c4023" /><Relationship Type="http://schemas.openxmlformats.org/officeDocument/2006/relationships/slide" Target="/ppt/slides/slide6.xml" Id="Re0084be1fc0448f1" /><Relationship Type="http://schemas.openxmlformats.org/officeDocument/2006/relationships/slide" Target="/ppt/slides/slide7.xml" Id="R8622ba03f2fa457a" /><Relationship Type="http://schemas.openxmlformats.org/officeDocument/2006/relationships/slide" Target="/ppt/slides/slide8.xml" Id="R4eb88cfc8b9447b0" /><Relationship Type="http://schemas.openxmlformats.org/officeDocument/2006/relationships/slide" Target="/ppt/slides/slide9.xml" Id="R1661dc892969444f" /><Relationship Type="http://schemas.openxmlformats.org/officeDocument/2006/relationships/slide" Target="/ppt/slides/slide10.xml" Id="Rb2d47ed3ecf14199" /><Relationship Type="http://schemas.openxmlformats.org/officeDocument/2006/relationships/slide" Target="/ppt/slides/slide11.xml" Id="R4920effccdd1499c" /><Relationship Type="http://schemas.openxmlformats.org/officeDocument/2006/relationships/slide" Target="/ppt/slides/slide12.xml" Id="Rd93fdac9c92c4352" /><Relationship Type="http://schemas.openxmlformats.org/officeDocument/2006/relationships/slide" Target="/ppt/slides/slide13.xml" Id="Rd532c18d4d2846b5" /><Relationship Type="http://schemas.openxmlformats.org/officeDocument/2006/relationships/slide" Target="/ppt/slides/slide14.xml" Id="R7e261990f24541b8" /><Relationship Type="http://schemas.openxmlformats.org/officeDocument/2006/relationships/slide" Target="/ppt/slides/slide15.xml" Id="R54f690a5e0b54d14" /><Relationship Type="http://schemas.openxmlformats.org/officeDocument/2006/relationships/slide" Target="/ppt/slides/slide16.xml" Id="Rcd90bd7bd10c4188" /><Relationship Type="http://schemas.openxmlformats.org/officeDocument/2006/relationships/slide" Target="/ppt/slides/slide17.xml" Id="Rdd6258fe0375433e" /><Relationship Type="http://schemas.openxmlformats.org/officeDocument/2006/relationships/slide" Target="/ppt/slides/slide18.xml" Id="R33495775323a4c8a" /><Relationship Type="http://schemas.openxmlformats.org/officeDocument/2006/relationships/slide" Target="/ppt/slides/slide19.xml" Id="R1b4dc52cf81145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3ea08dc023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c7836649f4976" /><Relationship Type="http://schemas.openxmlformats.org/officeDocument/2006/relationships/notesMaster" Target="/ppt/notesMasters/notesMaster1.xml" Id="Rf612bed4105146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5335fe82543df" /><Relationship Type="http://schemas.openxmlformats.org/officeDocument/2006/relationships/notesMaster" Target="/ppt/notesMasters/notesMaster1.xml" Id="R0b7f5301919343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f553deb0c44276" /><Relationship Type="http://schemas.openxmlformats.org/officeDocument/2006/relationships/notesMaster" Target="/ppt/notesMasters/notesMaster1.xml" Id="R3df937c4a2fe4c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af171a877b495b" /><Relationship Type="http://schemas.openxmlformats.org/officeDocument/2006/relationships/notesMaster" Target="/ppt/notesMasters/notesMaster1.xml" Id="Rb224ae53c03a44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00850c0c4c459f" /><Relationship Type="http://schemas.openxmlformats.org/officeDocument/2006/relationships/notesMaster" Target="/ppt/notesMasters/notesMaster1.xml" Id="Rb5ecd74b36e9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2d1402fb0243e3" /><Relationship Type="http://schemas.openxmlformats.org/officeDocument/2006/relationships/notesMaster" Target="/ppt/notesMasters/notesMaster1.xml" Id="Rf405e80be15c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3fe982cc6d46d7" /><Relationship Type="http://schemas.openxmlformats.org/officeDocument/2006/relationships/notesMaster" Target="/ppt/notesMasters/notesMaster1.xml" Id="Rbf9ac411c32842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ae64ecf9f54eb5" /><Relationship Type="http://schemas.openxmlformats.org/officeDocument/2006/relationships/notesMaster" Target="/ppt/notesMasters/notesMaster1.xml" Id="Rf300abd1d25449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b210db117d4bed" /><Relationship Type="http://schemas.openxmlformats.org/officeDocument/2006/relationships/notesMaster" Target="/ppt/notesMasters/notesMaster1.xml" Id="R855b1470513344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bb053b926746e7" /><Relationship Type="http://schemas.openxmlformats.org/officeDocument/2006/relationships/notesMaster" Target="/ppt/notesMasters/notesMaster1.xml" Id="R0da61ffc3fe046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4f138084424a40" /><Relationship Type="http://schemas.openxmlformats.org/officeDocument/2006/relationships/notesMaster" Target="/ppt/notesMasters/notesMaster1.xml" Id="R0a8822c11a254d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4556cd1d90410f" /><Relationship Type="http://schemas.openxmlformats.org/officeDocument/2006/relationships/notesMaster" Target="/ppt/notesMasters/notesMaster1.xml" Id="R082f2c1b4a9b49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f99c5feaf0426c" /><Relationship Type="http://schemas.openxmlformats.org/officeDocument/2006/relationships/notesMaster" Target="/ppt/notesMasters/notesMaster1.xml" Id="R79720b87c67345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757260d55248fc" /><Relationship Type="http://schemas.openxmlformats.org/officeDocument/2006/relationships/notesMaster" Target="/ppt/notesMasters/notesMaster1.xml" Id="R849c244e91d94a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799dc0639b4a37" /><Relationship Type="http://schemas.openxmlformats.org/officeDocument/2006/relationships/notesMaster" Target="/ppt/notesMasters/notesMaster1.xml" Id="R5d8859865e8c4b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bda2bc1734477c" /><Relationship Type="http://schemas.openxmlformats.org/officeDocument/2006/relationships/notesMaster" Target="/ppt/notesMasters/notesMaster1.xml" Id="R7a437d9053ab4c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43ad1a853742be" /><Relationship Type="http://schemas.openxmlformats.org/officeDocument/2006/relationships/notesMaster" Target="/ppt/notesMasters/notesMaster1.xml" Id="R52d821d7385047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ff859c4aa94e1b" /><Relationship Type="http://schemas.openxmlformats.org/officeDocument/2006/relationships/notesMaster" Target="/ppt/notesMasters/notesMaster1.xml" Id="Rfcf5b45195af41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43cc16139343fb" /><Relationship Type="http://schemas.openxmlformats.org/officeDocument/2006/relationships/notesMaster" Target="/ppt/notesMasters/notesMaster1.xml" Id="R69296972a4e5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54612116a4a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4fe9cddbb4a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1e15b1b3144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7891880ae4e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51d66e3af42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86575e121429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4cb28d44841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d899c5fdc4e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8979baca847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e896ddfc1440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a5184fa2049e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425298-A444-432C-9C51-23A7EBC55E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71B3BA5-9D1B-450C-BAD6-D8DE591EC2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D82C10-8448-4F1F-8F6E-FBE7D3846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117848-83E2-4972-98BE-1A111D47A6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ECADC-4BDB-4476-8322-78A01B868B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FB53CC-ECC7-4A11-B847-2D13A401F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E2797E-0E9E-49C1-A485-D752A36691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E87C1C-CD8D-494A-867C-92B36DD8A2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7641BB-1957-4100-AFF4-E8C923BA50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7E6C39-74E9-4019-9015-07446C16AB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B3986B-AA3A-4E4D-A5AA-C5ACCEEDC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C1857C-4A38-47F6-9569-4BCE3E88BE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E16E99-4E55-480F-AD5D-CFC211A1CC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358C1C-BFC5-4F09-B28B-778CEB68A6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8CB1A2-4A11-4C9A-85BF-23A67EBE98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072A40-FE3B-4646-9DCB-22474A1DD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DFA09B-7480-46C6-A65D-9CAAE48082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D91BCD-493D-4246-A3B4-4501AB381F9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492830-1D4D-4C1B-8D01-65F681C64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1F4E2C-05FC-4159-A6C1-3B52D53785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78B5419-C6B9-4751-8A71-0EE38E5B6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96A7A7-D3D9-4D7C-A3F8-10F9295F3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FC3D4-CAC7-450C-86DC-1A0859C53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EE06C5-6C1F-4E7A-AC86-9A5BAAE28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57A87E4-ACCD-4308-8422-510F9C61C74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726927B-4503-4202-944E-CB660B541CC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D47008A-D807-4E3A-A739-0B91532B57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DA2B965-4AD0-4B37-914E-0EA0944C9E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93F0A63-1563-4E09-B46E-8CAE421F2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523CFE-307D-40CE-8F39-A293054CC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CC989C7-5A21-46C8-994C-71AF32EF0E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3A6BFD9-49AF-45B5-AD2C-1B7663BD8A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35D0D53-F515-49CA-8C92-7DCA320E8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696FE7B-22E6-425E-8B5B-4E82FFA25D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BD6180C-8400-471B-95C5-FDF9DA757B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334E36-A2FD-4FC6-8995-01EA981A2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2FC674-D84F-4DFE-8C18-982C44B21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97C8743-1AFA-4BC8-ABCC-C3852DFB14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4C68DFA-65C9-47F8-BD01-5026BD93C2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7AC061-6532-483B-8471-2FA5B7717E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65F073-E05F-4432-8F84-05C3C5DE34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65AB04-E368-4EC3-96CF-CD5C7DFCA0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AA57B7-8B7D-4302-B44A-4ADF1BFB6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E77E049-F23B-469B-95B0-50A37E5E823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1CF66B0-2CC1-4C27-9EFB-2287D0ADD0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03E4654-F965-4AE2-AE75-740DD90CA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5226BF-0E3C-437C-91C4-12D3FC6373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0A35F74-D264-490B-85CC-4473E0B1C9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6CC4D6-E535-4852-86E2-DC608DAB4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9FE2BC-8C4C-4B83-90FF-038D36C76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712356-EAD4-455A-95B3-518A94483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7563CE-AF55-4191-AFC3-0FC779DE5B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C3EF7C-9FEF-4C99-9C0C-7253540C28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591BE9A-FAC0-4F80-839B-89DA1DD09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1493B5-8FE0-4943-AABE-6179A281E1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D71B00-CE49-4E80-BBA9-85062D1022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C87BBE-5949-4D1D-A029-0AE700B72F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AB35A5-67DA-475F-BF36-F4B82E14B7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4f3c7f9f344f5c" /><Relationship Type="http://schemas.openxmlformats.org/officeDocument/2006/relationships/slideLayout" Target="/ppt/slideLayouts/slideLayout1.xml" Id="Rd377b370747b497d" /><Relationship Type="http://schemas.openxmlformats.org/officeDocument/2006/relationships/slideLayout" Target="/ppt/slideLayouts/slideLayout2.xml" Id="R9497225123154983" /><Relationship Type="http://schemas.openxmlformats.org/officeDocument/2006/relationships/slideLayout" Target="/ppt/slideLayouts/slideLayout3.xml" Id="R3e84247437da4e4a" /><Relationship Type="http://schemas.openxmlformats.org/officeDocument/2006/relationships/slideLayout" Target="/ppt/slideLayouts/slideLayout4.xml" Id="R198e07e6d90e4e32" /><Relationship Type="http://schemas.openxmlformats.org/officeDocument/2006/relationships/slideLayout" Target="/ppt/slideLayouts/slideLayout5.xml" Id="Ra5fac27ded3f417a" /><Relationship Type="http://schemas.openxmlformats.org/officeDocument/2006/relationships/slideLayout" Target="/ppt/slideLayouts/slideLayout6.xml" Id="R61fbd7230cf64351" /><Relationship Type="http://schemas.openxmlformats.org/officeDocument/2006/relationships/slideLayout" Target="/ppt/slideLayouts/slideLayout7.xml" Id="R67a60798257e40f9" /><Relationship Type="http://schemas.openxmlformats.org/officeDocument/2006/relationships/slideLayout" Target="/ppt/slideLayouts/slideLayout8.xml" Id="R4cbd8919fcfe4e8b" /><Relationship Type="http://schemas.openxmlformats.org/officeDocument/2006/relationships/slideLayout" Target="/ppt/slideLayouts/slideLayout9.xml" Id="Rd132172fb06d4e00" /><Relationship Type="http://schemas.openxmlformats.org/officeDocument/2006/relationships/slideLayout" Target="/ppt/slideLayouts/slideLayout10.xml" Id="Rb172ea78f8e24d7b" /><Relationship Type="http://schemas.openxmlformats.org/officeDocument/2006/relationships/slideLayout" Target="/ppt/slideLayouts/slideLayout11.xml" Id="R7f164f7bea3c42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38F3CE9-D1C9-4205-99B6-6971CDAA13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C7E15B-3285-46C6-BF71-83C2751103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81C949-99AC-4523-83A8-2E749A39B0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6/9/2026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910C5A-3030-4AA6-B969-78E7BC0F74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2E6F79-653B-44B4-8507-4219E64E49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7b370747b497d"/>
    <p:sldLayoutId xmlns:r="http://schemas.openxmlformats.org/officeDocument/2006/relationships" id="2147483650" r:id="R9497225123154983"/>
    <p:sldLayoutId xmlns:r="http://schemas.openxmlformats.org/officeDocument/2006/relationships" id="2147483651" r:id="R3e84247437da4e4a"/>
    <p:sldLayoutId xmlns:r="http://schemas.openxmlformats.org/officeDocument/2006/relationships" id="2147483652" r:id="R198e07e6d90e4e32"/>
    <p:sldLayoutId xmlns:r="http://schemas.openxmlformats.org/officeDocument/2006/relationships" id="2147483653" r:id="Ra5fac27ded3f417a"/>
    <p:sldLayoutId xmlns:r="http://schemas.openxmlformats.org/officeDocument/2006/relationships" id="2147483654" r:id="R61fbd7230cf64351"/>
    <p:sldLayoutId xmlns:r="http://schemas.openxmlformats.org/officeDocument/2006/relationships" id="2147483655" r:id="R67a60798257e40f9"/>
    <p:sldLayoutId xmlns:r="http://schemas.openxmlformats.org/officeDocument/2006/relationships" id="2147483656" r:id="R4cbd8919fcfe4e8b"/>
    <p:sldLayoutId xmlns:r="http://schemas.openxmlformats.org/officeDocument/2006/relationships" id="2147483657" r:id="Rd132172fb06d4e00"/>
    <p:sldLayoutId xmlns:r="http://schemas.openxmlformats.org/officeDocument/2006/relationships" id="2147483658" r:id="Rb172ea78f8e24d7b"/>
    <p:sldLayoutId xmlns:r="http://schemas.openxmlformats.org/officeDocument/2006/relationships" id="2147483659" r:id="R7f164f7bea3c422d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69d5612a9c47e8" /><Relationship Type="http://schemas.openxmlformats.org/officeDocument/2006/relationships/notesSlide" Target="/ppt/notesSlides/notesSlide1.xml" Id="Rcbc6981765f7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3392e2329246d2" /><Relationship Type="http://schemas.openxmlformats.org/officeDocument/2006/relationships/notesSlide" Target="/ppt/notesSlides/notesSlide2.xml" Id="R6c34882c44f445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b46967311d4a08" /><Relationship Type="http://schemas.openxmlformats.org/officeDocument/2006/relationships/notesSlide" Target="/ppt/notesSlides/notesSlide3.xml" Id="Rf0765380bf3b49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a8ca73ff5c489a" /><Relationship Type="http://schemas.openxmlformats.org/officeDocument/2006/relationships/notesSlide" Target="/ppt/notesSlides/notesSlide4.xml" Id="R3540f444bb2242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2c829fc6c44622" /><Relationship Type="http://schemas.openxmlformats.org/officeDocument/2006/relationships/notesSlide" Target="/ppt/notesSlides/notesSlide5.xml" Id="Rf5f4cb07221644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46115a36464b33" /><Relationship Type="http://schemas.openxmlformats.org/officeDocument/2006/relationships/image" Target="/ppt/media/image.png" Id="R1608643a945444b1" /><Relationship Type="http://schemas.openxmlformats.org/officeDocument/2006/relationships/notesSlide" Target="/ppt/notesSlides/notesSlide6.xml" Id="Rff2a0978140343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1f71902314483a" /><Relationship Type="http://schemas.openxmlformats.org/officeDocument/2006/relationships/notesSlide" Target="/ppt/notesSlides/notesSlide7.xml" Id="Re9931add799847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a8ff0b38984707" /><Relationship Type="http://schemas.openxmlformats.org/officeDocument/2006/relationships/notesSlide" Target="/ppt/notesSlides/notesSlide8.xml" Id="R183759d0d7f446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7b19b6370b4ff9" /><Relationship Type="http://schemas.openxmlformats.org/officeDocument/2006/relationships/notesSlide" Target="/ppt/notesSlides/notesSlide9.xml" Id="R0f7ffee1188a48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d47339cfd0495e" /><Relationship Type="http://schemas.openxmlformats.org/officeDocument/2006/relationships/notesSlide" Target="/ppt/notesSlides/notesSlide10.xml" Id="Rdb15a4a1a7f541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65c4a5e2fe48b6" /><Relationship Type="http://schemas.openxmlformats.org/officeDocument/2006/relationships/notesSlide" Target="/ppt/notesSlides/notesSlide11.xml" Id="Rb4671153d0cb4f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e25957f961431d" /><Relationship Type="http://schemas.openxmlformats.org/officeDocument/2006/relationships/notesSlide" Target="/ppt/notesSlides/notesSlide12.xml" Id="R7c1498d1746e47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f63bfdc57243e8" /><Relationship Type="http://schemas.openxmlformats.org/officeDocument/2006/relationships/notesSlide" Target="/ppt/notesSlides/notesSlide13.xml" Id="Rb52d9346190548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c8509eba19462d" /><Relationship Type="http://schemas.openxmlformats.org/officeDocument/2006/relationships/notesSlide" Target="/ppt/notesSlides/notesSlide14.xml" Id="Rd4d0b6e2399f40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402b7564184968" /><Relationship Type="http://schemas.openxmlformats.org/officeDocument/2006/relationships/notesSlide" Target="/ppt/notesSlides/notesSlide15.xml" Id="Rb906663741a747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a6707be04a4b4d" /><Relationship Type="http://schemas.openxmlformats.org/officeDocument/2006/relationships/notesSlide" Target="/ppt/notesSlides/notesSlide16.xml" Id="R93e5a7d38fd048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ebc406da2d4d48" /><Relationship Type="http://schemas.openxmlformats.org/officeDocument/2006/relationships/notesSlide" Target="/ppt/notesSlides/notesSlide17.xml" Id="R6aea0d758b3f40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f72e1fa8af45bd" /><Relationship Type="http://schemas.openxmlformats.org/officeDocument/2006/relationships/notesSlide" Target="/ppt/notesSlides/notesSlide18.xml" Id="Rb7bde2b5373242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aeb6c56ddb4fc2" /><Relationship Type="http://schemas.openxmlformats.org/officeDocument/2006/relationships/notesSlide" Target="/ppt/notesSlides/notesSlide19.xml" Id="Red17fe3e7e824d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20CF43-BF12-4674-985E-8C75739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TITLE &amp; ABSTRACT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93C99B-C68A-4806-A61E-DDCB8EA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E8EE01-EFB4-4FE3-B988-B28252C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Financial Intelligence Engine for Investment Analysis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5336C7-59A6-4BC0-8172-78A8071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Phase 1 prototype for AI-assisted financial research and investment suggestions.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B57D56-9228-40AF-9714-4A11FBB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CBA47A-9F30-4C71-AE87-C39984E2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FB3A007-FAA2-44E7-B2A0-6492A6C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54406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92BFD8-6B9E-4D4D-965E-D1C03F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93391"/>
            <a:ext cx="5129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Project Abstract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FF44123-5AED-4960-9A30-E170A4C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13432"/>
            <a:ext cx="51297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This project builds an AI-powered financial intelligence system that reduces manual investment analysis effort by integrating market data, company fundamentals, technical indicators, sentiment signals, and multi-agent reasoning. The current Phase 1 prototype includes data ingestion, feature engineering, investment scoring, generated reports, and an interactive dashboard where users can ask investment questions.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BC63BC-DE56-47CC-A141-FCD6F0E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19"/>
            <a:ext cx="45262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2C4FD3-7F72-4F07-AC49-6E8CE8F9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993391"/>
            <a:ext cx="4215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Research Objective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73C86AF-383C-46B5-A310-4EB1292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313432"/>
            <a:ext cx="42153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Design and implement a scalable, explainable system that can support Buy/Hold/Sell-style investment suggestions using structured and unstructured financial signals.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1D02F25-91F5-4CDD-80F4-558B24D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1000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77A95E8-638E-41A1-997E-620C934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COMPANY UNIVERSE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81FF20-9443-4C9D-9B26-08F50409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Nasdaq/SEC cached tickers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D129352-564E-40E5-AC4C-04835D1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EA2340-BA26-43C0-9662-193C82A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DEEP ANALYSIS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8F15C1-0F13-4423-808A-BE177CA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selected demo companies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6749F0-6666-4C89-B1BB-63E158E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4517BE-D320-44FD-95B5-C4509A1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FEATURES/COMPANY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C63568-0963-4BED-B56D-47067FB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technical + composite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2FEC41-172F-4C68-BF44-8126A90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90BF252-6320-4EBA-96FC-4EAB9D10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NEWS ROWS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6C04C35-2629-4622-A857-E08299F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sentiment demo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0D87FF-109A-45F5-9B0B-E62B037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81%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CE9D3A9-15F2-4F5E-BB39-7D8B1D6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C7CAF46-CEAC-45B4-B077-7309D82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production-ready baseline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7CB0BA5-E992-4F40-89DF-010FCB4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58CB904-541D-4BC5-A3B1-73A7178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965192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E288CDC-BD01-4869-B0DB-8615E7E9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pytest passing</a:t>
            </a:r>
          </a:p>
        </p:txBody>
      </p:sp>
    </p:spTree>
    <p:extLst>
      <p:ext uri="{BB962C8B-B14F-4D97-AF65-F5344CB8AC3E}">
        <p14:creationId xmlns:p14="http://schemas.microsoft.com/office/powerpoint/2010/main" val="912650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21DD98-8656-47AB-AB3F-161FD785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ARCHITECTURAL DESIGN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4383D-DCC3-40F5-9A0F-0985A23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C493C6-0AEE-4E74-AA41-621D185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Modular architecture separates data breadth, signal depth, and user interaction</a:t>
            </a:r>
            <a:r>
              <a:rPr sz="28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BA2416-0044-4138-A197-4E409AC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The system is designed so each layer can be improved independently in later phases.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8992A0-A754-4DAE-BE23-2C3F16E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5B0C58-17E3-4134-AEA4-1A8C513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9647A3-A401-4224-8917-B6DD98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C96E83-9916-4349-9C5F-9D12E9D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1E9D0-F0CC-47EE-9A80-2BCA18E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1000 US tickers
Nasdaq/SEC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4C45320-2615-4521-991D-076CD99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1020EB-9D4F-4D3A-A7FC-E548CC3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AE5AEF-6714-41AE-9683-CC7AC9D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5B4C73-723C-4523-A8FB-1614A7B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prices, fundamentals
company info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7E17F59-41A6-4756-BDE1-B85F782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A677DC8-A80A-4B6A-8A82-0D8833E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972876-8F76-46B9-A187-5E19F0D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Layer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9590FD-E98F-4695-B436-86B3E2F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RSI, MACD, ATR
moving averages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46F74FF-816E-4C68-BE83-C10C18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3258365-A023-469D-B0AF-96D141B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212894-AEE3-4AF2-923D-8601B09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0A180B-B48C-462A-8F3A-D04B5A6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financial news
signal scoring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5F85DFC5-1E20-425A-BC6F-E462167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F255F51-9940-4570-96BF-3F17E2D8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C20D06-9C61-4D39-A37E-4CAB9AE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2AE2A-858B-48C2-9787-0A065C6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risk, forecast,
decision, explain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D909458E-4F97-4F57-94C6-B34B6A4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9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001313F-7EB7-4078-9E9E-138E2B6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25285D-52C8-43D9-AF10-6D1DBB0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19" y="21031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D0FDE9-6128-43C5-8A6E-4AB50B9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tab, outputs,
analysis dashboard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155E6FB-B27F-4F22-AAEA-FE780A0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303E1F-E6BC-444C-8D84-2071F6D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Storage &amp; Outputs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FC2BD6-48BF-4D7B-BF81-A0C1AD4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CSV, JSON, readiness report, investment report, sentiment table, technical summary, and clickable output routes.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8129C2A-F1A7-41C1-88FE-1F9D8F78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88E3A0-2262-458D-9048-AE80EFC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Interactive Q&amp;A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07BC573-EF31-4994-93CC-646F2B7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User questions are routed to the orchestrator, which coordinates sentiment, risk, forecast, decision, and explanation agents.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344A3A7-76F5-49BD-8A45-053E190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03320"/>
            <a:ext cx="283464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E36345-9569-49B1-801E-D52C559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822191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Next RAG Layer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4E7544-F973-4586-8A6A-43B557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142231"/>
            <a:ext cx="252374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PDF / 10-K / earnings report retrieval will enrich the existing retriever agent.</a:t>
            </a:r>
          </a:p>
        </p:txBody>
      </p:sp>
    </p:spTree>
    <p:extLst>
      <p:ext uri="{BB962C8B-B14F-4D97-AF65-F5344CB8AC3E}">
        <p14:creationId xmlns:p14="http://schemas.microsoft.com/office/powerpoint/2010/main" val="1655559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B3CC05-32BC-4611-8F83-2696519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ALGORITHMS / TECHNIQUES USED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9E98480-091B-4D60-8473-76A58F01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97530C-C470-4BAB-9ED4-2737CCD4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713232"/>
            <a:ext cx="9742293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prototype combines financial indicators, sentiment scoring, and multi-agent decision logic</a:t>
            </a:r>
            <a:r>
              <a:rPr sz="28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F6C9BE-39D0-497C-916F-F59D2EE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These are the core techniques implemented or scaffolded in Phase 1.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0CC071-DCD9-46F0-BD63-BEC1B87F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70745C3-01F4-4FDB-BBD2-DD632B3F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mlns:a="http://schemas.openxmlformats.org/drawingml/2006/main" x="594360" y="1783080"/>
          <a:ext xmlns:a="http://schemas.openxmlformats.org/drawingml/2006/main" cx="1097280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160520"/>
                <a:gridCol w="4846320"/>
              </a:tblGrid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Technique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implementation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Data acquisition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Yahoo Finance + Nasdaq/SEC universe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Historical OHLCV, fundamentals, company metadata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Feature engineering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RSI, MACD, stochastic, ATR, Bollinger bands, moving averages, OBV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42 implemented feature categories per company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Sentiment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Keyword-based financial sentiment scoring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Positive, negative, neutral labels and aggregated sentiment metrics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Investment scoring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Weighted technical + sentiment + fundamental score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Buy / Hold / Sell style recommendations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Multi-agent orchestration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Retriever, Sentiment, Risk, Forecast, Decision, Explainability agents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Ask tab answers user investment questions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Explainability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Agent summaries + generated rationale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80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Educational explanation and signal drivers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495A91C-8197-450B-9BBF-CF6E39D9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32918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FA5BE0-F1FD-4EB9-A9F5-EB077A81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559552"/>
            <a:ext cx="2980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Example user question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F5514E-02A6-472B-9EBD-4DE2BC9A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879592"/>
            <a:ext cx="2980944" cy="155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Should I invest in AAPL and MSFT for the next 30 days?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7076ADC-B3B1-4F00-ACDC-ECD826F9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40680"/>
            <a:ext cx="30175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79019E4-A74D-4435-89AE-1AB195E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559552"/>
            <a:ext cx="27066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System response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7BD676D-2BE8-4F38-826B-0BFB731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879592"/>
            <a:ext cx="2706624" cy="155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Agent-backed suggestions with score, confidence, drivers, and disclaimer.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16808C3-05F8-4B08-96BC-81D33E16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440680"/>
            <a:ext cx="315468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A4DF65B-71F5-4F90-999F-080A8D5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59552"/>
            <a:ext cx="2843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AA66951-18EC-4A5C-B906-A9BF5011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879592"/>
            <a:ext cx="2843784" cy="155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Recommendation report + dashboard answer panel.</a:t>
            </a:r>
          </a:p>
        </p:txBody>
      </p:sp>
    </p:spTree>
    <p:extLst>
      <p:ext uri="{BB962C8B-B14F-4D97-AF65-F5344CB8AC3E}">
        <p14:creationId xmlns:p14="http://schemas.microsoft.com/office/powerpoint/2010/main" val="1071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30D48B-3A22-4A8C-B675-A2707EBC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EXPECTED OUTCOMES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6DA557-F2FC-40BB-B9DD-68ECC0F3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6AFA97-90ED-4383-924E-448A6BA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713232"/>
            <a:ext cx="10056925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system should become an explainable AI assistant for investment research.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BEF6D1-9801-4937-BE25-ED37FADD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Outcomes are split into current Phase 1 deliverables and next review targets.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FE084A-4079-48FD-85A7-3AC8AB6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291A1F-71DA-45C8-B3E7-B5FA58C4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59E9968-51D5-4D7C-87AE-9C5FB83F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CEDA28-E683-4A7C-8AC5-1D2D1A0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01952"/>
            <a:ext cx="4764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Expected outcomes for the project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2CFDD7-17A9-4072-AD9B-EA569D04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221991"/>
            <a:ext cx="476402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1. Reduce manual research time for stock screening.
2. Provide explainable Buy/Hold/Sell-style suggestions.
3. Combine structured market data with unstructured financial text.
4. Build an interactive dashboard for portfolio review.
5. Support future RAG-based document reasoning.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A2EE93-99DB-4332-8077-B3EF4B3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783080"/>
            <a:ext cx="49834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E50CA57-0F90-4850-BDE0-92B7F70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901952"/>
            <a:ext cx="4672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What is achieved till now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B3D0BB-D2ED-4E26-82DF-FCC7A5B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221991"/>
            <a:ext cx="46725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1. 1000-company US equity universe cached.
2. 10-company detailed demo analysis.
3. 42 feature categories per company.
4. 300 generated news/sentiment rows.
5. Ask tab and clickable output reports.
6. 4 tests passing.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mlns:a="http://schemas.openxmlformats.org/drawingml/2006/main" x="1051560" y="4343400"/>
          <a:ext xmlns:a="http://schemas.openxmlformats.org/drawingml/2006/main" cx="10058400" cy="13258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5303520"/>
              </a:tblGrid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value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B1F2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Data completeness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All expected demo data sources populated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System complexity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100/100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Advanced multi-source processing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Production readiness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81%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17/21 checklist items complete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Data volume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186,760 points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19">
                          <a:solidFill>
                            <a:srgbClr val="122026"/>
                          </a:solidFill>
                          <a:latin typeface="Aptos"/>
                          <a:ea typeface="Aptos"/>
                          <a:cs typeface="Aptos"/>
                        </a:rPr>
                        <a:t>Phase 1 generated analysis scale</a:t>
                      </a:r>
                    </a:p>
                  </a:txBody>
                  <a:tcPr marL="91440" marR="91440" marT="45720" marB="45720"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135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ECD7218-58DD-4E3C-9F91-9817C531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REFERENCES + 30% CODE IMPLEMENTATION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DBF8E3-3768-4F17-96BB-2B2ECC9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4D6C-B204-4885-A735-50B2CDE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28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submission has working Phase 1 code and recent research grounding.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C138BF-D1C1-436F-AF82-C836015E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Code will be zipped separately; this slide lists what the review panel can verify.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324433-CBA6-4F9F-89EE-515F3664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First Review | Financial Intelligence Engine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03C45B-D3BE-4644-BD4F-8234AF6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96FD1D4-E93D-422F-95E6-42E8A88C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6576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1B6988B-B953-4C75-9FCB-50C2E75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56231"/>
            <a:ext cx="3346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30% implementation evidence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536E12-6CBB-42BF-95D0-DE15E2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15609"/>
            <a:ext cx="334670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Implemented modules:
- 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data_layer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
- agents
- storage
- frontend
- reports / generated outputs
Run commands:
python demo_ultimate.py
python frontend/server.py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82C4255-132C-4006-9681-7F6C91A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37360"/>
            <a:ext cx="288036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094C96-1AFA-4A84-B556-385E2B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856231"/>
            <a:ext cx="2569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43B394-DED6-4E81-B0AE-E6BF9C38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176272"/>
            <a:ext cx="256946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Review 1: Phase 1 prototype
Next: RAG document ingestion
Next: ML risk/forecast models
Final: scaled evaluation, monitoring, and dashboard polish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809C3C9-CDED-4211-8AB4-4F7A74ED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737360"/>
            <a:ext cx="333756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CD2462-E170-4DC6-B68B-F0C4497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1856231"/>
            <a:ext cx="30266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Latest references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97D953-5C62-4272-9921-F0F60D8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519172"/>
            <a:ext cx="3026664" cy="3063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Xiao et al., Retrieval-Augmented LLMs for Financial Time-Series Forecasting, arXiv:2502.05878, 2025.
Choi et al., 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FinDER</a:t>
            </a:r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: Financial Dataset for QA and Evaluating RAG, arXiv:2504.15800, 2025.
Yao et al., Evaluating LLMs for Financial Reasoning: CFA Benchmark, arXiv:2509.04468, 2025.
Xu et al., Analytical Stage-Based Multi-Agent Framework, Decision Analytics Journal, 2025.
Khan et al., Model-Agnostic Explainable AI Methods in Finance, Artificial Intelligence Review, 2025.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770320-490C-4687-BA1A-FC139B1C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662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Submission package: PPT + zipped source code + generated outputs in data/.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Scope note: full 1000-company detailed scoring will require caching and rate-limit handling in Phase 2.</a:t>
            </a:r>
          </a:p>
        </p:txBody>
      </p:sp>
    </p:spTree>
    <p:extLst>
      <p:ext uri="{BB962C8B-B14F-4D97-AF65-F5344CB8AC3E}">
        <p14:creationId xmlns:p14="http://schemas.microsoft.com/office/powerpoint/2010/main" val="21459067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8643a9454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7021" y="463397"/>
            <a:ext cx="11817957" cy="59312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26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F8A154-1EE6-4DB5-BE4A-C9BB26F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PROGRESS SINCE LAST REVIEW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93D82C-7BE1-4376-998C-2F35938F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Phase 1 moved from prototype skeleton to working baseline.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402528-E709-4BDA-9F2F-79F11DF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New implementation evidence: large data, trained models, persistent vector DB, RAG query path, and OpenAI-ready GenAI layer.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5C884-A838-4062-93C6-D644EC3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ED47DA9-8D77-4FD1-AA3D-B710B35B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DBA9D1-2B69-4977-A9DB-C2C789C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787DF4-077B-4FDE-BB98-9168970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US equity universe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ED9360-FC94-4ACC-B7F0-03974881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10,000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companies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C0EB2-68A6-47D2-913D-3BC4D4F6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12E5C0-4E7E-4E70-8266-D8CB75F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FC3225-B9A3-4797-87B2-455AAB3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ML feature table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1C6425-818E-434D-AADD-566CDF0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10,000 x 20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rows/features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F9AC925-A540-4BD2-AF93-8D6D9F3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91FFDD-0BEA-476C-B37E-50B200E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16D3B66-1126-4DE1-9C86-5E58521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model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0A2970-15AF-4AEF-AF03-D66CB81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80.05%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222B4A5-BAAC-4A14-B973-6E89ED2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A4A6606-6128-4614-BEC5-58FA4A2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5E9023-3E4E-4448-AF13-DBF8A5A0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746504"/>
            <a:ext cx="2185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Forecast model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D547B1F-29EA-45C6-B56B-0580480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68.95%</a:t>
            </a:r>
            <a:br/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56488DD-90FF-4A40-8A13-D240B61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212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What changed after the first review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4F1E6AC-5571-4F44-B08F-FA6652F3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50749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Built a large Phase 1 data pipeline instead of a small demo-only universe.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Generated ML-ready features and trained baseline risk / forecast models.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Added persistent ChromaDB vector store for the RAG layer.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Connected Retriever Agent to vector DB when the index exists.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CDC3C18-0654-4865-912D-BA90FE3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Evidence files produced by the system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E9E0D5B-82CF-4433-B2D4-CE002A2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11880"/>
            <a:ext cx="4800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data/processed/us_equity_universe.csv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data/features/phase1_model_features.csv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models/phase1_risk_model.pkl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models/phase1_forecast_model.pkl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data/vectors/chroma/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reports/phase1_agent_report.md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6ACB099-2C7B-473D-88A2-2A4AF965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progress update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5E2A70-6DD3-4F84-8B17-323DE2B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1877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C40B8C-19B7-4F78-8CDB-80F2F87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RAG IMPLEMENTATION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7D2B94-7D19-4273-B302-06FC6CB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RAG now uses a persistent local vector database and an LLM-ready answer layer.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43744F-AECA-46F0-8AA9-E900B1A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This satisfies the Phase 1 baseline requirement while keeping cloud/OpenAI integration configurable.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477BEB-A6EC-4E72-BD70-099FCB2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81877BF-8ECD-4443-A289-1406DBF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20703B-6CEF-40CB-B476-64617297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A2C6D2-B17A-4A8E-9EAB-B01E5A1E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docs, reports, PDFs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8DA33419-0981-4171-82BF-0D42E32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39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8601671-EFB9-47A7-AF06-8456F24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AEB92D-D3DA-47F5-9A5D-7413C8E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2EEFE7-E918-4EE7-B4E8-BA448E1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900 char windows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16B57069-F367-4DBD-9DFC-BC3382C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C0B8DA7-D086-4DEF-BB7B-5D810B9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80D1D8-8A76-4FE6-9E0F-40D85F5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370DFA-05F4-4BAC-A31F-D6FDA59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384-d hashing</a:t>
            </a:r>
          </a:p>
        </p:txBody>
      </p:sp>
      <p:sp>
        <p:nvSpPr>
          <p:cNvPr id="17" name="Right Arrow 16">
            <a:extLst xmlns:a="http://schemas.openxmlformats.org/drawingml/2006/main">
              <a:ext uri="{FF2B5EF4-FFF2-40B4-BE49-F238E27FC236}">
                <a16:creationId xmlns:a16="http://schemas.microsoft.com/office/drawing/2014/main" id="{8A78BE2D-DB33-403D-AD2D-CB4D3B68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B8B92F9-E7CD-4538-9513-8100FF2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2C0A91-17E7-4C03-AAC5-BFAD2A9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ACF513-0A01-40BC-B885-646F717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persistent vector DB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A2A0353D-7B76-4DC7-BD5E-465D2A1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2EAA26E-0382-4198-B3A6-4C787981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A4647F8-97C8-44A6-B41C-7F687CC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9E14A5D-FC2D-4E99-A788-1AF8586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top-k evidence</a:t>
            </a:r>
          </a:p>
        </p:txBody>
      </p:sp>
      <p:sp>
        <p:nvSpPr>
          <p:cNvPr id="25" name="Right Arrow 24">
            <a:extLst xmlns:a="http://schemas.openxmlformats.org/drawingml/2006/main">
              <a:ext uri="{FF2B5EF4-FFF2-40B4-BE49-F238E27FC236}">
                <a16:creationId xmlns:a16="http://schemas.microsoft.com/office/drawing/2014/main" id="{E7DAC74E-A6DA-4DA5-A262-847A3E3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7E6D26F-F175-4BC5-90C9-F33F63E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9D340BC-B28F-4D0D-AB0C-7EBFC2A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984248"/>
            <a:ext cx="14538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LLM Layer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5948131-AB4A-44AC-9748-0CC004E3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267712"/>
            <a:ext cx="1453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local / OpenAI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F173D00-D5E6-463E-B66F-8F16D55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0BE7CF0-6D39-4CD2-9C24-4C05F3E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CBA4D5A-7236-47D5-A10B-28E6E49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0098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Vector DB persistence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DECF1FC-238C-4322-A5AC-98F8B13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data/vectors/chroma/</a:t>
            </a:r>
            <a:br/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 PersistentClient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854B969F-9139-41E2-9140-D56A0B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20D0319-4133-4D9B-95A0-4ACFB12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D86A8D4-8566-4920-B864-B251F95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30098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Indexed corpus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4F8B1C1-093A-47CB-9A31-9ECA830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476 chunks</a:t>
            </a:r>
            <a:br/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from docs + reports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D3408B2D-9DBA-4073-8ED4-FB8F052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EFE214-DA02-44D3-8919-4E303C5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C43FBE1-93DF-4AC1-860E-9C99B4F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0098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LLM integration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97A7996-BE98-4484-8EEE-97DA905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OpenAI-ready</a:t>
            </a:r>
            <a:br/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local fallback active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7EB28F-C3F9-49C0-8197-A9FD93F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6592"/>
            <a:ext cx="10332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Demo commands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CE9CFAB-2A0B-4B89-BBB7-5768868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149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7D88883-F96E-45B0-B2A0-6E4BCF0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193792"/>
            <a:ext cx="9784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python index_phase1_rag.py    -&gt; builds ChromaDB index</a:t>
            </a:r>
            <a:br/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python query_phase1_rag.py "What is implemented in Phase 1?"    -&gt; retrieves evidence + generates answer</a:t>
            </a:r>
            <a:br/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python demo_phase1_agents.py    -&gt; multi-agent investment report uses vector retrieval when available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89C56ED-4D20-494E-BA68-9681D3F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progress update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5C698BF-1735-4A1B-84FB-4287EE9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1029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EB4878-B34E-448A-A780-B888F73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PHASE 1 DEMO PATH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E84FC4-32C0-4918-9DC1-A6F6C45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The review demo can now show data scale, model training, vector RAG, and agent output.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8616E8-A70B-4182-949F-BC9E6F4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This slide lists the exact execution flow and what each command proves.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EFAC10-8A32-4C9B-8860-3E39AEF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727386C-3617-4BB1-B1AE-28F8A20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18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C28AD2-3740-43E7-BF71-4AB0DD55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91640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A5F2D-534F-4675-A4A8-0A165E72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572768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Storage + universe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28C529-B3E0-478D-BB4F-A1723D2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7276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setup_phase1_storage.py --min-count 10000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17D6F73-917D-4852-A767-8F6F67F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72768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Creates storage layers and caches 10K US tickers.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065B1E8-B27D-49CC-ACA9-C511C9A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865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2FC247-A695-4050-94EE-7F7E823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59736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D6FBD9-F83E-4F5D-AFA6-A52FCB2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340864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Feature generation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841A72-6C6C-4112-A7DF-75BD2B9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340864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build_phase1_data.py --min-count 10000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51E54F-037A-4A12-B1F2-DF06744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4086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Builds 10K x 20 ML-ready feature table.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4DEA752-CFCD-41BC-A36B-9D3F650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7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355559A-FC4A-4252-9374-DB402D1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27832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30D2E7-611A-449A-9C42-8395223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108960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Model training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CCB94E-5113-40C7-A12D-37A6F76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108960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train_phase1_models.py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CD3FFD-228D-4536-B919-50B7FE6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108960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Trains risk and forecast baseline models with metrics.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5FE944D-1A56-497F-932B-A231642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227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A99F14-B2AD-4939-88B4-2EF22D1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9592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06DC32-103C-44F3-AFB1-F40F4471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77056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RAG indexing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61EA9F-56DD-4A08-876A-2A61F183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877056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index_phase1_rag.py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2436ABF-FDFE-4B67-940A-360CD52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877056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Persists 476 chunks into ChromaDB.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6452CB8-BB33-4C85-85A3-7EB10AA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908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06950B1-02A9-4911-9AAB-E43D42A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64024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45EE26E-5649-430A-A024-1803FE54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645152"/>
            <a:ext cx="2057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Final demo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06D97DF-46EC-4FC5-829E-2824F83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45152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python demo_phase1_agents.py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0DED2C2-F4E9-4F6F-B035-1A3E438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645152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Runs multi-agent report generation with retrieved evidence.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A7A7792-34FD-4F24-819C-91460ED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96128"/>
            <a:ext cx="10149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OpenAI key setup for GenAI layer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1BDE019-A953-4B3D-8C58-65FD2D5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25312"/>
            <a:ext cx="100584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490250-6D37-49EE-AAFB-6DD33D4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016752"/>
            <a:ext cx="9738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$env:FIE_GENAI_PROVIDER="openai"; $env:FIE_GENAI_MODEL="gpt-5.4-mini"; $env:OPENAI_API_KEY="..."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5C3DAAF-7CA0-4246-8466-4A691CF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progress update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DC25BB2-484D-4B73-B5C2-CBE6608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3650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20CF43-BF12-4674-985E-8C75739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REAL DATA FOUNDATION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93C99B-C68A-4806-A61E-DDCB8EA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E8EE01-EFB4-4FE3-B988-B28252C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Phase 1 now runs on observed US equity market data.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5336C7-59A6-4BC0-8172-78A8071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A realistic 10K-company universe supports a 20-company cohort with point-in-time model rows.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B57D56-9228-40AF-9714-4A11FBB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CBA47A-9F30-4C71-AE87-C39984E2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FB3A007-FAA2-44E7-B2A0-6492A6C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54406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92BFD8-6B9E-4D4D-965E-D1C03F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93391"/>
            <a:ext cx="5129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Data scope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FF44123-5AED-4960-9A30-E170A4C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13432"/>
            <a:ext cx="51297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10,000 US equity metadata records establish the searchable universe.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20 diversified companies supply real daily prices for deep analysis.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25,480 OHLCV observations are cached for reproducible processing.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BC63BC-DE56-47CC-A141-FCD6F0E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19"/>
            <a:ext cx="45262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2C4FD3-7F72-4F07-AC49-6E8CE8F9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993391"/>
            <a:ext cx="4215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Model-ready evidence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73C86AF-383C-46B5-A310-4EB1292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313432"/>
            <a:ext cx="421538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Features are computed point-in-time to avoid using future information.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23,880 labeled rows feed risk and forecast training.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split is chronological: 19,100 train rows and 4,780 later test rows.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1D02F25-91F5-4CDD-80F4-558B24D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10,000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77A95E8-638E-41A1-997E-620C934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US EQUITIES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81FF20-9443-4C9D-9B26-08F50409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searchable metadata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D129352-564E-40E5-AC4C-04835D1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EA2340-BA26-43C0-9662-193C82A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REAL COHORT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8F15C1-0F13-4423-808A-BE177CA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diversified companies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6749F0-6666-4C89-B1BB-63E158E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25,480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4517BE-D320-44FD-95B5-C4509A1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OHLCV ROWS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C63568-0963-4BED-B56D-47067FB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observed daily data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2FEC41-172F-4C68-BF44-8126A90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23,880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90BF252-6320-4EBA-96FC-4EAB9D10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MODEL ROWS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6C04C35-2629-4622-A857-E08299F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point-in-time features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0D87FF-109A-45F5-9B0B-E62B037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19,100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CE9D3A9-15F2-4F5E-BB39-7D8B1D6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TRAIN ROWS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C7CAF46-CEAC-45B4-B077-7309D82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through 20 Jun 2025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7CB0BA5-E992-4F40-89DF-010FCB4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617720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4,780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58CB904-541D-4BC5-A3B1-73A7178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965192"/>
            <a:ext cx="1645920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5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TEST ROWS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E288CDC-BD01-4869-B0DB-8615E7E9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51846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19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from 23 Jun 2025</a:t>
            </a:r>
          </a:p>
        </p:txBody>
      </p:sp>
    </p:spTree>
    <p:extLst>
      <p:ext uri="{BB962C8B-B14F-4D97-AF65-F5344CB8AC3E}">
        <p14:creationId xmlns:p14="http://schemas.microsoft.com/office/powerpoint/2010/main" val="912650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F8A154-1EE6-4DB5-BE4A-C9BB26F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MODEL EVALUATION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93D82C-7BE1-4376-998C-2F35938F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Chronological testing replaces optimistic proxy scores with honest evidence.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402528-E709-4BDA-9F2F-79F11DF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is above the majority baseline; forecast remains a transparent baseline and is not overclaimed.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5C884-A838-4062-93C6-D644EC3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ED47DA9-8D77-4FD1-AA3D-B710B35B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DBA9D1-2B69-4977-A9DB-C2C789C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787DF4-077B-4FDE-BB98-91689701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accuracy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ED9360-FC94-4ACC-B7F0-03974881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61.51%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C0EB2-68A6-47D2-913D-3BC4D4F6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12E5C0-4E7E-4E70-8266-D8CB75F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FC3225-B9A3-4797-87B2-455AAB3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Risk balanced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1C6425-818E-434D-AADD-566CDF0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58.69%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balanced accuracy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F9AC925-A540-4BD2-AF93-8D6D9F3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91FFDD-0BEA-476C-B37E-50B200E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16D3B66-1126-4DE1-9C86-5E58521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Forecast accuracy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0A2970-15AF-4AEF-AF03-D66CB81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37.74%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222B4A5-BAAC-4A14-B973-6E89ED2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25146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A4A6606-6128-4614-BEC5-58FA4A2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5E9023-3E4E-4448-AF13-DBF8A5A0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746504"/>
            <a:ext cx="218541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Forecast balanced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D547B1F-29EA-45C6-B56B-0580480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39112"/>
            <a:ext cx="218541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38.18%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balanced accuracy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56488DD-90FF-4A40-8A13-D240B61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212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What the metrics establish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4F1E6AC-5571-4F44-B08F-FA6652F3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50749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RandomForest baselines use point-in-time features.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Chronological holdout begins 23 Jun 2025.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Risk gains 4.94 points over the majority baseline.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00">
                <a:solidFill>
                  <a:srgbClr val="14202B"/>
                </a:solidFill>
                <a:latin typeface="Aptos"/>
                <a:ea typeface="Aptos"/>
                <a:cs typeface="Aptos"/>
              </a:rPr>
              <a:t>Forecast gains 4.85 balanced points over random.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CDC3C18-0654-4865-912D-BA90FE3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4754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Limit disclosed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E9E0D5B-82CF-4433-B2D4-CE002A2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11880"/>
            <a:ext cx="4800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Risk macro F1: 56.63%.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Forecast macro F1: 37.26%.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Forecast does not beat majority-class accuracy.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200">
                <a:solidFill>
                  <a:srgbClr val="14202B"/>
                </a:solidFill>
                <a:latin typeface="Aptos"/>
                <a:ea typeface="Aptos"/>
                <a:cs typeface="Aptos"/>
              </a:rPr>
              <a:t>Phase 1 treats it as a measurable baseline, not a production claim.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6ACB099-2C7B-473D-88A2-2A4AF965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5E2A70-6DD3-4F84-8B17-323DE2B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1877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C40B8C-19B7-4F78-8CDB-80F2F87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SEC-AWARE HYBRID RAG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7D2B94-7D19-4273-B302-06FC6CB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SEC filings now join the persistent corpus with source-level provenance.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43744F-AECA-46F0-8AA9-E900B1A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Retrieval combines semantic similarity, exact financial terms, and metadata before the LLM writes a grounded answer.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477BEB-A6EC-4E72-BD70-099FCB2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81877BF-8ECD-4443-A289-1406DBF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20703B-6CEF-40CB-B476-64617297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SEC filings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A2C6D2-B17A-4A8E-9EAB-B01E5A1E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10-K / 10-Q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8DA33419-0981-4171-82BF-0D42E32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39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8601671-EFB9-47A7-AF06-8456F24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AEB92D-D3DA-47F5-9A5D-7413C8E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2EEFE7-E918-4EE7-B4E8-BA448E1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900-char windows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16B57069-F367-4DBD-9DFC-BC3382C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C0B8DA7-D086-4DEF-BB7B-5D810B9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80D1D8-8A76-4FE6-9E0F-40D85F5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370DFA-05F4-4BAC-A31F-D6FDA59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384-d hashing</a:t>
            </a:r>
          </a:p>
        </p:txBody>
      </p:sp>
      <p:sp>
        <p:nvSpPr>
          <p:cNvPr id="17" name="Right Arrow 16">
            <a:extLst xmlns:a="http://schemas.openxmlformats.org/drawingml/2006/main">
              <a:ext uri="{FF2B5EF4-FFF2-40B4-BE49-F238E27FC236}">
                <a16:creationId xmlns:a16="http://schemas.microsoft.com/office/drawing/2014/main" id="{8A78BE2D-DB33-403D-AD2D-CB4D3B68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B8B92F9-E7CD-4538-9513-8100FF2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2C0A91-17E7-4C03-AAC5-BFAD2A9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ACF513-0A01-40BC-B885-646F717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persistent vectors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A2A0353D-7B76-4DC7-BD5E-465D2A1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2EAA26E-0382-4198-B3A6-4C787981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A4647F8-97C8-44A6-B41C-7F687CC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Hybrid ranker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9E14A5D-FC2D-4E99-A788-1AF8586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vector + lexical</a:t>
            </a:r>
          </a:p>
        </p:txBody>
      </p:sp>
      <p:sp>
        <p:nvSpPr>
          <p:cNvPr id="25" name="Right Arrow 24">
            <a:extLst xmlns:a="http://schemas.openxmlformats.org/drawingml/2006/main">
              <a:ext uri="{FF2B5EF4-FFF2-40B4-BE49-F238E27FC236}">
                <a16:creationId xmlns:a16="http://schemas.microsoft.com/office/drawing/2014/main" id="{E7DAC74E-A6DA-4DA5-A262-847A3E3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7E6D26F-F175-4BC5-90C9-F33F63E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9D340BC-B28F-4D0D-AB0C-7EBFC2A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Answer layer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5948131-AB4A-44AC-9748-0CC004E3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local / OpenAI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F173D00-D5E6-463E-B66F-8F16D55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0BE7CF0-6D39-4CD2-9C24-4C05F3E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CBA4D5A-7236-47D5-A10B-28E6E49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Persistent index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DECF1FC-238C-4322-A5AC-98F8B13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data/vectors/chroma/</a:t>
            </a:r>
          </a:p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Chroma PersistentClient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854B969F-9139-41E2-9140-D56A0B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20D0319-4133-4D9B-95A0-4ACFB12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D86A8D4-8566-4920-B864-B251F95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Baseline corpus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4F8B1C1-093A-47CB-9A31-9ECA830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511 chunks</a:t>
            </a:r>
          </a:p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before live SEC bootstrap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D3408B2D-9DBA-4073-8ED4-FB8F052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EFE214-DA02-44D3-8919-4E303C5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C43FBE1-93DF-4AC1-860E-9C99B4F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Ranking weights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97A7996-BE98-4484-8EEE-97DA905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55% vector</a:t>
            </a:r>
          </a:p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35% lexical | 10% metadata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7EB28F-C3F9-49C0-8197-A9FD93F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6592"/>
            <a:ext cx="103327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Traceable retrieval contract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CE9CFAB-2A0B-4B89-BBB7-5768868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149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7D88883-F96E-45B0-B2A0-6E4BCF0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193792"/>
            <a:ext cx="9784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SEC ingestion stores ticker, CIK, form, filing date, accession, URL, and source sidecars.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FIE_SEC_USER_AGENT=FinancialIntelligenceEngine/1.0 sumeetpanda.dev@gmail.com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Retrieved chunks retain source metadata for citations and explainability.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89C56ED-4D20-494E-BA68-9681D3F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5C698BF-1735-4A1B-84FB-4287EE9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10291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21DD98-8656-47AB-AB3F-161FD785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MULTI-AGENT DECISION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4383D-DCC3-40F5-9A0F-0985A23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C493C6-0AEE-4E74-AA41-621D185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orchestrator converts one question into parallel evidence and model tasks.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BA2416-0044-4138-A197-4E409AC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Typed results, confidence scores, citations, and a final explanation keep the decision auditable.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8992A0-A754-4DAE-BE23-2C3F16E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5B0C58-17E3-4134-AEA4-1A8C513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9647A3-A401-4224-8917-B6DD98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C96E83-9916-4349-9C5F-9D12E9D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query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1E9D0-F0CC-47EE-9A80-2BCA18E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ticker + horizon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4C45320-2615-4521-991D-076CD99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1020EB-9D4F-4D3A-A7FC-E548CC3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AE5AEF-6714-41AE-9683-CC7AC9D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5B4C73-723C-4523-A8FB-1614A7B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routes tasks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collects results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7E17F59-41A6-4756-BDE1-B85F782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A677DC8-A80A-4B6A-8A82-0D8833E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972876-8F76-46B9-A187-5E19F0D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9590FD-E98F-4695-B436-86B3E2F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RAG evidence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citations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46F74FF-816E-4C68-BE83-C10C18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3258365-A023-469D-B0AF-96D141B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212894-AEE3-4AF2-923D-8601B09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0A180B-B48C-462A-8F3A-D04B5A6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sentiment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+ forecast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5F85DFC5-1E20-425A-BC6F-E462167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F255F51-9940-4570-96BF-3F17E2D8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C20D06-9C61-4D39-A37E-4CAB9AE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2AE2A-858B-48C2-9787-0A065C6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weighted synthesis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/ Hold / Sell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D909458E-4F97-4F57-94C6-B34B6A4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9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001313F-7EB7-4078-9E9E-138E2B6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25285D-52C8-43D9-AF10-6D1DBB0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1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D0FDE9-6128-43C5-8A6E-4AB50B9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drivers, confidence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155E6FB-B27F-4F22-AAEA-FE780A0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303E1F-E6BC-444C-8D84-2071F6D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Shared AgentResult contract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FC2BD6-48BF-4D7B-BF81-A0C1AD4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Every agent returns status, score, confidence, evidence, and errors through a consistent schema.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8129C2A-F1A7-41C1-88FE-1F9D8F78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88E3A0-2262-458D-9048-AE80EFC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Parallel specialist execution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07BC573-EF31-4994-93CC-646F2B7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Retriever, Sentiment, Risk, and Forecast agents run under one orchestrated request.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344A3A7-76F5-49BD-8A45-053E190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03320"/>
            <a:ext cx="283464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E36345-9569-49B1-801E-D52C559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822191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Auditable final report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4E7544-F973-4586-8A6A-43B557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142231"/>
            <a:ext cx="252374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Decision and Explainability agents preserve citations, model metrics, drivers, and disclaimers.</a:t>
            </a:r>
          </a:p>
        </p:txBody>
      </p:sp>
    </p:spTree>
    <p:extLst>
      <p:ext uri="{BB962C8B-B14F-4D97-AF65-F5344CB8AC3E}">
        <p14:creationId xmlns:p14="http://schemas.microsoft.com/office/powerpoint/2010/main" val="16555599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ECD7218-58DD-4E3C-9F91-9817C531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CLOUD DELIVERY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DBF8E3-3768-4F17-96BB-2B2ECC9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4D6C-B204-4885-A735-50B2CDE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28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same Phase 1 application now runs from GitHub to a public Render service.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C138BF-D1C1-436F-AF82-C836015E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Docker, bootstrap assets, environment variables, and health checks make the demo reproducible.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324433-CBA6-4F9F-89EE-515F3664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03C45B-D3BE-4644-BD4F-8234AF6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96FD1D4-E93D-422F-95E6-42E8A88C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37360"/>
            <a:ext cx="365760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1B6988B-B953-4C75-9FCB-50C2E75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56231"/>
            <a:ext cx="3346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1. Source and build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536E12-6CBB-42BF-95D0-DE15E2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15609"/>
            <a:ext cx="334670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GitHub main triggers deployment.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Docker packages the Python stack, frontend, API, models, and RAG assets.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Phase 1 upgrade commit: 0aa832f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82C4255-132C-4006-9681-7F6C91A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37360"/>
            <a:ext cx="288036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094C96-1AFA-4A84-B556-385E2B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856231"/>
            <a:ext cx="25694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2. Runtime bootstrap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43B394-DED6-4E81-B0AE-E6BF9C38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176272"/>
            <a:ext cx="2569464" cy="1463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Startup attempts real 20-company data, models, and RAG.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Bundled assets restore the demo when market sources are unavailable.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Render Free storage is ephemeral.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809C3C9-CDED-4211-8AB4-4F7A74ED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737360"/>
            <a:ext cx="333756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CD2462-E170-4DC6-B68B-F0C4497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1856231"/>
            <a:ext cx="30266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3. Cloud configuration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97D953-5C62-4272-9921-F0F60D8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519172"/>
            <a:ext cx="3026664" cy="3063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Required: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FIE_SEC_USER_AGENT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GenAI: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FIE_GENAI_PROVIDER=openai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FIE_GENAI_MODEL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OPENAI_API_KEY</a:t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Local answer fallback remains available.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770320-490C-4687-BA1A-FC139B1C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662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Delivery: GitHub -&gt; Docker -&gt; bootstrap data/models/RAG -&gt; FastAPI + frontend -&gt; Render HTTPS.</a:t>
            </a:r>
          </a:p>
          <a:p xmlns:a="http://schemas.openxmlformats.org/drawingml/2006/main">
            <a:pPr>
              <a:spcAft>
                <a:spcPts val="500"/>
              </a:spcAft>
              <a:buNone/>
              <a:defRPr sz="1150">
                <a:solidFill>
                  <a:srgbClr val="122026"/>
                </a:solidFill>
                <a:latin typeface="Aptos"/>
                <a:ea typeface="Aptos"/>
                <a:cs typeface="Aptos"/>
              </a:defRPr>
            </a:pPr>
            <a:r>
              <a:t>Verification: 14 tests passed | setup verification 5/5 | /health endpoint available.</a:t>
            </a:r>
          </a:p>
        </p:txBody>
      </p:sp>
    </p:spTree>
    <p:extLst>
      <p:ext uri="{BB962C8B-B14F-4D97-AF65-F5344CB8AC3E}">
        <p14:creationId xmlns:p14="http://schemas.microsoft.com/office/powerpoint/2010/main" val="21459067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EB4878-B34E-448A-A780-B888F73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FINAL DEMO PATH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E84FC4-32C0-4918-9DC1-A6F6C45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The final walkthrough proves scale, grounding, model honesty, and cloud delivery.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8616E8-A70B-4182-949F-BC9E6F4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Each step has visible evidence in the deployed interface or generated report.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EFAC10-8A32-4C9B-8860-3E39AEF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727386C-3617-4BB1-B1AE-28F8A20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18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C28AD2-3740-43E7-BF71-4AB0DD55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91640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A5F2D-534F-4675-A4A8-0A165E72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572768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Open deployed dashboard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28C529-B3E0-478D-BB4F-A1723D2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7276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Render service URL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17D6F73-917D-4852-A767-8F6F67F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72768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Confirm the frontend loads and /health reports ready.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065B1E8-B27D-49CC-ACA9-C511C9A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865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2FC247-A695-4050-94EE-7F7E823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59736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D6FBD9-F83E-4F5D-AFA6-A52FCB2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340864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Verify data scale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841A72-6C6C-4112-A7DF-75BD2B9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340864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Overview and company search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51E54F-037A-4A12-B1F2-DF06744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4086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Show 10K universe, 20-company cohort, and observed OHLCV.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4DEA752-CFCD-41BC-A36B-9D3F650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7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355559A-FC4A-4252-9374-DB402D1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27832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30D2E7-611A-449A-9C42-8395223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108960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Ask a grounded question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CCB94E-5113-40C7-A12D-37A6F76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108960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Ask tab: AAPL risk, outlook, and evidence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CD3FFD-228D-4536-B919-50B7FE6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108960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Inspect retrieved sources, scores, confidence, and citations.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5FE944D-1A56-497F-932B-A231642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227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A99F14-B2AD-4939-88B4-2EF22D1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95928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06DC32-103C-44F3-AFB1-F40F4471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77056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Inspect model evidence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61EA9F-56DD-4A08-876A-2A61F183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877056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Risk and forecast metrics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2436ABF-FDFE-4B67-940A-360CD52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877056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Explain chronological split and the disclosed forecast limitation.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6452CB8-BB33-4C85-85A3-7EB10AA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908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06950B1-02A9-4911-9AAB-E43D42A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64024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45EE26E-5649-430A-A024-1803FE54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645152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Show end-to-end report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06D97DF-46EC-4FC5-829E-2824F83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45152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Agent trace and final recommendation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0DED2C2-F4E9-4F6F-B035-1A3E438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645152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Decision, explanation, drivers, evidence, and disclaimer.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A7A7792-34FD-4F24-819C-91460ED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96128"/>
            <a:ext cx="10149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Final review evidence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1BDE019-A953-4B3D-8C58-65FD2D5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25312"/>
            <a:ext cx="100584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490250-6D37-49EE-AAFB-6DD33D4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016752"/>
            <a:ext cx="9738360" cy="217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10K universe | 25,480 OHLCV rows | 511 RAG chunks | 14 tests passed | Render deployed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5C3DAAF-7CA0-4246-8466-4A691CF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1 final review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DC25BB2-484D-4B73-B5C2-CBE6608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436508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C40B8C-19B7-4F78-8CDB-80F2F87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PHASE 2 REVIEW 1 UPDATE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7D2B94-7D19-4273-B302-06FC6CB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The first Phase 2 fix closes the highest-risk demo gap: hallucinated investment advice.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43744F-AECA-46F0-8AA9-E900B1A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A broad $5000 investment question now stays grounded in agent outputs, scoring rules, and conservative allocation guardrails.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477BEB-A6EC-4E72-BD70-099FCB2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81877BF-8ECD-4443-A289-1406DBF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20703B-6CEF-40CB-B476-64617297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Demo issue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A2C6D2-B17A-4A8E-9EAB-B01E5A1E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$5000 ask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8DA33419-0981-4171-82BF-0D42E32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39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8601671-EFB9-47A7-AF06-8456F24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AEB92D-D3DA-47F5-9A5D-7413C8E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2EEFE7-E918-4EE7-B4E8-BA448E1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LLM drift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16B57069-F367-4DBD-9DFC-BC3382C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C0B8DA7-D086-4DEF-BB7B-5D810B9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80D1D8-8A76-4FE6-9E0F-40D85F5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370DFA-05F4-4BAC-A31F-D6FDA59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strict mode</a:t>
            </a:r>
          </a:p>
        </p:txBody>
      </p:sp>
      <p:sp>
        <p:nvSpPr>
          <p:cNvPr id="17" name="Right Arrow 16">
            <a:extLst xmlns:a="http://schemas.openxmlformats.org/drawingml/2006/main">
              <a:ext uri="{FF2B5EF4-FFF2-40B4-BE49-F238E27FC236}">
                <a16:creationId xmlns:a16="http://schemas.microsoft.com/office/drawing/2014/main" id="{8A78BE2D-DB33-403D-AD2D-CB4D3B68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B8B92F9-E7CD-4538-9513-8100FF2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2C0A91-17E7-4C03-AAC5-BFAD2A9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ACF513-0A01-40BC-B885-646F717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agent signals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A2A0353D-7B76-4DC7-BD5E-465D2A1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2EAA26E-0382-4198-B3A6-4C787981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A4647F8-97C8-44A6-B41C-7F687CC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9E14A5D-FC2D-4E99-A788-1AF8586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reserve + filters</a:t>
            </a:r>
          </a:p>
        </p:txBody>
      </p:sp>
      <p:sp>
        <p:nvSpPr>
          <p:cNvPr id="25" name="Right Arrow 24">
            <a:extLst xmlns:a="http://schemas.openxmlformats.org/drawingml/2006/main">
              <a:ext uri="{FF2B5EF4-FFF2-40B4-BE49-F238E27FC236}">
                <a16:creationId xmlns:a16="http://schemas.microsoft.com/office/drawing/2014/main" id="{E7DAC74E-A6DA-4DA5-A262-847A3E3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093976"/>
            <a:ext cx="201168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B3BE"/>
          </a:solidFill>
          <a:ln xmlns:a="http://schemas.openxmlformats.org/drawingml/2006/main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7E6D26F-F175-4BC5-90C9-F33F63E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828800"/>
            <a:ext cx="16002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B3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9D340BC-B28F-4D0D-AB0C-7EBFC2A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984248"/>
            <a:ext cx="1453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5948131-AB4A-44AC-9748-0CC004E3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267712"/>
            <a:ext cx="1453896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16 tests passed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F173D00-D5E6-463E-B66F-8F16D55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0BE7CF0-6D39-4CD2-9C24-4C05F3E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778"/>
          </a:solidFill>
          <a:ln xmlns:a="http://schemas.openxmlformats.org/drawingml/2006/main">
            <a:solidFill>
              <a:srgbClr val="2097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CBA4D5A-7236-47D5-A10B-28E6E49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Issue observed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DECF1FC-238C-4322-A5AC-98F8B13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Phase 1 demo</a:t>
            </a:r>
          </a:p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broad investment question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854B969F-9139-41E2-9140-D56A0B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20D0319-4133-4D9B-95A0-4ACFB12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D86A8D4-8566-4920-B864-B251F95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Fix committed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4F8B1C1-093A-47CB-9A31-9ECA830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fe8679b</a:t>
            </a:r>
          </a:p>
          <a:p xmlns:a="http://schemas.openxmlformats.org/drawingml/2006/main">
            <a:pPr algn="l">
              <a:buNone/>
            </a:pPr>
            <a:r>
              <a:rPr sz="16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origin/main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D3408B2D-9DBA-4073-8ED4-FB8F052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3291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EFE214-DA02-44D3-8919-4E303C5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154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730"/>
          </a:solidFill>
          <a:ln xmlns:a="http://schemas.openxmlformats.org/drawingml/2006/main">
            <a:solidFill>
              <a:srgbClr val="E097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C43FBE1-93DF-4AC1-860E-9C99B4F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300984"/>
            <a:ext cx="2962656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B6977"/>
                </a:solidFill>
                <a:latin typeface="Aptos"/>
                <a:ea typeface="Aptos"/>
                <a:cs typeface="Aptos"/>
              </a:rPr>
              <a:t>Review message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97A7996-BE98-4484-8EEE-97DA905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93592"/>
            <a:ext cx="296265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Phase 2 starts</a:t>
            </a:r>
          </a:p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with reliability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7EB28F-C3F9-49C0-8197-A9FD93F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6592"/>
            <a:ext cx="103327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CE9CFAB-2A0B-4B89-BBB7-5768868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10149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7D88883-F96E-45B0-B2A0-6E4BCF0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193792"/>
            <a:ext cx="9784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Budget questions now bypass free GenAI rewriting. The report shows candidate selection, scoring logic, Sell exclusion, and reserve handling.</a:t>
            </a:r>
          </a:p>
          <a:p xmlns:a="http://schemas.openxmlformats.org/drawingml/2006/main">
            <a:pPr algn="l">
              <a:buNone/>
            </a:pPr>
            <a:r>
              <a:rPr sz="10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Mentor-visible improvement: the system explains its reasoning instead of hallucinating advice.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89C56ED-4D20-494E-BA68-9681D3F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2 Review 1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5C698BF-1735-4A1B-84FB-4287EE9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010291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21DD98-8656-47AB-AB3F-161FD785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GROUNDED ASK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4383D-DCC3-40F5-9A0F-0985A23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C493C6-0AEE-4E74-AA41-621D185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Ask workflow is now deterministic for budget questions and auditable for mentor review.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BA2416-0044-4138-A197-4E409AC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The final answer can explain why it suggested a stock, why it kept reserve cash, and which model signals drove the decision.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8992A0-A754-4DAE-BE23-2C3F16E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2 Review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5B0C58-17E3-4134-AEA4-1A8C513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9647A3-A401-4224-8917-B6DD98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C96E83-9916-4349-9C5F-9D12E9D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asks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1E9D0-F0CC-47EE-9A80-2BCA18E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$5000 + why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investment query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4C45320-2615-4521-991D-076CD99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1020EB-9D4F-4D3A-A7FC-E548CC3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AE5AEF-6714-41AE-9683-CC7AC9D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5B4C73-723C-4523-A8FB-1614A7B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selects valid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 tickers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7E17F59-41A6-4756-BDE1-B85F782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A677DC8-A80A-4B6A-8A82-0D8833E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972876-8F76-46B9-A187-5E19F0D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Strict mode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9590FD-E98F-4695-B436-86B3E2F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blocks free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rewrite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46F74FF-816E-4C68-BE83-C10C18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3258365-A023-469D-B0AF-96D141B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212894-AEE3-4AF2-923D-8601B09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signals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0A180B-B48C-462A-8F3A-D04B5A6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sentiment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+ forecast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5F85DFC5-1E20-425A-BC6F-E462167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F255F51-9940-4570-96BF-3F17E2D8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C20D06-9C61-4D39-A37E-4CAB9AE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score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2AE2A-858B-48C2-9787-0A065C6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30 / 35 / 35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weighted model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D909458E-4F97-4F57-94C6-B34B6A4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9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001313F-7EB7-4078-9E9E-138E2B6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25285D-52C8-43D9-AF10-6D1DBB0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1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D0FDE9-6128-43C5-8A6E-4AB50B9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allocation,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drivers, disclaimer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155E6FB-B27F-4F22-AAEA-FE780A0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303E1F-E6BC-444C-8D84-2071F6D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No unsupported claims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FC2BD6-48BF-4D7B-BF81-A0C1AD4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OpenAI prompt is tightened to prevent invented tickers, dollar amounts, metrics, or recommendations.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8129C2A-F1A7-41C1-88FE-1F9D8F78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88E3A0-2262-458D-9048-AE80EFC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Conservative allocation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07BC573-EF31-4994-93CC-646F2B7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Sell/Strong Sell candidates are excluded; weak Hold signals keep larger reserve/watchlist cash.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344A3A7-76F5-49BD-8A45-053E190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03320"/>
            <a:ext cx="283464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E36345-9569-49B1-801E-D52C559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822191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Test-backed behavior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4E7544-F973-4586-8A6A-43B557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142231"/>
            <a:ext cx="252374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A fake hallucinating provider is used in tests to prove budget questions return the grounded report.</a:t>
            </a:r>
          </a:p>
        </p:txBody>
      </p:sp>
    </p:spTree>
    <p:extLst>
      <p:ext uri="{BB962C8B-B14F-4D97-AF65-F5344CB8AC3E}">
        <p14:creationId xmlns:p14="http://schemas.microsoft.com/office/powerpoint/2010/main" val="16555599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EB4878-B34E-448A-A780-B888F73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31B3BE"/>
                </a:solidFill>
                <a:latin typeface="Aptos"/>
                <a:ea typeface="Aptos"/>
                <a:cs typeface="Aptos"/>
              </a:rPr>
              <a:t>PHASE 2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E84FC4-32C0-4918-9DC1-A6F6C45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The next phase moves from prototype demo to startup-grade financial intelligence.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8616E8-A70B-4182-949F-BC9E6F4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60120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Priority is reliability first, then data scale, model quality, production RAG, and product readiness.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EFAC10-8A32-4C9B-8860-3E39AEF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727386C-3617-4BB1-B1AE-28F8A20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18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C28AD2-3740-43E7-BF71-4AB0DD55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91640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A5F2D-534F-4675-A4A8-0A165E72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572768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Stabilize Ask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28C529-B3E0-478D-BB4F-A1723D2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7276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Grounding and guardrails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17D6F73-917D-4852-A767-8F6F67F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72768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Finish anti-hallucination checks for budget, ticker, and comparison questions.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065B1E8-B27D-49CC-ACA9-C511C9A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865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2FC247-A695-4050-94EE-7F7E823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59736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D6FBD9-F83E-4F5D-AFA6-A52FCB2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340864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Upgrade RAG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841A72-6C6C-4112-A7DF-75BD2B9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340864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Embeddings + vector DB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51E54F-037A-4A12-B1F2-DF06744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4086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Move from Chroma baseline to pgvector/Supabase plus stronger embeddings.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4DEA752-CFCD-41BC-A36B-9D3F650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5467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355559A-FC4A-4252-9374-DB402D1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27832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30D2E7-611A-449A-9C42-8395223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108960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Expand data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CCB94E-5113-40C7-A12D-37A6F76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108960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SEC, news, fundamentals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CD3FFD-228D-4536-B919-50B7FE6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108960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Scale filings, earnings/news ingestion, and refresh pipelines.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5FE944D-1A56-497F-932B-A231642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227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A99F14-B2AD-4939-88B4-2EF22D10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95928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06DC32-103C-44F3-AFB1-F40F4471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77056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Improve models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61EA9F-56DD-4A08-876A-2A61F183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877056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Backtesting + better features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2436ABF-FDFE-4B67-940A-360CD52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877056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Train stronger risk/forecast models and compare baselines.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6452CB8-BB33-4C85-85A3-7EB10AA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908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B8"/>
          </a:solidFill>
          <a:ln xmlns:a="http://schemas.openxmlformats.org/drawingml/2006/main">
            <a:solidFill>
              <a:srgbClr val="2477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06950B1-02A9-4911-9AAB-E43D42A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64024"/>
            <a:ext cx="38404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45EE26E-5649-430A-A024-1803FE54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645152"/>
            <a:ext cx="2057400" cy="271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Productize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06D97DF-46EC-4FC5-829E-2824F83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45152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2477B8"/>
                </a:solidFill>
                <a:latin typeface="Consolas"/>
                <a:ea typeface="Consolas"/>
                <a:cs typeface="Consolas"/>
              </a:rPr>
              <a:t>Cloud + monitoring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0DED2C2-F4E9-4F6F-B035-1A3E438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645152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Add deployment reliability, logs, user-ready reports, and saved analysis workflows.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A7A7792-34FD-4F24-819C-91460ED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96128"/>
            <a:ext cx="10149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Mentor ask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1BDE019-A953-4B3D-8C58-65FD2D5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25312"/>
            <a:ext cx="100584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6"/>
          </a:solidFill>
          <a:ln xmlns:a="http://schemas.openxmlformats.org/drawingml/2006/main">
            <a:solidFill>
              <a:srgbClr val="D6E0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490250-6D37-49EE-AAFB-6DD33D4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016752"/>
            <a:ext cx="9738360" cy="217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4202B"/>
                </a:solidFill>
                <a:latin typeface="Consolas"/>
                <a:ea typeface="Consolas"/>
                <a:cs typeface="Consolas"/>
              </a:rPr>
              <a:t>Validate Phase 2 scope: reliability, production RAG, real data scale, stronger ML, and startup path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5C3DAAF-7CA0-4246-8466-4A691CF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Financial Intelligence Engine | Phase 2 Review 1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DC25BB2-484D-4B73-B5C2-CBE6608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73952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36576" rIns="54864" b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436508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21DD98-8656-47AB-AB3F-161FD785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4846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QUERY INTELLIGENCE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4383D-DCC3-40F5-9A0F-0985A23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5303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C493C6-0AEE-4E74-AA41-621D185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8046720" cy="467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22026"/>
                </a:solidFill>
                <a:latin typeface="Aptos"/>
                <a:ea typeface="Aptos"/>
                <a:cs typeface="Aptos"/>
              </a:rPr>
              <a:t>Phase 2 now classifies the user question before the multi-agent workflow runs.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BA2416-0044-4138-A197-4E409AC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8046720" cy="417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The app can detect budget, risk profile, horizon, allocation need, and comparison intent, then route agents with clearer assumptions.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8992A0-A754-4DAE-BE23-2C3F16E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Financial Intelligence Engine | Phase 2 progress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5B0C58-17E3-4134-AEA4-1A8C513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696" y="6473952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5B697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9647A3-A401-4224-8917-B6DD98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C96E83-9916-4349-9C5F-9D12E9DF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asks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1E9D0-F0CC-47EE-9A80-2BCA18E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$2500 + conservative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3 months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4C45320-2615-4521-991D-076CD99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1020EB-9D4F-4D3A-A7FC-E548CC3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AE5AEF-6714-41AE-9683-CC7AC9D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Classifier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5B4C73-723C-4523-A8FB-1614A7B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intent + budget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+ horizon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7E17F59-41A6-4756-BDE1-B85F782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A677DC8-A80A-4B6A-8A82-0D8833E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972876-8F76-46B9-A187-5E19F0D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9590FD-E98F-4695-B436-86B3E2F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profile-aware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ticker selection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46F74FF-816E-4C68-BE83-C10C18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3258365-A023-469D-B0AF-96D141B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212894-AEE3-4AF2-923D-8601B09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Forecast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0A180B-B48C-462A-8F3A-D04B5A6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uses detected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90-day horizon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5F85DFC5-1E20-425A-BC6F-E462167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F255F51-9940-4570-96BF-3F17E2D8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C20D06-9C61-4D39-A37E-4CAB9AE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UI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F2AE2A-858B-48C2-9787-0A065C6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shows routing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D909458E-4F97-4F57-94C6-B34B6A4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9" y="2478024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117A6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001313F-7EB7-4078-9E9E-138E2B6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965960"/>
            <a:ext cx="16002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5B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25285D-52C8-43D9-AF10-6D1DBB0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19" y="2103120"/>
            <a:ext cx="141732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D0FDE9-6128-43C5-8A6E-4AB50B9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7" y="2404872"/>
            <a:ext cx="138074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 passing</a:t>
            </a:r>
          </a:p>
          <a:p xmlns:a="http://schemas.openxmlformats.org/drawingml/2006/main">
            <a:pPr algn="ctr">
              <a:buNone/>
            </a:pPr>
            <a:r>
              <a:rPr sz="86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regressions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155E6FB-B27F-4F22-AAEA-FE780A0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303E1F-E6BC-444C-8D84-2071F6D6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FC2BD6-48BF-4D7B-BF81-A0C1AD4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The system no longer treats every question the same; it adapts its workflow to the user's actual intent.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8129C2A-F1A7-41C1-88FE-1F9D8F78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03320"/>
            <a:ext cx="338328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88E3A0-2262-458D-9048-AE80EFC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22191"/>
            <a:ext cx="30723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7A65"/>
                </a:solidFill>
                <a:latin typeface="Aptos"/>
                <a:ea typeface="Aptos"/>
                <a:cs typeface="Aptos"/>
              </a:rPr>
              <a:t>What changed in code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07BC573-EF31-4994-93CC-646F2B7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42231"/>
            <a:ext cx="307238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Added agents/query_intelligence.py and wired query_profile through OrchestratorAgent and /api/ask.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344A3A7-76F5-49BD-8A45-053E1908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03320"/>
            <a:ext cx="283464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DAD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E36345-9569-49B1-801E-D52C559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822191"/>
            <a:ext cx="2523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55B92"/>
                </a:solidFill>
                <a:latin typeface="Aptos"/>
                <a:ea typeface="Aptos"/>
                <a:cs typeface="Aptos"/>
              </a:rPr>
              <a:t>Product impact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E4E7544-F973-4586-8A6A-43B557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142231"/>
            <a:ext cx="2523744" cy="822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r>
              <a:rPr sz="1080" b="0">
                <a:solidFill>
                  <a:srgbClr val="122026"/>
                </a:solidFill>
                <a:latin typeface="Aptos"/>
                <a:ea typeface="Aptos"/>
                <a:cs typeface="Aptos"/>
              </a:rPr>
              <a:t>Users see intent, risk preference, horizon, and confidence, which makes the assistant feel more transparent and startup-ready.</a:t>
            </a:r>
          </a:p>
        </p:txBody>
      </p:sp>
    </p:spTree>
    <p:extLst>
      <p:ext uri="{BB962C8B-B14F-4D97-AF65-F5344CB8AC3E}">
        <p14:creationId xmlns:p14="http://schemas.microsoft.com/office/powerpoint/2010/main" val="165555990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2026-08-22T09:34:33.6200000Z</dcterms:created>
  <dcterms:modified xsi:type="dcterms:W3CDTF">2026-08-22T09:34:33.6210000Z</dcterms:modified>
</coreProperties>
</file>