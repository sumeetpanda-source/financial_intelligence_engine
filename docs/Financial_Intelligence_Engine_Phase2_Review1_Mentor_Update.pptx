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f43936f0eea4c3c" /><Relationship Type="http://schemas.openxmlformats.org/officeDocument/2006/relationships/extended-properties" Target="/docProps/app.xml" Id="Re8aa01f79633499d" /><Relationship Type="http://schemas.openxmlformats.org/officeDocument/2006/relationships/officeDocument" Target="/ppt/presentation.xml" Id="Rd3f6270afe2f4a6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40831e0907c4eec"/>
  </p:sldMasterIdLst>
  <p:notesMasterIdLst>
    <p:notesMasterId xmlns:r="http://schemas.openxmlformats.org/officeDocument/2006/relationships" r:id="Rd0b791d995f04671"/>
  </p:notesMasterIdLst>
  <p:sldIdLst>
    <p:sldId xmlns:r="http://schemas.openxmlformats.org/officeDocument/2006/relationships" id="256" r:id="Rb1c862c868704818"/>
    <p:sldId xmlns:r="http://schemas.openxmlformats.org/officeDocument/2006/relationships" id="257" r:id="Rccd720b687b34516"/>
    <p:sldId xmlns:r="http://schemas.openxmlformats.org/officeDocument/2006/relationships" id="258" r:id="Rf4c65a5d05e94fe8"/>
    <p:sldId xmlns:r="http://schemas.openxmlformats.org/officeDocument/2006/relationships" id="259" r:id="R6a6189c9d413441e"/>
    <p:sldId xmlns:r="http://schemas.openxmlformats.org/officeDocument/2006/relationships" id="260" r:id="R88cecfd7bbb5416b"/>
    <p:sldId xmlns:r="http://schemas.openxmlformats.org/officeDocument/2006/relationships" id="261" r:id="R3a8860a7f74445c9"/>
    <p:sldId xmlns:r="http://schemas.openxmlformats.org/officeDocument/2006/relationships" id="262" r:id="R54e24291603448a7"/>
    <p:sldId xmlns:r="http://schemas.openxmlformats.org/officeDocument/2006/relationships" id="263" r:id="R1769519032f4486b"/>
    <p:sldId xmlns:r="http://schemas.openxmlformats.org/officeDocument/2006/relationships" id="264" r:id="R1efb29bdf4ef4c6d"/>
    <p:sldId xmlns:r="http://schemas.openxmlformats.org/officeDocument/2006/relationships" id="265" r:id="Ra872bd8de8a24d33"/>
    <p:sldId xmlns:r="http://schemas.openxmlformats.org/officeDocument/2006/relationships" id="266" r:id="R0884329a52a740a2"/>
    <p:sldId xmlns:r="http://schemas.openxmlformats.org/officeDocument/2006/relationships" id="267" r:id="R9b5c0e0e5f18490a"/>
    <p:sldId xmlns:r="http://schemas.openxmlformats.org/officeDocument/2006/relationships" id="268" r:id="Rd45b29d32aa04d85"/>
    <p:sldId xmlns:r="http://schemas.openxmlformats.org/officeDocument/2006/relationships" id="269" r:id="R0dd50094dc034bfc"/>
    <p:sldId xmlns:r="http://schemas.openxmlformats.org/officeDocument/2006/relationships" id="270" r:id="R00e281437b754c31"/>
    <p:sldId xmlns:r="http://schemas.openxmlformats.org/officeDocument/2006/relationships" id="271" r:id="R1be9aee060b2403b"/>
    <p:sldId xmlns:r="http://schemas.openxmlformats.org/officeDocument/2006/relationships" id="272" r:id="R33bf4f37fd0c412c"/>
    <p:sldId xmlns:r="http://schemas.openxmlformats.org/officeDocument/2006/relationships" id="273" r:id="Rbe8beab26573442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e0295c6a23149b7" /><Relationship Type="http://schemas.openxmlformats.org/officeDocument/2006/relationships/slideMaster" Target="/ppt/slideMasters/slideMaster1.xml" Id="R140831e0907c4eec" /><Relationship Type="http://schemas.openxmlformats.org/officeDocument/2006/relationships/notesMaster" Target="/ppt/notesMasters/notesMaster1.xml" Id="Rd0b791d995f04671" /><Relationship Type="http://schemas.openxmlformats.org/officeDocument/2006/relationships/presProps" Target="/ppt/presProps.xml" Id="Rb8b7b84389e74c8a" /><Relationship Type="http://schemas.openxmlformats.org/officeDocument/2006/relationships/viewProps" Target="/ppt/viewProps.xml" Id="R3085e17ee4874e83" /><Relationship Type="http://schemas.openxmlformats.org/officeDocument/2006/relationships/tableStyles" Target="/ppt/tableStyles.xml" Id="Rfaaea27c59cb4554" /><Relationship Type="http://schemas.openxmlformats.org/officeDocument/2006/relationships/slide" Target="/ppt/slides/slide1.xml" Id="Rb1c862c868704818" /><Relationship Type="http://schemas.openxmlformats.org/officeDocument/2006/relationships/slide" Target="/ppt/slides/slide2.xml" Id="Rccd720b687b34516" /><Relationship Type="http://schemas.openxmlformats.org/officeDocument/2006/relationships/slide" Target="/ppt/slides/slide3.xml" Id="Rf4c65a5d05e94fe8" /><Relationship Type="http://schemas.openxmlformats.org/officeDocument/2006/relationships/slide" Target="/ppt/slides/slide4.xml" Id="R6a6189c9d413441e" /><Relationship Type="http://schemas.openxmlformats.org/officeDocument/2006/relationships/slide" Target="/ppt/slides/slide5.xml" Id="R88cecfd7bbb5416b" /><Relationship Type="http://schemas.openxmlformats.org/officeDocument/2006/relationships/slide" Target="/ppt/slides/slide6.xml" Id="R3a8860a7f74445c9" /><Relationship Type="http://schemas.openxmlformats.org/officeDocument/2006/relationships/slide" Target="/ppt/slides/slide7.xml" Id="R54e24291603448a7" /><Relationship Type="http://schemas.openxmlformats.org/officeDocument/2006/relationships/slide" Target="/ppt/slides/slide8.xml" Id="R1769519032f4486b" /><Relationship Type="http://schemas.openxmlformats.org/officeDocument/2006/relationships/slide" Target="/ppt/slides/slide9.xml" Id="R1efb29bdf4ef4c6d" /><Relationship Type="http://schemas.openxmlformats.org/officeDocument/2006/relationships/slide" Target="/ppt/slides/slide10.xml" Id="Ra872bd8de8a24d33" /><Relationship Type="http://schemas.openxmlformats.org/officeDocument/2006/relationships/slide" Target="/ppt/slides/slide11.xml" Id="R0884329a52a740a2" /><Relationship Type="http://schemas.openxmlformats.org/officeDocument/2006/relationships/slide" Target="/ppt/slides/slide12.xml" Id="R9b5c0e0e5f18490a" /><Relationship Type="http://schemas.openxmlformats.org/officeDocument/2006/relationships/slide" Target="/ppt/slides/slide13.xml" Id="Rd45b29d32aa04d85" /><Relationship Type="http://schemas.openxmlformats.org/officeDocument/2006/relationships/slide" Target="/ppt/slides/slide14.xml" Id="R0dd50094dc034bfc" /><Relationship Type="http://schemas.openxmlformats.org/officeDocument/2006/relationships/slide" Target="/ppt/slides/slide15.xml" Id="R00e281437b754c31" /><Relationship Type="http://schemas.openxmlformats.org/officeDocument/2006/relationships/slide" Target="/ppt/slides/slide16.xml" Id="R1be9aee060b2403b" /><Relationship Type="http://schemas.openxmlformats.org/officeDocument/2006/relationships/slide" Target="/ppt/slides/slide17.xml" Id="R33bf4f37fd0c412c" /><Relationship Type="http://schemas.openxmlformats.org/officeDocument/2006/relationships/slide" Target="/ppt/slides/slide18.xml" Id="Rbe8beab26573442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bab33b37fc244d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1aa7804f8e44273" /><Relationship Type="http://schemas.openxmlformats.org/officeDocument/2006/relationships/notesMaster" Target="/ppt/notesMasters/notesMaster1.xml" Id="R5b1ef26a2aa54f2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325fcd24c774f0c" /><Relationship Type="http://schemas.openxmlformats.org/officeDocument/2006/relationships/notesMaster" Target="/ppt/notesMasters/notesMaster1.xml" Id="Rb83c4b37a6f244d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55819ed69de4767" /><Relationship Type="http://schemas.openxmlformats.org/officeDocument/2006/relationships/notesMaster" Target="/ppt/notesMasters/notesMaster1.xml" Id="Rc5926dac4d5949b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c8c8f6420754dc6" /><Relationship Type="http://schemas.openxmlformats.org/officeDocument/2006/relationships/notesMaster" Target="/ppt/notesMasters/notesMaster1.xml" Id="R4949a63b946b43a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9f85f8d8d9e40e8" /><Relationship Type="http://schemas.openxmlformats.org/officeDocument/2006/relationships/notesMaster" Target="/ppt/notesMasters/notesMaster1.xml" Id="Re51ee8a5541d423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aa44c777a094242" /><Relationship Type="http://schemas.openxmlformats.org/officeDocument/2006/relationships/notesMaster" Target="/ppt/notesMasters/notesMaster1.xml" Id="R84b573656afd490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9740f9072c24682" /><Relationship Type="http://schemas.openxmlformats.org/officeDocument/2006/relationships/notesMaster" Target="/ppt/notesMasters/notesMaster1.xml" Id="R427e69672f3f4ae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2033664fba34770" /><Relationship Type="http://schemas.openxmlformats.org/officeDocument/2006/relationships/notesMaster" Target="/ppt/notesMasters/notesMaster1.xml" Id="R8021338062d3450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cd62c2438c84329" /><Relationship Type="http://schemas.openxmlformats.org/officeDocument/2006/relationships/notesMaster" Target="/ppt/notesMasters/notesMaster1.xml" Id="R76d1f732d0d84c0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a2bd7753058406d" /><Relationship Type="http://schemas.openxmlformats.org/officeDocument/2006/relationships/notesMaster" Target="/ppt/notesMasters/notesMaster1.xml" Id="Ra17e597a70a14e9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74ea489f9d14244" /><Relationship Type="http://schemas.openxmlformats.org/officeDocument/2006/relationships/notesMaster" Target="/ppt/notesMasters/notesMaster1.xml" Id="R385ed3dc4d7c498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4d3c4cb6ccf4223" /><Relationship Type="http://schemas.openxmlformats.org/officeDocument/2006/relationships/notesMaster" Target="/ppt/notesMasters/notesMaster1.xml" Id="R72d6be5a1371478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a13d3e87db842c5" /><Relationship Type="http://schemas.openxmlformats.org/officeDocument/2006/relationships/notesMaster" Target="/ppt/notesMasters/notesMaster1.xml" Id="R130bfd0cda0e427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1eb2ef8184e413d" /><Relationship Type="http://schemas.openxmlformats.org/officeDocument/2006/relationships/notesMaster" Target="/ppt/notesMasters/notesMaster1.xml" Id="R53d944fe34a64bc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f1ba9a66f584e54" /><Relationship Type="http://schemas.openxmlformats.org/officeDocument/2006/relationships/notesMaster" Target="/ppt/notesMasters/notesMaster1.xml" Id="R28517f4e4ff5489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b70e5bd571f4c98" /><Relationship Type="http://schemas.openxmlformats.org/officeDocument/2006/relationships/notesMaster" Target="/ppt/notesMasters/notesMaster1.xml" Id="Re084e92b88b14bd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5c99a5ddb8246a7" /><Relationship Type="http://schemas.openxmlformats.org/officeDocument/2006/relationships/notesMaster" Target="/ppt/notesMasters/notesMaster1.xml" Id="R766973b081c945f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9fdca8a40064f37" /><Relationship Type="http://schemas.openxmlformats.org/officeDocument/2006/relationships/notesMaster" Target="/ppt/notesMasters/notesMaster1.xml" Id="Ra1bf58372210444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df037f2219489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6175a35cb247e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d59a2a17af427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d973e1e4f4410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459eb0f883440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45d729e7d4485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5a5497e6b2468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fed09b855c429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9921890d5b4cf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df3d1f95af40a4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fcaa0c46f14157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D425298-A444-432C-9C51-23A7EBC55E0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971B3BA5-9D1B-450C-BAD6-D8DE591EC2A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3D82C10-8448-4F1F-8F6E-FBE7D38463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6/9/2026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3117848-83E2-4972-98BE-1A111D47A64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B0ECADC-4BDB-4476-8322-78A01B868BC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9FB53CC-ECC7-4A11-B847-2D13A401F32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AE2797E-0E9E-49C1-A485-D752A366917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7E87C1C-CD8D-494A-867C-92B36DD8A28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6/9/2026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7641BB-1957-4100-AFF4-E8C923BA50A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57E6C39-74E9-4019-9015-07446C16AB0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CB3986B-AA3A-4E4D-A5AA-C5ACCEEDC8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5C1857C-4A38-47F6-9569-4BCE3E88BE5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E16E99-4E55-480F-AD5D-CFC211A1CCA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6/9/2026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D358C1C-BFC5-4F09-B28B-778CEB68A6F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B8CB1A2-4A11-4C9A-85BF-23A67EBE981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0072A40-FE3B-4646-9DCB-22474A1DDD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DDFA09B-7480-46C6-A65D-9CAAE480824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2D91BCD-493D-4246-A3B4-4501AB381F9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A492830-1D4D-4C1B-8D01-65F681C649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6/9/2026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61F4E2C-05FC-4159-A6C1-3B52D537850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78B5419-C6B9-4751-8A71-0EE38E5B605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96A7A7-D3D9-4D7C-A3F8-10F9295F30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8CFC3D4-CAC7-450C-86DC-1A0859C5392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7EE06C5-6C1F-4E7A-AC86-9A5BAAE289D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57A87E4-ACCD-4308-8422-510F9C61C74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8726927B-4503-4202-944E-CB660B541CC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ED47008A-D807-4E3A-A739-0B91532B574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6/9/2026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DA2B965-4AD0-4B37-914E-0EA0944C9E6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F93F0A63-1563-4E09-B46E-8CAE421F23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E523CFE-307D-40CE-8F39-A293054CC9A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CCC989C7-5A21-46C8-994C-71AF32EF0E5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6/9/2026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3A6BFD9-49AF-45B5-AD2C-1B7663BD8A3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B35D0D53-F515-49CA-8C92-7DCA320E8A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5696FE7B-22E6-425E-8B5B-4E82FFA25DD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6/9/2026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BD6180C-8400-471B-95C5-FDF9DA757BA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4334E36-A2FD-4FC6-8995-01EA981A2D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92FC674-D84F-4DFE-8C18-982C44B218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97C8743-1AFA-4BC8-ABCC-C3852DFB148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D4C68DFA-65C9-47F8-BD01-5026BD93C2F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17AC061-6532-483B-8471-2FA5B7717E1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6/9/2026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665F073-E05F-4432-8F84-05C3C5DE34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F65AB04-E368-4EC3-96CF-CD5C7DFCA0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6AA57B7-8B7D-4302-B44A-4ADF1BFB640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0E77E049-F23B-469B-95B0-50A37E5E8233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1CF66B0-2CC1-4C27-9EFB-2287D0ADD04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03E4654-F965-4AE2-AE75-740DD90CA98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6/9/2026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5226BF-0E3C-437C-91C4-12D3FC6373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0A35F74-D264-490B-85CC-4473E0B1C9B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6CC4D6-E535-4852-86E2-DC608DAB4E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A9FE2BC-8C4C-4B83-90FF-038D36C7613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A712356-EAD4-455A-95B3-518A9448309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6/9/2026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E7563CE-AF55-4191-AFC3-0FC779DE5B3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2C3EF7C-9FEF-4C99-9C0C-7253540C28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8591BE9A-FAC0-4F80-839B-89DA1DD09E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11493B5-8FE0-4943-AABE-6179A281E19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9D71B00-CE49-4E80-BBA9-85062D1022D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6/9/2026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EC87BBE-5949-4D1D-A029-0AE700B72F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DAB35A5-67DA-475F-BF36-F4B82E14B7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9c069bca09944f1" /><Relationship Type="http://schemas.openxmlformats.org/officeDocument/2006/relationships/slideLayout" Target="/ppt/slideLayouts/slideLayout1.xml" Id="R6eb518d0d0944d0e" /><Relationship Type="http://schemas.openxmlformats.org/officeDocument/2006/relationships/slideLayout" Target="/ppt/slideLayouts/slideLayout2.xml" Id="R4204e9b3a9854bbf" /><Relationship Type="http://schemas.openxmlformats.org/officeDocument/2006/relationships/slideLayout" Target="/ppt/slideLayouts/slideLayout3.xml" Id="R424a65f9607a4977" /><Relationship Type="http://schemas.openxmlformats.org/officeDocument/2006/relationships/slideLayout" Target="/ppt/slideLayouts/slideLayout4.xml" Id="R864329e4995348cc" /><Relationship Type="http://schemas.openxmlformats.org/officeDocument/2006/relationships/slideLayout" Target="/ppt/slideLayouts/slideLayout5.xml" Id="R82e197cb0bef4a8a" /><Relationship Type="http://schemas.openxmlformats.org/officeDocument/2006/relationships/slideLayout" Target="/ppt/slideLayouts/slideLayout6.xml" Id="Rea6faa856ba84bc2" /><Relationship Type="http://schemas.openxmlformats.org/officeDocument/2006/relationships/slideLayout" Target="/ppt/slideLayouts/slideLayout7.xml" Id="Ra7bbc8a682754940" /><Relationship Type="http://schemas.openxmlformats.org/officeDocument/2006/relationships/slideLayout" Target="/ppt/slideLayouts/slideLayout8.xml" Id="Rc62ad87b1c8f4607" /><Relationship Type="http://schemas.openxmlformats.org/officeDocument/2006/relationships/slideLayout" Target="/ppt/slideLayouts/slideLayout9.xml" Id="R86607903d61d4f5f" /><Relationship Type="http://schemas.openxmlformats.org/officeDocument/2006/relationships/slideLayout" Target="/ppt/slideLayouts/slideLayout10.xml" Id="R6d1219e88f6241dd" /><Relationship Type="http://schemas.openxmlformats.org/officeDocument/2006/relationships/slideLayout" Target="/ppt/slideLayouts/slideLayout11.xml" Id="Rc9d74459b5cb432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138F3CE9-D1C9-4205-99B6-6971CDAA13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3C7E15B-3285-46C6-BF71-83C2751103B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A81C949-99AC-4523-83A8-2E749A39B07E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6/9/2026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E910C5A-3030-4AA6-B969-78E7BC0F74B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82E6F79-653B-44B4-8507-4219E64E494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eb518d0d0944d0e"/>
    <p:sldLayoutId xmlns:r="http://schemas.openxmlformats.org/officeDocument/2006/relationships" id="2147483650" r:id="R4204e9b3a9854bbf"/>
    <p:sldLayoutId xmlns:r="http://schemas.openxmlformats.org/officeDocument/2006/relationships" id="2147483651" r:id="R424a65f9607a4977"/>
    <p:sldLayoutId xmlns:r="http://schemas.openxmlformats.org/officeDocument/2006/relationships" id="2147483652" r:id="R864329e4995348cc"/>
    <p:sldLayoutId xmlns:r="http://schemas.openxmlformats.org/officeDocument/2006/relationships" id="2147483653" r:id="R82e197cb0bef4a8a"/>
    <p:sldLayoutId xmlns:r="http://schemas.openxmlformats.org/officeDocument/2006/relationships" id="2147483654" r:id="Rea6faa856ba84bc2"/>
    <p:sldLayoutId xmlns:r="http://schemas.openxmlformats.org/officeDocument/2006/relationships" id="2147483655" r:id="Ra7bbc8a682754940"/>
    <p:sldLayoutId xmlns:r="http://schemas.openxmlformats.org/officeDocument/2006/relationships" id="2147483656" r:id="Rc62ad87b1c8f4607"/>
    <p:sldLayoutId xmlns:r="http://schemas.openxmlformats.org/officeDocument/2006/relationships" id="2147483657" r:id="R86607903d61d4f5f"/>
    <p:sldLayoutId xmlns:r="http://schemas.openxmlformats.org/officeDocument/2006/relationships" id="2147483658" r:id="R6d1219e88f6241dd"/>
    <p:sldLayoutId xmlns:r="http://schemas.openxmlformats.org/officeDocument/2006/relationships" id="2147483659" r:id="Rc9d74459b5cb432e"/>
  </p:sldLayoutIdLst>
  <p:txStyles>
    <p:titleStyle>
      <a:lvl1pPr xmlns:a="http://schemas.openxmlformats.org/drawingml/2006/main"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768a239e1864ba2" /><Relationship Type="http://schemas.openxmlformats.org/officeDocument/2006/relationships/notesSlide" Target="/ppt/notesSlides/notesSlide1.xml" Id="R06b3060dd1b249f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a11550c25444737" /><Relationship Type="http://schemas.openxmlformats.org/officeDocument/2006/relationships/notesSlide" Target="/ppt/notesSlides/notesSlide2.xml" Id="Rfdb420bb42f34f9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3a644fbfd04419a" /><Relationship Type="http://schemas.openxmlformats.org/officeDocument/2006/relationships/notesSlide" Target="/ppt/notesSlides/notesSlide3.xml" Id="R7feccc989423498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8bdef17649a4f4f" /><Relationship Type="http://schemas.openxmlformats.org/officeDocument/2006/relationships/notesSlide" Target="/ppt/notesSlides/notesSlide4.xml" Id="Rbb50bd1f623947b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29e1a5635d04f7d" /><Relationship Type="http://schemas.openxmlformats.org/officeDocument/2006/relationships/notesSlide" Target="/ppt/notesSlides/notesSlide5.xml" Id="R7331e7edc70143e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3f72a18dba445bf" /><Relationship Type="http://schemas.openxmlformats.org/officeDocument/2006/relationships/image" Target="/ppt/media/image.png" Id="R3f0e929b98df4290" /><Relationship Type="http://schemas.openxmlformats.org/officeDocument/2006/relationships/notesSlide" Target="/ppt/notesSlides/notesSlide6.xml" Id="Rda87b5cb1c5f4d4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59f0cbb7d1748bf" /><Relationship Type="http://schemas.openxmlformats.org/officeDocument/2006/relationships/notesSlide" Target="/ppt/notesSlides/notesSlide7.xml" Id="Rc3e65829a403414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c8145742f524f1e" /><Relationship Type="http://schemas.openxmlformats.org/officeDocument/2006/relationships/notesSlide" Target="/ppt/notesSlides/notesSlide8.xml" Id="Rc7bf280946ea4f6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897dee4e6cc4085" /><Relationship Type="http://schemas.openxmlformats.org/officeDocument/2006/relationships/notesSlide" Target="/ppt/notesSlides/notesSlide9.xml" Id="Rb4599135bafb49e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f2d24503e3249b2" /><Relationship Type="http://schemas.openxmlformats.org/officeDocument/2006/relationships/notesSlide" Target="/ppt/notesSlides/notesSlide10.xml" Id="Rb0b2f1d2aee8495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da1723d9b034c74" /><Relationship Type="http://schemas.openxmlformats.org/officeDocument/2006/relationships/notesSlide" Target="/ppt/notesSlides/notesSlide11.xml" Id="R635c7d2f9d2a42b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0ecdc971c214294" /><Relationship Type="http://schemas.openxmlformats.org/officeDocument/2006/relationships/notesSlide" Target="/ppt/notesSlides/notesSlide12.xml" Id="R2f4a7a3ba58c49f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223515f46f54595" /><Relationship Type="http://schemas.openxmlformats.org/officeDocument/2006/relationships/notesSlide" Target="/ppt/notesSlides/notesSlide13.xml" Id="Rf712beaa706b430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1118cf5dbcb4794" /><Relationship Type="http://schemas.openxmlformats.org/officeDocument/2006/relationships/notesSlide" Target="/ppt/notesSlides/notesSlide14.xml" Id="Re5af4342bee445b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a128e312cba4882" /><Relationship Type="http://schemas.openxmlformats.org/officeDocument/2006/relationships/notesSlide" Target="/ppt/notesSlides/notesSlide15.xml" Id="Rd82fe766a793442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fdb7721e1ba4072" /><Relationship Type="http://schemas.openxmlformats.org/officeDocument/2006/relationships/notesSlide" Target="/ppt/notesSlides/notesSlide16.xml" Id="R960c912e668643f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9c022b1e07f4908" /><Relationship Type="http://schemas.openxmlformats.org/officeDocument/2006/relationships/notesSlide" Target="/ppt/notesSlides/notesSlide17.xml" Id="R4551eb13e0974a6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68d05ce2d004c0b" /><Relationship Type="http://schemas.openxmlformats.org/officeDocument/2006/relationships/notesSlide" Target="/ppt/notesSlides/notesSlide18.xml" Id="R62ca2539e3d344b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D20CF43-BF12-4674-985E-8C75739FF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10896"/>
            <a:ext cx="4846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TITLE &amp; ABSTRACT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293C99B-C68A-4806-A61E-DDCB8EA7A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66928"/>
            <a:ext cx="530352" cy="320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CE8EE01-EFB4-4FE3-B988-B28252CEA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13232"/>
            <a:ext cx="8046720" cy="4062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Financial Intelligence Engine for Investment Analysis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65336C7-59A6-4BC0-8172-78A8071B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80467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5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Phase 1 prototype for AI-assisted financial research and investment suggestions.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AB57D56-9228-40AF-9714-4A11FBBAD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4572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0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First Review | Financial Intelligence Engine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ECBA47A-9F30-4C71-AE87-C39984E2B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696" y="6473952"/>
            <a:ext cx="320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DFB3A007-FAA2-44E7-B2A0-6492A6CF4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19"/>
            <a:ext cx="5440680" cy="2148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992BFD8-6B9E-4D4D-965E-D1C03F58E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1993391"/>
            <a:ext cx="512978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Project Abstract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FF44123-5AED-4960-9A30-E170A4CD2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2313432"/>
            <a:ext cx="5129784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This project builds an AI-powered financial intelligence system that reduces manual investment analysis effort by integrating market data, company fundamentals, technical indicators, sentiment signals, and multi-agent reasoning. The current Phase 1 prototype includes data ingestion, feature engineering, investment scoring, generated reports, and an interactive dashboard where users can ask investment questions.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FBC63BC-DE56-47CC-A141-FCD6F0E8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874519"/>
            <a:ext cx="4526280" cy="2148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A2C4FD3-7F72-4F07-AC49-6E8CE8F98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1993391"/>
            <a:ext cx="421538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Research Objective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73C86AF-383C-46B5-A310-4EB129267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2313432"/>
            <a:ext cx="4215384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Design and implement a scalable, explainable system that can support Buy/Hold/Sell-style investment suggestions using structured and unstructured financial signals.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21D02F25-91F5-4CDD-80F4-558B24D0B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617720"/>
            <a:ext cx="1600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22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1000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77A95E8-638E-41A1-997E-620C934C5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965192"/>
            <a:ext cx="1645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5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COMPANY UNIVERSE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281FF20-9443-4C9D-9B26-08F504097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84648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19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Nasdaq/SEC cached tickers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D129352-564E-40E5-AC4C-04835D1E7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4617720"/>
            <a:ext cx="1600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22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41EA2340-BA26-43C0-9662-193C82A3A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4965192"/>
            <a:ext cx="1645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5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DEEP ANALYSIS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BE8F15C1-0F13-4423-808A-BE177CA8A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5184648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19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selected demo companies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06749F0-6666-4C89-B1BB-63E158ED2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4617720"/>
            <a:ext cx="1600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22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42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334517BE-D320-44FD-95B5-C4509A1D0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4965192"/>
            <a:ext cx="1645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5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FEATURES/COMPANY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00C63568-0963-4BED-B56D-47067FBDB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5184648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19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technical + composite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212FEC41-172F-4C68-BF44-8126A90C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617720"/>
            <a:ext cx="1600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22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300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590BF252-6320-4EBA-96FC-4EAB9D10A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965192"/>
            <a:ext cx="1645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5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NEWS ROWS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E6C04C35-2629-4622-A857-E08299FB1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5184648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19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sentiment demo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A50D87FF-109A-45F5-9B0B-E62B037C6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4617720"/>
            <a:ext cx="1600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22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81%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ECE9D3A9-15F2-4F5E-BB39-7D8B1D679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4965192"/>
            <a:ext cx="1645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5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READINESS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3C7CAF46-CEAC-45B4-B077-7309D8241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5184648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19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production-ready baseline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D7CB0BA5-E992-4F40-89DF-010FCB4A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617720"/>
            <a:ext cx="1600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22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4/4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B58CB904-541D-4BC5-A3B1-73A7178EA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965192"/>
            <a:ext cx="16459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5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TESTS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BE288CDC-BD01-4869-B0DB-8615E7E9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5184648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19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pytest passing</a:t>
            </a:r>
          </a:p>
        </p:txBody>
      </p:sp>
    </p:spTree>
    <p:extLst>
      <p:ext uri="{BB962C8B-B14F-4D97-AF65-F5344CB8AC3E}">
        <p14:creationId xmlns:p14="http://schemas.microsoft.com/office/powerpoint/2010/main" val="91265022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E21DD98-8656-47AB-AB3F-161FD785A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10896"/>
            <a:ext cx="4846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ARCHITECTURAL DESIGN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C04383D-DCC3-40F5-9A0F-0985A2380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66928"/>
            <a:ext cx="530352" cy="320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DC493C6-0AEE-4E74-AA41-621D185E6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13232"/>
            <a:ext cx="8046720" cy="4678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60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Modular architecture separates data breadth, signal depth, and user interaction</a:t>
            </a:r>
            <a:r>
              <a:rPr sz="280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6BA2416-0044-4138-A197-4E409AC2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80467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5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The system is designed so each layer can be improved independently in later phases.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78992A0-A754-4DAE-BE23-2C3F16E9B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4572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0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First Review | Financial Intelligence Engine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F5B0C58-17E3-4134-AEA4-1A8C513E4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696" y="6473952"/>
            <a:ext cx="320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89647A3-A401-4224-8917-B6DD9846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5C96E83-9916-4349-9C5F-9D12E9DFB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103120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Universe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141E9D0-F0CC-47EE-9A80-2BCA18E99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1000 US tickers
Nasdaq/SEC</a:t>
            </a:r>
          </a:p>
        </p:txBody>
      </p:sp>
      <p:sp>
        <p:nvSpPr>
          <p:cNvPr id="11" name="Connector 10">
            <a:extLst xmlns:a="http://schemas.openxmlformats.org/drawingml/2006/main">
              <a:ext uri="{FF2B5EF4-FFF2-40B4-BE49-F238E27FC236}">
                <a16:creationId xmlns:a16="http://schemas.microsoft.com/office/drawing/2014/main" id="{F4C45320-2615-4521-991D-076CD994B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2478024"/>
            <a:ext cx="228600" cy="0"/>
          </a:xfrm>
          <a:prstGeom xmlns:a="http://schemas.openxmlformats.org/drawingml/2006/main" prst="line">
            <a:avLst/>
          </a:prstGeom>
          <a:ln xmlns:a="http://schemas.openxmlformats.org/drawingml/2006/main" w="20320">
            <a:solidFill>
              <a:srgbClr val="117A6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F71020EB-9D4F-4D3A-A7FC-E548CC32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5B9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9AE5AEF-6714-41AE-9683-CC7AC9D90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103120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 Layer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D5B4C73-723C-4523-A8FB-1614A7B20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28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prices, fundamentals
company info</a:t>
            </a:r>
          </a:p>
        </p:txBody>
      </p:sp>
      <p:sp>
        <p:nvSpPr>
          <p:cNvPr id="15" name="Connector 14">
            <a:extLst xmlns:a="http://schemas.openxmlformats.org/drawingml/2006/main">
              <a:ext uri="{FF2B5EF4-FFF2-40B4-BE49-F238E27FC236}">
                <a16:creationId xmlns:a16="http://schemas.microsoft.com/office/drawing/2014/main" id="{C7E17F59-41A6-4756-BDE1-B85F78200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478024"/>
            <a:ext cx="228600" cy="0"/>
          </a:xfrm>
          <a:prstGeom xmlns:a="http://schemas.openxmlformats.org/drawingml/2006/main" prst="line">
            <a:avLst/>
          </a:prstGeom>
          <a:ln xmlns:a="http://schemas.openxmlformats.org/drawingml/2006/main" w="20320">
            <a:solidFill>
              <a:srgbClr val="117A6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BA677DC8-A80A-4B6A-8A82-0D8833EF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8972876-8F76-46B9-A187-5E19F0D99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59" y="2103120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Feature Layer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219590FD-E98F-4695-B436-86B3E2F66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RSI, MACD, ATR
moving averages</a:t>
            </a:r>
          </a:p>
        </p:txBody>
      </p:sp>
      <p:sp>
        <p:nvSpPr>
          <p:cNvPr id="19" name="Connector 18">
            <a:extLst xmlns:a="http://schemas.openxmlformats.org/drawingml/2006/main">
              <a:ext uri="{FF2B5EF4-FFF2-40B4-BE49-F238E27FC236}">
                <a16:creationId xmlns:a16="http://schemas.microsoft.com/office/drawing/2014/main" id="{946F74FF-816E-4C68-BE83-C10C18F8A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2478024"/>
            <a:ext cx="228600" cy="0"/>
          </a:xfrm>
          <a:prstGeom xmlns:a="http://schemas.openxmlformats.org/drawingml/2006/main" prst="line">
            <a:avLst/>
          </a:prstGeom>
          <a:ln xmlns:a="http://schemas.openxmlformats.org/drawingml/2006/main" w="20320">
            <a:solidFill>
              <a:srgbClr val="117A6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3258365-A023-469D-B0AF-96D141B7D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5B9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2D212894-AEE3-4AF2-923D-8601B096F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79" y="2103120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Sentiment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50A180B-B48C-462A-8F3A-D04B5A606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financial news
signal scoring</a:t>
            </a:r>
          </a:p>
        </p:txBody>
      </p:sp>
      <p:sp>
        <p:nvSpPr>
          <p:cNvPr id="23" name="Connector 22">
            <a:extLst xmlns:a="http://schemas.openxmlformats.org/drawingml/2006/main">
              <a:ext uri="{FF2B5EF4-FFF2-40B4-BE49-F238E27FC236}">
                <a16:creationId xmlns:a16="http://schemas.microsoft.com/office/drawing/2014/main" id="{5F85DFC5-1E20-425A-BC6F-E462167DB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2478024"/>
            <a:ext cx="228600" cy="0"/>
          </a:xfrm>
          <a:prstGeom xmlns:a="http://schemas.openxmlformats.org/drawingml/2006/main" prst="line">
            <a:avLst/>
          </a:prstGeom>
          <a:ln xmlns:a="http://schemas.openxmlformats.org/drawingml/2006/main" w="20320">
            <a:solidFill>
              <a:srgbClr val="117A6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8F255F51-9940-4570-96BF-3F17E2D87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59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6DC20D06-9C61-4D39-A37E-4CAB9AE2F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0999" y="2103120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Agents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9DF2AE2A-858B-48C2-9787-0A065C63E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9287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risk, forecast,
decision, explain</a:t>
            </a:r>
          </a:p>
        </p:txBody>
      </p:sp>
      <p:sp>
        <p:nvSpPr>
          <p:cNvPr id="27" name="Connector 26">
            <a:extLst xmlns:a="http://schemas.openxmlformats.org/drawingml/2006/main">
              <a:ext uri="{FF2B5EF4-FFF2-40B4-BE49-F238E27FC236}">
                <a16:creationId xmlns:a16="http://schemas.microsoft.com/office/drawing/2014/main" id="{D909458E-4F97-4F57-94C6-B34B6A439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59" y="2478024"/>
            <a:ext cx="228600" cy="0"/>
          </a:xfrm>
          <a:prstGeom xmlns:a="http://schemas.openxmlformats.org/drawingml/2006/main" prst="line">
            <a:avLst/>
          </a:prstGeom>
          <a:ln xmlns:a="http://schemas.openxmlformats.org/drawingml/2006/main" w="20320">
            <a:solidFill>
              <a:srgbClr val="117A6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6001313F-7EB7-4078-9E9E-138E2B673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5B9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D925285D-52C8-43D9-AF10-6D1DBB041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19" y="2103120"/>
            <a:ext cx="1417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Frontend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23D0FDE9-6128-43C5-8A6E-4AB50B948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3807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Ask tab, outputs,
analysis dashboard</a:t>
            </a:r>
          </a:p>
        </p:txBody>
      </p:sp>
      <p:sp>
        <p:nvSpPr>
          <p:cNvPr id="31" name="Rounded Rectangle 30">
            <a:extLst xmlns:a="http://schemas.openxmlformats.org/drawingml/2006/main">
              <a:ext uri="{FF2B5EF4-FFF2-40B4-BE49-F238E27FC236}">
                <a16:creationId xmlns:a16="http://schemas.microsoft.com/office/drawing/2014/main" id="{7155E6FB-B27F-4F22-AAEA-FE780A081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03320"/>
            <a:ext cx="3383280" cy="13258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31303E1F-E6BC-444C-8D84-2071F6D62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822191"/>
            <a:ext cx="307238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Storage &amp; Outputs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9EFC2BD6-48BF-4D7B-BF81-A0C1AD46E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142231"/>
            <a:ext cx="3072384" cy="8229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CSV, JSON, readiness report, investment report, sentiment table, technical summary, and clickable output routes.</a:t>
            </a:r>
          </a:p>
        </p:txBody>
      </p:sp>
      <p:sp>
        <p:nvSpPr>
          <p:cNvPr id="34" name="Rounded Rectangle 33">
            <a:extLst xmlns:a="http://schemas.openxmlformats.org/drawingml/2006/main">
              <a:ext uri="{FF2B5EF4-FFF2-40B4-BE49-F238E27FC236}">
                <a16:creationId xmlns:a16="http://schemas.microsoft.com/office/drawing/2014/main" id="{48129C2A-F1A7-41C1-88FE-1F9D8F78C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703320"/>
            <a:ext cx="3383280" cy="13258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C988E3A0-2262-458D-9048-AE80EFCFE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3822191"/>
            <a:ext cx="307238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Interactive Q&amp;A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807BC573-EF31-4994-93CC-646F2B7CD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4142231"/>
            <a:ext cx="3072384" cy="8229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User questions are routed to the orchestrator, which coordinates sentiment, risk, forecast, decision, and explanation agents.</a:t>
            </a:r>
          </a:p>
        </p:txBody>
      </p:sp>
      <p:sp>
        <p:nvSpPr>
          <p:cNvPr id="37" name="Rounded Rectangle 36">
            <a:extLst xmlns:a="http://schemas.openxmlformats.org/drawingml/2006/main">
              <a:ext uri="{FF2B5EF4-FFF2-40B4-BE49-F238E27FC236}">
                <a16:creationId xmlns:a16="http://schemas.microsoft.com/office/drawing/2014/main" id="{B344A3A7-76F5-49BD-8A45-053E19086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79" y="3703320"/>
            <a:ext cx="2834640" cy="13258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9DE36345-9569-49B1-801E-D52C559B2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7" y="3822191"/>
            <a:ext cx="252374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Next RAG Layer</a:t>
            </a: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4E4E7544-F973-4586-8A6A-43B55714E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7" y="4142231"/>
            <a:ext cx="2523744" cy="8229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PDF / 10-K / earnings report retrieval will enrich the existing retriever agent.</a:t>
            </a:r>
          </a:p>
        </p:txBody>
      </p:sp>
    </p:spTree>
    <p:extLst>
      <p:ext uri="{BB962C8B-B14F-4D97-AF65-F5344CB8AC3E}">
        <p14:creationId xmlns:p14="http://schemas.microsoft.com/office/powerpoint/2010/main" val="16555599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CB3CC05-32BC-4611-8F83-269651956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10896"/>
            <a:ext cx="4846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ALGORITHMS / TECHNIQUES USED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9E98480-091B-4D60-8473-76A58F012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66928"/>
            <a:ext cx="530352" cy="320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997530C-C470-4BAB-9ED4-2737CCD46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19" y="713232"/>
            <a:ext cx="9742293" cy="4678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40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The prototype combines financial indicators, sentiment scoring, and multi-agent decision logic</a:t>
            </a:r>
            <a:r>
              <a:rPr sz="280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FF6C9BE-39D0-497C-916F-F59D2EE1C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80467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5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These are the core techniques implemented or scaffolded in Phase 1.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A0CC071-DCD9-46F0-BD63-BEC1B87FD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4572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0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First Review | Financial Intelligence Engine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70745C3-01F4-4FDB-BBD2-DD632B3F4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696" y="6473952"/>
            <a:ext cx="320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8" name="Table 7"/>
          <p:cNvGraphicFramePr/>
          <p:nvPr/>
        </p:nvGraphicFramePr>
        <p:xfrm>
          <a:off xmlns:a="http://schemas.openxmlformats.org/drawingml/2006/main" x="594360" y="1783080"/>
          <a:ext xmlns:a="http://schemas.openxmlformats.org/drawingml/2006/main" cx="10972800" cy="329184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4160520"/>
                <a:gridCol w="4846320"/>
              </a:tblGrid>
              <a:tr h="470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Component</a:t>
                      </a:r>
                    </a:p>
                  </a:txBody>
                  <a:tcPr marL="91440" marR="91440" marT="45720" marB="45720">
                    <a:solidFill>
                      <a:srgbClr val="0B1F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Technique</a:t>
                      </a:r>
                    </a:p>
                  </a:txBody>
                  <a:tcPr marL="91440" marR="91440" marT="45720" marB="45720">
                    <a:solidFill>
                      <a:srgbClr val="0B1F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Current implementation</a:t>
                      </a:r>
                    </a:p>
                  </a:txBody>
                  <a:tcPr marL="91440" marR="91440" marT="45720" marB="45720">
                    <a:solidFill>
                      <a:srgbClr val="0B1F24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Data acquisition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Yahoo Finance + Nasdaq/SEC universe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Historical OHLCV, fundamentals, company metadata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Feature engineering</a:t>
                      </a:r>
                    </a:p>
                  </a:txBody>
                  <a:tcPr marL="91440" marR="91440" marT="45720" marB="45720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RSI, MACD, stochastic, ATR, Bollinger bands, moving averages, OBV</a:t>
                      </a:r>
                    </a:p>
                  </a:txBody>
                  <a:tcPr marL="91440" marR="91440" marT="45720" marB="45720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42 implemented feature categories per company</a:t>
                      </a:r>
                    </a:p>
                  </a:txBody>
                  <a:tcPr marL="91440" marR="91440" marT="45720" marB="45720">
                    <a:solidFill>
                      <a:srgbClr val="EEF4F1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Sentiment analysis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Keyword-based financial sentiment scoring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Positive, negative, neutral labels and aggregated sentiment metrics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Investment scoring</a:t>
                      </a:r>
                    </a:p>
                  </a:txBody>
                  <a:tcPr marL="91440" marR="91440" marT="45720" marB="45720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Weighted technical + sentiment + fundamental score</a:t>
                      </a:r>
                    </a:p>
                  </a:txBody>
                  <a:tcPr marL="91440" marR="91440" marT="45720" marB="45720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Buy / Hold / Sell style recommendations</a:t>
                      </a:r>
                    </a:p>
                  </a:txBody>
                  <a:tcPr marL="91440" marR="91440" marT="45720" marB="45720">
                    <a:solidFill>
                      <a:srgbClr val="EEF4F1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Multi-agent orchestration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Retriever, Sentiment, Risk, Forecast, Decision, Explainability agents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Ask tab answers user investment questions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Explainability</a:t>
                      </a:r>
                    </a:p>
                  </a:txBody>
                  <a:tcPr marL="91440" marR="91440" marT="45720" marB="45720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Agent summaries + generated rationale</a:t>
                      </a:r>
                    </a:p>
                  </a:txBody>
                  <a:tcPr marL="91440" marR="91440" marT="45720" marB="45720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880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Educational explanation and signal drivers</a:t>
                      </a:r>
                    </a:p>
                  </a:txBody>
                  <a:tcPr marL="91440" marR="91440" marT="45720" marB="45720">
                    <a:solidFill>
                      <a:srgbClr val="EEF4F1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D495A91C-8197-450B-9BBF-CF6E39D9F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440680"/>
            <a:ext cx="329184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EFA5BE0-F1FD-4EB9-A9F5-EB077A81E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559552"/>
            <a:ext cx="298094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Example user question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EF5514E-02A6-472B-9EBD-4DE2BC9A9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879592"/>
            <a:ext cx="2980944" cy="1554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Should I invest in AAPL and MSFT for the next 30 days?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37076ADC-B3B1-4F00-ACDC-ECD826F92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5440680"/>
            <a:ext cx="30175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79019E4-A74D-4435-89AE-1AB195E5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5559552"/>
            <a:ext cx="270662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System response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7BD676D-2BE8-4F38-826B-0BFB731C9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5879592"/>
            <a:ext cx="2706624" cy="1554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Agent-backed suggestions with score, confidence, drivers, and disclaimer.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716808C3-05F8-4B08-96BC-81D33E161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5440680"/>
            <a:ext cx="315468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A4DF65B-71F5-4F90-999F-080A8D585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3568" y="5559552"/>
            <a:ext cx="284378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2AA66951-18EC-4A5C-B906-A9BF50117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3568" y="5879592"/>
            <a:ext cx="2843784" cy="1554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Recommendation report + dashboard answer panel.</a:t>
            </a:r>
          </a:p>
        </p:txBody>
      </p:sp>
    </p:spTree>
    <p:extLst>
      <p:ext uri="{BB962C8B-B14F-4D97-AF65-F5344CB8AC3E}">
        <p14:creationId xmlns:p14="http://schemas.microsoft.com/office/powerpoint/2010/main" val="1071223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630D48B-3A22-4A8C-B675-A2707EBC7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10896"/>
            <a:ext cx="4846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EXPECTED OUTCOMES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66DA557-F2FC-40BB-B9DD-68ECC0F3D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66928"/>
            <a:ext cx="530352" cy="320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B6AFA97-90ED-4383-924E-448A6BAC4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19" y="713232"/>
            <a:ext cx="10056925" cy="3447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200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The system should become an explainable AI assistant for investment research.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1BEF6D1-9801-4937-BE25-ED37FADD7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80467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5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Outcomes are split into current Phase 1 deliverables and next review targets.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8FE084A-4079-48FD-85A7-3AC8AB6D0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4572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0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First Review | Financial Intelligence Engine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D291A1F-71DA-45C8-B3E7-B5FA58C41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696" y="6473952"/>
            <a:ext cx="320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D59E9968-51D5-4D7C-87AE-9C5FB83F2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83080"/>
            <a:ext cx="5074920" cy="19202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2CEDA28-E683-4A7C-8AC5-1D2D1A080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1901952"/>
            <a:ext cx="476402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Expected outcomes for the project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72CFDD7-17A9-4072-AD9B-EA569D041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2221991"/>
            <a:ext cx="4764024" cy="1417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1. Reduce manual research time for stock screening.
2. Provide explainable Buy/Hold/Sell-style suggestions.
3. Combine structured market data with unstructured financial text.
4. Build an interactive dashboard for portfolio review.
5. Support future RAG-based document reasoning.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3A2EE93-99DB-4332-8077-B3EF4B313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1783080"/>
            <a:ext cx="4983480" cy="19202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E50CA57-0F90-4850-BDE0-92B7F70AC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1901952"/>
            <a:ext cx="467258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What is achieved till now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DB3D0BB-D2ED-4E26-82DF-FCC7A5BB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2221991"/>
            <a:ext cx="4672584" cy="1417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1. 1000-company US equity universe cached.
2. 10-company detailed demo analysis.
3. 42 feature categories per company.
4. 300 generated news/sentiment rows.
5. Ask tab and clickable output reports.
6. 4 tests passing.</a:t>
            </a:r>
          </a:p>
        </p:txBody>
      </p:sp>
      <p:graphicFrame>
        <p:nvGraphicFramePr>
          <p:cNvPr id="14" name="Table 13"/>
          <p:cNvGraphicFramePr/>
          <p:nvPr/>
        </p:nvGraphicFramePr>
        <p:xfrm>
          <a:off xmlns:a="http://schemas.openxmlformats.org/drawingml/2006/main" x="1051560" y="4343400"/>
          <a:ext xmlns:a="http://schemas.openxmlformats.org/drawingml/2006/main" cx="10058400" cy="132588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194560"/>
                <a:gridCol w="5303520"/>
              </a:tblGrid>
              <a:tr h="2651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919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Metric</a:t>
                      </a:r>
                    </a:p>
                  </a:txBody>
                  <a:tcPr marL="91440" marR="91440" marT="45720" marB="45720">
                    <a:solidFill>
                      <a:srgbClr val="0B1F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919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Current value</a:t>
                      </a:r>
                    </a:p>
                  </a:txBody>
                  <a:tcPr marL="91440" marR="91440" marT="45720" marB="45720">
                    <a:solidFill>
                      <a:srgbClr val="0B1F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919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Meaning</a:t>
                      </a:r>
                    </a:p>
                  </a:txBody>
                  <a:tcPr marL="91440" marR="91440" marT="45720" marB="45720">
                    <a:solidFill>
                      <a:srgbClr val="0B1F2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919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Data completeness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919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100%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919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All expected demo data sources populated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919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System complexity</a:t>
                      </a:r>
                    </a:p>
                  </a:txBody>
                  <a:tcPr marL="91440" marR="91440" marT="45720" marB="45720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919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100/100</a:t>
                      </a:r>
                    </a:p>
                  </a:txBody>
                  <a:tcPr marL="91440" marR="91440" marT="45720" marB="45720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919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Advanced multi-source processing</a:t>
                      </a:r>
                    </a:p>
                  </a:txBody>
                  <a:tcPr marL="91440" marR="91440" marT="45720" marB="45720">
                    <a:solidFill>
                      <a:srgbClr val="EEF4F1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919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Production readiness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919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81%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919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17/21 checklist items complete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919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Data volume</a:t>
                      </a:r>
                    </a:p>
                  </a:txBody>
                  <a:tcPr marL="91440" marR="91440" marT="45720" marB="45720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919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186,760 points</a:t>
                      </a:r>
                    </a:p>
                  </a:txBody>
                  <a:tcPr marL="91440" marR="91440" marT="45720" marB="45720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919">
                          <a:solidFill>
                            <a:srgbClr val="122026"/>
                          </a:solidFill>
                          <a:latin typeface="Aptos"/>
                          <a:ea typeface="Aptos"/>
                          <a:cs typeface="Aptos"/>
                        </a:rPr>
                        <a:t>Phase 1 generated analysis scale</a:t>
                      </a:r>
                    </a:p>
                  </a:txBody>
                  <a:tcPr marL="91440" marR="91440" marT="45720" marB="45720">
                    <a:solidFill>
                      <a:srgbClr val="EEF4F1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11353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ECD7218-58DD-4E3C-9F91-9817C531D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10896"/>
            <a:ext cx="4846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REFERENCES + 30% CODE IMPLEMENTATION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6DBF8E3-3768-4F17-96BB-2B2ECC931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66928"/>
            <a:ext cx="530352" cy="320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2234D6C-B204-4885-A735-50B2CDEA4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13232"/>
            <a:ext cx="8046720" cy="2831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60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The submission has working Phase 1 code and recent research grounding.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9C138BF-D1C1-436F-AF82-C836015E1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80467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5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Code will be zipped separately; this slide lists what the review panel can verify.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F324433-CBA6-4F9F-89EE-515F36641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4572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0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First Review | Financial Intelligence Engine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B03C45B-D3BE-4644-BD4F-8234AF6E9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696" y="6473952"/>
            <a:ext cx="320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96FD1D4-E93D-422F-95E6-42E8A88C8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37360"/>
            <a:ext cx="3657600" cy="19659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1B6988B-B953-4C75-9FCB-50C2E759B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856231"/>
            <a:ext cx="334670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30% implementation evidence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3536E12-6CBB-42BF-95D0-DE15E20FE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2115609"/>
            <a:ext cx="3346704" cy="146303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Implemented modules:
- </a:t>
            </a:r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data_layer</a:t>
            </a:r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
- agents
- storage
- frontend
- reports / generated outputs
Run commands:
python demo_ultimate.py
python frontend/server.py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F82C4255-132C-4006-9681-7F6C91AAC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737360"/>
            <a:ext cx="2880360" cy="19659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9094C96-1AFA-4A84-B556-385E2B443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1856231"/>
            <a:ext cx="256946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Timeline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443B394-DED6-4E81-B0AE-E6BF9C38A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2176272"/>
            <a:ext cx="2569464" cy="146303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Review 1: Phase 1 prototype
Next: RAG document ingestion
Next: ML risk/forecast models
Final: scaled evaluation, monitoring, and dashboard polish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809C3C9-CDED-4211-8AB4-4F7A74ED3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9248" y="1737360"/>
            <a:ext cx="3337560" cy="35661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8CD2462-E170-4DC6-B68B-F0C4497C6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4696" y="1856231"/>
            <a:ext cx="302666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Latest references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697D953-5C62-4272-9921-F0F60D87C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7264" y="2519172"/>
            <a:ext cx="3026664" cy="306323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Xiao et al., Retrieval-Augmented LLMs for Financial Time-Series Forecasting, arXiv:2502.05878, 2025.
Choi et al., </a:t>
            </a:r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FinDER</a:t>
            </a:r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: Financial Dataset for QA and Evaluating RAG, arXiv:2504.15800, 2025.
Yao et al., Evaluating LLMs for Financial Reasoning: CFA Benchmark, arXiv:2509.04468, 2025.
Xu et al., Analytical Stage-Based Multi-Agent Framework, Decision Analytics Journal, 2025.
Khan et al., Model-Agnostic Explainable AI Methods in Finance, Artificial Intelligence Review, 2025.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9770320-490C-4687-BA1A-FC139B1CD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800600"/>
            <a:ext cx="66294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500"/>
              </a:spcAft>
              <a:buNone/>
              <a:defRPr sz="1150">
                <a:solidFill>
                  <a:srgbClr val="122026"/>
                </a:solidFill>
                <a:latin typeface="Aptos"/>
                <a:ea typeface="Aptos"/>
                <a:cs typeface="Aptos"/>
              </a:defRPr>
            </a:pPr>
            <a:r>
              <a:t>Submission package: PPT + zipped source code + generated outputs in data/.</a:t>
            </a:r>
          </a:p>
          <a:p xmlns:a="http://schemas.openxmlformats.org/drawingml/2006/main">
            <a:pPr>
              <a:spcAft>
                <a:spcPts val="500"/>
              </a:spcAft>
              <a:buNone/>
              <a:defRPr sz="1150">
                <a:solidFill>
                  <a:srgbClr val="122026"/>
                </a:solidFill>
                <a:latin typeface="Aptos"/>
                <a:ea typeface="Aptos"/>
                <a:cs typeface="Aptos"/>
              </a:defRPr>
            </a:pPr>
            <a:r>
              <a:t>Scope note: full 1000-company detailed scoring will require caching and rate-limit handling in Phase 2.</a:t>
            </a:r>
          </a:p>
        </p:txBody>
      </p:sp>
    </p:spTree>
    <p:extLst>
      <p:ext uri="{BB962C8B-B14F-4D97-AF65-F5344CB8AC3E}">
        <p14:creationId xmlns:p14="http://schemas.microsoft.com/office/powerpoint/2010/main" val="214590679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0e929b98df42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87021" y="463397"/>
            <a:ext cx="11817957" cy="593120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302602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1F8A154-1EE6-4DB5-BE4A-C9BB26F01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"/>
            <a:ext cx="2194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 b="1">
                <a:solidFill>
                  <a:srgbClr val="31B3BE"/>
                </a:solidFill>
                <a:latin typeface="Aptos"/>
                <a:ea typeface="Aptos"/>
                <a:cs typeface="Aptos"/>
              </a:rPr>
              <a:t>PROGRESS SINCE LAST REVIEW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693D82C-7BE1-4376-998C-2F35938F1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0424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Phase 1 moved from prototype skeleton to working baseline.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F402528-E709-4BDA-9F2F-79F11DF4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60120"/>
            <a:ext cx="9875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New implementation evidence: large data, trained models, persistent vector DB, RAG query path, and OpenAI-ready GenAI layer.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B35C884-A838-4062-93C6-D644EC344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98448"/>
            <a:ext cx="10881360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0E8"/>
          </a:solidFill>
          <a:ln xmlns:a="http://schemas.openxmlformats.org/drawingml/2006/main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5ED47DA9-8D77-4FD1-AA3D-B710B35B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00200"/>
            <a:ext cx="251460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DFDBA9D1-2B69-4977-A9DB-C2C789CEB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00200"/>
            <a:ext cx="73152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7B8"/>
          </a:solidFill>
          <a:ln xmlns:a="http://schemas.openxmlformats.org/drawingml/2006/main">
            <a:solidFill>
              <a:srgbClr val="2477B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8787DF4-077B-4FDE-BB98-91689701F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46504"/>
            <a:ext cx="218541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5B6977"/>
                </a:solidFill>
                <a:latin typeface="Aptos"/>
                <a:ea typeface="Aptos"/>
                <a:cs typeface="Aptos"/>
              </a:rPr>
              <a:t>US equity universe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9ED9360-FC94-4ACC-B7F0-039748817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039112"/>
            <a:ext cx="2185416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10,000</a:t>
            </a:r>
            <a:br/>
            <a:r>
              <a:rPr sz="20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companies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27C0EB2-68A6-47D2-913D-3BC4D4F66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1600200"/>
            <a:ext cx="251460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B212E5C0-4E7E-4E70-8266-D8CB75FA5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1600200"/>
            <a:ext cx="73152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B3BE"/>
          </a:solidFill>
          <a:ln xmlns:a="http://schemas.openxmlformats.org/drawingml/2006/main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BFC3225-B9A3-4797-87B2-455AAB3C1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7288" y="1746504"/>
            <a:ext cx="218541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5B6977"/>
                </a:solidFill>
                <a:latin typeface="Aptos"/>
                <a:ea typeface="Aptos"/>
                <a:cs typeface="Aptos"/>
              </a:rPr>
              <a:t>ML feature table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81C6425-818E-434D-AADD-566CDF01B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7288" y="2039112"/>
            <a:ext cx="2185416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10,000 x 20</a:t>
            </a:r>
            <a:br/>
            <a:r>
              <a:rPr sz="20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rows/features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EF9AC925-A540-4BD2-AF93-8D6D9F3D5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600200"/>
            <a:ext cx="251460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2591FFDD-0BEA-476C-B37E-50B200E9A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600200"/>
            <a:ext cx="73152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9778"/>
          </a:solidFill>
          <a:ln xmlns:a="http://schemas.openxmlformats.org/drawingml/2006/main">
            <a:solidFill>
              <a:srgbClr val="20977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216D3B66-1126-4DE1-9C86-5E58521C5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1746504"/>
            <a:ext cx="218541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5B6977"/>
                </a:solidFill>
                <a:latin typeface="Aptos"/>
                <a:ea typeface="Aptos"/>
                <a:cs typeface="Aptos"/>
              </a:rPr>
              <a:t>Risk model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00A2970-15AF-4AEF-AF03-D66CB8134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2039112"/>
            <a:ext cx="2185416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80.05%</a:t>
            </a:r>
            <a:br/>
            <a:r>
              <a:rPr sz="20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accuracy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2222B4A5-BAAC-4A14-B973-6E89ED24C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080" y="1600200"/>
            <a:ext cx="251460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4A4A6606-6128-4614-BEC5-58FA4A2B4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080" y="1600200"/>
            <a:ext cx="73152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730"/>
          </a:solidFill>
          <a:ln xmlns:a="http://schemas.openxmlformats.org/drawingml/2006/main">
            <a:solidFill>
              <a:srgbClr val="E0973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85E9023-3E4E-4448-AF13-DBF8A5A05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1746504"/>
            <a:ext cx="218541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5B6977"/>
                </a:solidFill>
                <a:latin typeface="Aptos"/>
                <a:ea typeface="Aptos"/>
                <a:cs typeface="Aptos"/>
              </a:rPr>
              <a:t>Forecast model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8D547B1F-29EA-45C6-B56B-05804803C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2039112"/>
            <a:ext cx="2185416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68.95%</a:t>
            </a:r>
            <a:br/>
            <a:r>
              <a:rPr sz="20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accuracy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F56488DD-90FF-4A40-8A13-D240B61DC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46120"/>
            <a:ext cx="52120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What changed after the first review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54F1E6AC-5571-4F44-B08F-FA6652F34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611880"/>
            <a:ext cx="507492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300">
                <a:solidFill>
                  <a:srgbClr val="14202B"/>
                </a:solidFill>
                <a:latin typeface="Aptos"/>
                <a:ea typeface="Aptos"/>
                <a:cs typeface="Aptos"/>
              </a:rPr>
              <a:t>Built a large Phase 1 data pipeline instead of a small demo-only universe.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300">
                <a:solidFill>
                  <a:srgbClr val="14202B"/>
                </a:solidFill>
                <a:latin typeface="Aptos"/>
                <a:ea typeface="Aptos"/>
                <a:cs typeface="Aptos"/>
              </a:rPr>
              <a:t>Generated ML-ready features and trained baseline risk / forecast models.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300">
                <a:solidFill>
                  <a:srgbClr val="14202B"/>
                </a:solidFill>
                <a:latin typeface="Aptos"/>
                <a:ea typeface="Aptos"/>
                <a:cs typeface="Aptos"/>
              </a:rPr>
              <a:t>Added persistent ChromaDB vector store for the RAG layer.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300">
                <a:solidFill>
                  <a:srgbClr val="14202B"/>
                </a:solidFill>
                <a:latin typeface="Aptos"/>
                <a:ea typeface="Aptos"/>
                <a:cs typeface="Aptos"/>
              </a:rPr>
              <a:t>Connected Retriever Agent to vector DB when the index exists.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0CDC3C18-0654-4865-912D-BA90FE323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246120"/>
            <a:ext cx="47548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Evidence files produced by the system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8E9E0D5B-82CF-4433-B2D4-CE002A278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611880"/>
            <a:ext cx="4800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200">
                <a:solidFill>
                  <a:srgbClr val="14202B"/>
                </a:solidFill>
                <a:latin typeface="Aptos"/>
                <a:ea typeface="Aptos"/>
                <a:cs typeface="Aptos"/>
              </a:rPr>
              <a:t>data/processed/us_equity_universe.csv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200">
                <a:solidFill>
                  <a:srgbClr val="14202B"/>
                </a:solidFill>
                <a:latin typeface="Aptos"/>
                <a:ea typeface="Aptos"/>
                <a:cs typeface="Aptos"/>
              </a:rPr>
              <a:t>data/features/phase1_model_features.csv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200">
                <a:solidFill>
                  <a:srgbClr val="14202B"/>
                </a:solidFill>
                <a:latin typeface="Aptos"/>
                <a:ea typeface="Aptos"/>
                <a:cs typeface="Aptos"/>
              </a:rPr>
              <a:t>models/phase1_risk_model.pkl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200">
                <a:solidFill>
                  <a:srgbClr val="14202B"/>
                </a:solidFill>
                <a:latin typeface="Aptos"/>
                <a:ea typeface="Aptos"/>
                <a:cs typeface="Aptos"/>
              </a:rPr>
              <a:t>models/phase1_forecast_model.pkl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200">
                <a:solidFill>
                  <a:srgbClr val="14202B"/>
                </a:solidFill>
                <a:latin typeface="Aptos"/>
                <a:ea typeface="Aptos"/>
                <a:cs typeface="Aptos"/>
              </a:rPr>
              <a:t>data/vectors/chroma/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200">
                <a:solidFill>
                  <a:srgbClr val="14202B"/>
                </a:solidFill>
                <a:latin typeface="Aptos"/>
                <a:ea typeface="Aptos"/>
                <a:cs typeface="Aptos"/>
              </a:rPr>
              <a:t>reports/phase1_agent_report.md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06ACB099-2C7B-473D-88A2-2A4AF965C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7772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Financial Intelligence Engine | Phase 1 progress update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515E2A70-6DD3-4F84-8B17-323DE2BB5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0" y="6473952"/>
            <a:ext cx="731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54187728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FC40B8C-19B7-4F78-8CDB-80F2F87D2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"/>
            <a:ext cx="2194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 b="1">
                <a:solidFill>
                  <a:srgbClr val="31B3BE"/>
                </a:solidFill>
                <a:latin typeface="Aptos"/>
                <a:ea typeface="Aptos"/>
                <a:cs typeface="Aptos"/>
              </a:rPr>
              <a:t>RAG IMPLEMENTATION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97D2B94-7D19-4273-B302-06FC6CB67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0424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RAG now uses a persistent local vector database and an LLM-ready answer layer.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243744F-AECA-46F0-8AA9-E900B1A6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60120"/>
            <a:ext cx="9875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This satisfies the Phase 1 baseline requirement while keeping cloud/OpenAI integration configurable.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F477BEB-A6EC-4E72-BD70-099FCB29C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98448"/>
            <a:ext cx="10881360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0E8"/>
          </a:solidFill>
          <a:ln xmlns:a="http://schemas.openxmlformats.org/drawingml/2006/main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081877BF-8ECD-4443-A289-1406DBFCE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160020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420703B-6CEF-40CB-B476-646172972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" y="1984248"/>
            <a:ext cx="145389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Documents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0A2C6D2-B17A-4A8E-9EAB-B01E5A1E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" y="2267712"/>
            <a:ext cx="1453896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docs, reports, PDFs</a:t>
            </a:r>
          </a:p>
        </p:txBody>
      </p:sp>
      <p:sp>
        <p:nvSpPr>
          <p:cNvPr id="9" name="Right Arrow 8">
            <a:extLst xmlns:a="http://schemas.openxmlformats.org/drawingml/2006/main">
              <a:ext uri="{FF2B5EF4-FFF2-40B4-BE49-F238E27FC236}">
                <a16:creationId xmlns:a16="http://schemas.microsoft.com/office/drawing/2014/main" id="{8DA33419-0981-4171-82BF-0D42E32C7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39" y="2093976"/>
            <a:ext cx="201168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B3BE"/>
          </a:solidFill>
          <a:ln xmlns:a="http://schemas.openxmlformats.org/drawingml/2006/main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8601671-EFB9-47A7-AF06-8456F244D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1828800"/>
            <a:ext cx="160020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0AEB92D-D3DA-47F5-9A5D-7413C8EB9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2304" y="1984248"/>
            <a:ext cx="145389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Chunking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E2EEFE7-E918-4EE7-B4E8-BA448E12E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2304" y="2267712"/>
            <a:ext cx="1453896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900 char windows</a:t>
            </a:r>
          </a:p>
        </p:txBody>
      </p:sp>
      <p:sp>
        <p:nvSpPr>
          <p:cNvPr id="13" name="Right Arrow 12">
            <a:extLst xmlns:a="http://schemas.openxmlformats.org/drawingml/2006/main">
              <a:ext uri="{FF2B5EF4-FFF2-40B4-BE49-F238E27FC236}">
                <a16:creationId xmlns:a16="http://schemas.microsoft.com/office/drawing/2014/main" id="{16B57069-F367-4DBD-9DFC-BC3382C6A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5072" y="2093976"/>
            <a:ext cx="201168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B3BE"/>
          </a:solidFill>
          <a:ln xmlns:a="http://schemas.openxmlformats.org/drawingml/2006/main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DC0B8DA7-D086-4DEF-BB7B-5D810B935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5384" y="1828800"/>
            <a:ext cx="160020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480D1D8-8A76-4FE6-9E0F-40D85F51D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536" y="1984248"/>
            <a:ext cx="145389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Embeddings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26370DFA-05F4-4BAC-A31F-D6FDA5927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536" y="2267712"/>
            <a:ext cx="1453896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384-d hashing</a:t>
            </a:r>
          </a:p>
        </p:txBody>
      </p:sp>
      <p:sp>
        <p:nvSpPr>
          <p:cNvPr id="17" name="Right Arrow 16">
            <a:extLst xmlns:a="http://schemas.openxmlformats.org/drawingml/2006/main">
              <a:ext uri="{FF2B5EF4-FFF2-40B4-BE49-F238E27FC236}">
                <a16:creationId xmlns:a16="http://schemas.microsoft.com/office/drawing/2014/main" id="{8A78BE2D-DB33-403D-AD2D-CB4D3B68C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304" y="2093976"/>
            <a:ext cx="201168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B3BE"/>
          </a:solidFill>
          <a:ln xmlns:a="http://schemas.openxmlformats.org/drawingml/2006/main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3B8B92F9-E7CD-4538-9513-8100FF2FD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1616" y="1828800"/>
            <a:ext cx="160020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62C0A91-17E7-4C03-AAC5-BFAD2A946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1984248"/>
            <a:ext cx="145389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ChromaDB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4ACF513-0A01-40BC-B885-646F71732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2267712"/>
            <a:ext cx="1453896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persistent vector DB</a:t>
            </a:r>
          </a:p>
        </p:txBody>
      </p:sp>
      <p:sp>
        <p:nvSpPr>
          <p:cNvPr id="21" name="Right Arrow 20">
            <a:extLst xmlns:a="http://schemas.openxmlformats.org/drawingml/2006/main">
              <a:ext uri="{FF2B5EF4-FFF2-40B4-BE49-F238E27FC236}">
                <a16:creationId xmlns:a16="http://schemas.microsoft.com/office/drawing/2014/main" id="{A2A0353D-7B76-4DC7-BD5E-465D2A159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2093976"/>
            <a:ext cx="201168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B3BE"/>
          </a:solidFill>
          <a:ln xmlns:a="http://schemas.openxmlformats.org/drawingml/2006/main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E2EAA26E-0382-4198-B3A6-4C787981E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848" y="1828800"/>
            <a:ext cx="160020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4A4647F8-97C8-44A6-B41C-7F687CC8F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84248"/>
            <a:ext cx="145389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Retriever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79E14A5D-FC2D-4E99-A788-1AF858649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67712"/>
            <a:ext cx="1453896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top-k evidence</a:t>
            </a:r>
          </a:p>
        </p:txBody>
      </p:sp>
      <p:sp>
        <p:nvSpPr>
          <p:cNvPr id="25" name="Right Arrow 24">
            <a:extLst xmlns:a="http://schemas.openxmlformats.org/drawingml/2006/main">
              <a:ext uri="{FF2B5EF4-FFF2-40B4-BE49-F238E27FC236}">
                <a16:creationId xmlns:a16="http://schemas.microsoft.com/office/drawing/2014/main" id="{E7DAC74E-A6DA-4DA5-A262-847A3E31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3768" y="2093976"/>
            <a:ext cx="201168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B3BE"/>
          </a:solidFill>
          <a:ln xmlns:a="http://schemas.openxmlformats.org/drawingml/2006/main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17E6D26F-F175-4BC5-90C9-F33F63E74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1828800"/>
            <a:ext cx="160020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F9D340BC-B28F-4D0D-AB0C-7EBFC2A74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7232" y="1984248"/>
            <a:ext cx="145389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LLM Layer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35948131-AB4A-44AC-9748-0CC004E32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7232" y="2267712"/>
            <a:ext cx="1453896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local / OpenAI</a:t>
            </a:r>
          </a:p>
        </p:txBody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BF173D00-D5E6-463E-B66F-8F16D5500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154680"/>
            <a:ext cx="329184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10BE7CF0-6D39-4CD2-9C24-4C05F3E8C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154680"/>
            <a:ext cx="73152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9778"/>
          </a:solidFill>
          <a:ln xmlns:a="http://schemas.openxmlformats.org/drawingml/2006/main">
            <a:solidFill>
              <a:srgbClr val="20977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8CBA4D5A-7236-47D5-A10B-28E6E4945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300984"/>
            <a:ext cx="296265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5B6977"/>
                </a:solidFill>
                <a:latin typeface="Aptos"/>
                <a:ea typeface="Aptos"/>
                <a:cs typeface="Aptos"/>
              </a:rPr>
              <a:t>Vector DB persistence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7DECF1FC-238C-4322-A5AC-98F8B134B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593592"/>
            <a:ext cx="2962656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data/vectors/chroma/</a:t>
            </a:r>
            <a:br/>
            <a:r>
              <a:rPr sz="1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Chroma PersistentClient</a:t>
            </a:r>
          </a:p>
        </p:txBody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854B969F-9139-41E2-9140-D56A0B562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3154680"/>
            <a:ext cx="329184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F20D0319-4133-4D9B-95A0-4ACFB1296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3154680"/>
            <a:ext cx="73152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7B8"/>
          </a:solidFill>
          <a:ln xmlns:a="http://schemas.openxmlformats.org/drawingml/2006/main">
            <a:solidFill>
              <a:srgbClr val="2477B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2D86A8D4-8566-4920-B864-B251F952B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3128" y="3300984"/>
            <a:ext cx="296265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5B6977"/>
                </a:solidFill>
                <a:latin typeface="Aptos"/>
                <a:ea typeface="Aptos"/>
                <a:cs typeface="Aptos"/>
              </a:rPr>
              <a:t>Indexed corpus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C4F8B1C1-093A-47CB-9A31-9ECA83048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3128" y="3593592"/>
            <a:ext cx="2962656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476 chunks</a:t>
            </a:r>
            <a:br/>
            <a:r>
              <a:rPr sz="16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from docs + reports</a:t>
            </a:r>
          </a:p>
        </p:txBody>
      </p:sp>
      <p:sp>
        <p:nvSpPr>
          <p:cNvPr id="37" name="Rounded Rectangle 36">
            <a:extLst xmlns:a="http://schemas.openxmlformats.org/drawingml/2006/main">
              <a:ext uri="{FF2B5EF4-FFF2-40B4-BE49-F238E27FC236}">
                <a16:creationId xmlns:a16="http://schemas.microsoft.com/office/drawing/2014/main" id="{D3408B2D-9DBA-4073-8ED4-FB8F05235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5552" y="3154680"/>
            <a:ext cx="329184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B0EFE214-DA02-44D3-8919-4E303C5B2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5552" y="3154680"/>
            <a:ext cx="73152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730"/>
          </a:solidFill>
          <a:ln xmlns:a="http://schemas.openxmlformats.org/drawingml/2006/main">
            <a:solidFill>
              <a:srgbClr val="E0973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7C43FBE1-93DF-4AC1-860E-9C99B4FDA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3300984"/>
            <a:ext cx="296265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5B6977"/>
                </a:solidFill>
                <a:latin typeface="Aptos"/>
                <a:ea typeface="Aptos"/>
                <a:cs typeface="Aptos"/>
              </a:rPr>
              <a:t>LLM integration</a:t>
            </a: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597A7996-BE98-4484-8EEE-97DA905A5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3593592"/>
            <a:ext cx="2962656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OpenAI-ready</a:t>
            </a:r>
            <a:br/>
            <a:r>
              <a:rPr sz="1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local fallback active</a:t>
            </a:r>
          </a:p>
        </p:txBody>
      </p:sp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D27EB28F-C3F9-49C0-8197-A9FD93FFA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36592"/>
            <a:ext cx="103327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Demo commands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6CE9CFAB-2A0B-4B89-BBB7-576886898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74920"/>
            <a:ext cx="10149840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BF1F6"/>
          </a:solidFill>
          <a:ln xmlns:a="http://schemas.openxmlformats.org/drawingml/2006/main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17D88883-F96E-45B0-B2A0-6E4BCF0A0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193792"/>
            <a:ext cx="978408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50" b="0">
                <a:solidFill>
                  <a:srgbClr val="14202B"/>
                </a:solidFill>
                <a:latin typeface="Consolas"/>
                <a:ea typeface="Consolas"/>
                <a:cs typeface="Consolas"/>
              </a:rPr>
              <a:t>python index_phase1_rag.py    -&gt; builds ChromaDB index</a:t>
            </a:r>
            <a:br/>
            <a:r>
              <a:rPr sz="1050" b="0">
                <a:solidFill>
                  <a:srgbClr val="14202B"/>
                </a:solidFill>
                <a:latin typeface="Consolas"/>
                <a:ea typeface="Consolas"/>
                <a:cs typeface="Consolas"/>
              </a:rPr>
              <a:t>python query_phase1_rag.py "What is implemented in Phase 1?"    -&gt; retrieves evidence + generates answer</a:t>
            </a:r>
            <a:br/>
            <a:r>
              <a:rPr sz="1050" b="0">
                <a:solidFill>
                  <a:srgbClr val="14202B"/>
                </a:solidFill>
                <a:latin typeface="Consolas"/>
                <a:ea typeface="Consolas"/>
                <a:cs typeface="Consolas"/>
              </a:rPr>
              <a:t>python demo_phase1_agents.py    -&gt; multi-agent investment report uses vector retrieval when available</a:t>
            </a:r>
          </a:p>
        </p:txBody>
      </p:sp>
      <p:sp>
        <p:nvSpPr>
          <p:cNvPr id="44" name="TextBox 43">
            <a:extLst xmlns:a="http://schemas.openxmlformats.org/drawingml/2006/main">
              <a:ext uri="{FF2B5EF4-FFF2-40B4-BE49-F238E27FC236}">
                <a16:creationId xmlns:a16="http://schemas.microsoft.com/office/drawing/2014/main" id="{389C56ED-4D20-494E-BA68-9681D3F17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7772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Financial Intelligence Engine | Phase 1 progress update</a:t>
            </a:r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95C698BF-1735-4A1B-84FB-4287EE968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0" y="6473952"/>
            <a:ext cx="731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0102917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6EB4878-B34E-448A-A780-B888F7392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"/>
            <a:ext cx="2194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 b="1">
                <a:solidFill>
                  <a:srgbClr val="31B3BE"/>
                </a:solidFill>
                <a:latin typeface="Aptos"/>
                <a:ea typeface="Aptos"/>
                <a:cs typeface="Aptos"/>
              </a:rPr>
              <a:t>PHASE 1 DEMO PATH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BE84FC4-32C0-4918-9DC1-A6F6C45CD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0424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The review demo can now show data scale, model training, vector RAG, and agent output.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68616E8-A70B-4182-949F-BC9E6F477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60120"/>
            <a:ext cx="9875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This slide lists the exact execution flow and what each command proves.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BEFAC10-8A32-4C9B-8860-3E39AEF82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98448"/>
            <a:ext cx="10881360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0E8"/>
          </a:solidFill>
          <a:ln xmlns:a="http://schemas.openxmlformats.org/drawingml/2006/main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Oval 5">
            <a:extLst xmlns:a="http://schemas.openxmlformats.org/drawingml/2006/main">
              <a:ext uri="{FF2B5EF4-FFF2-40B4-BE49-F238E27FC236}">
                <a16:creationId xmlns:a16="http://schemas.microsoft.com/office/drawing/2014/main" id="{E727386C-3617-4BB1-B1AE-28F8A2072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61848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7B8"/>
          </a:solidFill>
          <a:ln xmlns:a="http://schemas.openxmlformats.org/drawingml/2006/main">
            <a:solidFill>
              <a:srgbClr val="2477B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EC28AD2-3740-43E7-BF71-4AB0DD551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691640"/>
            <a:ext cx="38404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5CA5F2D-534F-4675-A4A8-0A165E72F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1572768"/>
            <a:ext cx="20574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Storage + universe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C28C529-B3E0-478D-BB4F-A1723D258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572768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0">
                <a:solidFill>
                  <a:srgbClr val="2477B8"/>
                </a:solidFill>
                <a:latin typeface="Consolas"/>
                <a:ea typeface="Consolas"/>
                <a:cs typeface="Consolas"/>
              </a:rPr>
              <a:t>python setup_phase1_storage.py --min-count 10000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17D6F73-917D-4852-A767-8F6F67F1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1572768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19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Creates storage layers and caches 10K US tickers.</a:t>
            </a:r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4065B1E8-B27D-49CC-ACA9-C511C9A74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386584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7B8"/>
          </a:solidFill>
          <a:ln xmlns:a="http://schemas.openxmlformats.org/drawingml/2006/main">
            <a:solidFill>
              <a:srgbClr val="2477B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12FC247-A695-4050-94EE-7F7E82346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459736"/>
            <a:ext cx="38404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8D6FBD9-F83E-4F5D-AFA6-A52FCB2C7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2340864"/>
            <a:ext cx="20574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Feature generation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67841A72-6C6C-4112-A7DF-75BD2B99D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340864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0">
                <a:solidFill>
                  <a:srgbClr val="2477B8"/>
                </a:solidFill>
                <a:latin typeface="Consolas"/>
                <a:ea typeface="Consolas"/>
                <a:cs typeface="Consolas"/>
              </a:rPr>
              <a:t>python build_phase1_data.py --min-count 10000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351E54F-037A-4A12-B1F2-DF0674401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2340864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19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Builds 10K x 20 ML-ready feature table.</a:t>
            </a:r>
          </a:p>
        </p:txBody>
      </p:sp>
      <p:sp>
        <p:nvSpPr>
          <p:cNvPr id="16" name="Oval 15">
            <a:extLst xmlns:a="http://schemas.openxmlformats.org/drawingml/2006/main">
              <a:ext uri="{FF2B5EF4-FFF2-40B4-BE49-F238E27FC236}">
                <a16:creationId xmlns:a16="http://schemas.microsoft.com/office/drawing/2014/main" id="{94DEA752-CFCD-41BC-A36B-9D3F650E9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154679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7B8"/>
          </a:solidFill>
          <a:ln xmlns:a="http://schemas.openxmlformats.org/drawingml/2006/main">
            <a:solidFill>
              <a:srgbClr val="2477B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D355559A-FC4A-4252-9374-DB402D181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227832"/>
            <a:ext cx="38404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F730D2E7-611A-449A-9C42-839522389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3108960"/>
            <a:ext cx="20574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Model training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BCCB94E-5113-40C7-A12D-37A6F76C2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3108960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0">
                <a:solidFill>
                  <a:srgbClr val="2477B8"/>
                </a:solidFill>
                <a:latin typeface="Consolas"/>
                <a:ea typeface="Consolas"/>
                <a:cs typeface="Consolas"/>
              </a:rPr>
              <a:t>python train_phase1_models.py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8CD3FFD-228D-4536-B919-50B7FE643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3108960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19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Trains risk and forecast baseline models with metrics.</a:t>
            </a:r>
          </a:p>
        </p:txBody>
      </p:sp>
      <p:sp>
        <p:nvSpPr>
          <p:cNvPr id="21" name="Oval 20">
            <a:extLst xmlns:a="http://schemas.openxmlformats.org/drawingml/2006/main">
              <a:ext uri="{FF2B5EF4-FFF2-40B4-BE49-F238E27FC236}">
                <a16:creationId xmlns:a16="http://schemas.microsoft.com/office/drawing/2014/main" id="{85FE944D-1A56-497F-932B-A231642B5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922776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7B8"/>
          </a:solidFill>
          <a:ln xmlns:a="http://schemas.openxmlformats.org/drawingml/2006/main">
            <a:solidFill>
              <a:srgbClr val="2477B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6A99F14-B2AD-4939-88B4-2EF22D100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995928"/>
            <a:ext cx="38404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0306DC32-103C-44F3-AFB1-F40F44718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3877056"/>
            <a:ext cx="20574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RAG indexing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A761EA9F-56DD-4A08-876A-2A61F183B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387705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0">
                <a:solidFill>
                  <a:srgbClr val="2477B8"/>
                </a:solidFill>
                <a:latin typeface="Consolas"/>
                <a:ea typeface="Consolas"/>
                <a:cs typeface="Consolas"/>
              </a:rPr>
              <a:t>python index_phase1_rag.py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22436ABF-FDFE-4B67-940A-360CD52E8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3877056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19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Persists 476 chunks into ChromaDB.</a:t>
            </a:r>
          </a:p>
        </p:txBody>
      </p:sp>
      <p:sp>
        <p:nvSpPr>
          <p:cNvPr id="26" name="Oval 25">
            <a:extLst xmlns:a="http://schemas.openxmlformats.org/drawingml/2006/main">
              <a:ext uri="{FF2B5EF4-FFF2-40B4-BE49-F238E27FC236}">
                <a16:creationId xmlns:a16="http://schemas.microsoft.com/office/drawing/2014/main" id="{A6452CB8-BB33-4C85-85A3-7EB10AA5C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690872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7B8"/>
          </a:solidFill>
          <a:ln xmlns:a="http://schemas.openxmlformats.org/drawingml/2006/main">
            <a:solidFill>
              <a:srgbClr val="2477B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606950B1-02A9-4911-9AAB-E43D42A13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764024"/>
            <a:ext cx="384048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445EE26E-5649-430A-A024-1803FE54A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4645152"/>
            <a:ext cx="20574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Final demo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306D97DF-46EC-4FC5-829E-2824F832B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4645152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0">
                <a:solidFill>
                  <a:srgbClr val="2477B8"/>
                </a:solidFill>
                <a:latin typeface="Consolas"/>
                <a:ea typeface="Consolas"/>
                <a:cs typeface="Consolas"/>
              </a:rPr>
              <a:t>python demo_phase1_agents.py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F0DED2C2-F4E9-4F6F-B035-1A3E438F7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4645152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19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Runs multi-agent report generation with retrieved evidence.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0A7A7792-34FD-4F24-819C-91460EDA5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5596128"/>
            <a:ext cx="101498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OpenAI key setup for GenAI layer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01BDE019-A953-4B3D-8C58-65FD2D5A7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5925312"/>
            <a:ext cx="100584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BF1F6"/>
          </a:solidFill>
          <a:ln xmlns:a="http://schemas.openxmlformats.org/drawingml/2006/main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2F490250-6D37-49EE-AAFB-6DD33D4A3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6016752"/>
            <a:ext cx="97383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0">
                <a:solidFill>
                  <a:srgbClr val="14202B"/>
                </a:solidFill>
                <a:latin typeface="Consolas"/>
                <a:ea typeface="Consolas"/>
                <a:cs typeface="Consolas"/>
              </a:rPr>
              <a:t>$env:FIE_GENAI_PROVIDER="openai"; $env:FIE_GENAI_MODEL="gpt-5.4-mini"; $env:OPENAI_API_KEY="..."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55C3DAAF-7CA0-4246-8466-4A691CF1B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7772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Financial Intelligence Engine | Phase 1 progress update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4DC25BB2-484D-4B73-B5C2-CBE6608A2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0" y="6473952"/>
            <a:ext cx="731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4365081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D20CF43-BF12-4674-985E-8C75739FF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10896"/>
            <a:ext cx="4846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REAL DATA FOUNDATION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293C99B-C68A-4806-A61E-DDCB8EA7A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66928"/>
            <a:ext cx="530352" cy="320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CE8EE01-EFB4-4FE3-B988-B28252CEA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13232"/>
            <a:ext cx="8046720" cy="4062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240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Phase 1 now runs on observed US equity market data.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65336C7-59A6-4BC0-8172-78A8071B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80467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5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A realistic 10K-company universe supports a 20-company cohort with point-in-time model rows.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AB57D56-9228-40AF-9714-4A11FBBAD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4572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0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Financial Intelligence Engine | Phase 1 final review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ECBA47A-9F30-4C71-AE87-C39984E2B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696" y="6473952"/>
            <a:ext cx="320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DFB3A007-FAA2-44E7-B2A0-6492A6CF4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19"/>
            <a:ext cx="5440680" cy="2148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992BFD8-6B9E-4D4D-965E-D1C03F58E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1993391"/>
            <a:ext cx="512978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Data scope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FF44123-5AED-4960-9A30-E170A4CD2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" y="2313432"/>
            <a:ext cx="5129784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10,000 US equity metadata records establish the searchable universe.</a:t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20 diversified companies supply real daily prices for deep analysis.</a:t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25,480 OHLCV observations are cached for reproducible processing.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FBC63BC-DE56-47CC-A141-FCD6F0E8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874519"/>
            <a:ext cx="4526280" cy="2148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A2C4FD3-7F72-4F07-AC49-6E8CE8F98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1993391"/>
            <a:ext cx="421538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Model-ready evidence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73C86AF-383C-46B5-A310-4EB129267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6248" y="2313432"/>
            <a:ext cx="4215384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Features are computed point-in-time to avoid using future information.</a:t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23,880 labeled rows feed risk and forecast training.</a:t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The split is chronological: 19,100 train rows and 4,780 later test rows.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21D02F25-91F5-4CDD-80F4-558B24D0B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617720"/>
            <a:ext cx="1600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10,000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77A95E8-638E-41A1-997E-620C934C5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965192"/>
            <a:ext cx="1645920" cy="1661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5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US EQUITIES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281FF20-9443-4C9D-9B26-08F504097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84648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19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searchable metadata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D129352-564E-40E5-AC4C-04835D1E7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4617720"/>
            <a:ext cx="1600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41EA2340-BA26-43C0-9662-193C82A3A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4965192"/>
            <a:ext cx="1645920" cy="1661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5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REAL COHORT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BE8F15C1-0F13-4423-808A-BE177CA8A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5184648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19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diversified companies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06749F0-6666-4C89-B1BB-63E158ED2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4617720"/>
            <a:ext cx="1600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25,480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334517BE-D320-44FD-95B5-C4509A1D0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4965192"/>
            <a:ext cx="1645920" cy="1661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5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OHLCV ROWS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00C63568-0963-4BED-B56D-47067FBDB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5184648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19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observed daily data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212FEC41-172F-4C68-BF44-8126A90C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617720"/>
            <a:ext cx="1600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23,880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590BF252-6320-4EBA-96FC-4EAB9D10A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965192"/>
            <a:ext cx="1645920" cy="1661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5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MODEL ROWS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E6C04C35-2629-4622-A857-E08299FB1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5184648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19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point-in-time features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A50D87FF-109A-45F5-9B0B-E62B037C6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4617720"/>
            <a:ext cx="1600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19,100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ECE9D3A9-15F2-4F5E-BB39-7D8B1D679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4965192"/>
            <a:ext cx="1645920" cy="1661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5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TRAIN ROWS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3C7CAF46-CEAC-45B4-B077-7309D8241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5184648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19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through 20 Jun 2025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D7CB0BA5-E992-4F40-89DF-010FCB4A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617720"/>
            <a:ext cx="1600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4,780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B58CB904-541D-4BC5-A3B1-73A7178EA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965192"/>
            <a:ext cx="1645920" cy="1661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5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TEST ROWS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BE288CDC-BD01-4869-B0DB-8615E7E9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5184648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19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from 23 Jun 2025</a:t>
            </a:r>
          </a:p>
        </p:txBody>
      </p:sp>
    </p:spTree>
    <p:extLst>
      <p:ext uri="{BB962C8B-B14F-4D97-AF65-F5344CB8AC3E}">
        <p14:creationId xmlns:p14="http://schemas.microsoft.com/office/powerpoint/2010/main" val="91265022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1F8A154-1EE6-4DB5-BE4A-C9BB26F01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"/>
            <a:ext cx="2194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 b="1">
                <a:solidFill>
                  <a:srgbClr val="31B3BE"/>
                </a:solidFill>
                <a:latin typeface="Aptos"/>
                <a:ea typeface="Aptos"/>
                <a:cs typeface="Aptos"/>
              </a:rPr>
              <a:t>MODEL EVALUATION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693D82C-7BE1-4376-998C-2F35938F1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0424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Chronological testing replaces optimistic proxy scores with honest evidence.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F402528-E709-4BDA-9F2F-79F11DF4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60120"/>
            <a:ext cx="9875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Risk is above the majority baseline; forecast remains a transparent baseline and is not overclaimed.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B35C884-A838-4062-93C6-D644EC344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98448"/>
            <a:ext cx="10881360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0E8"/>
          </a:solidFill>
          <a:ln xmlns:a="http://schemas.openxmlformats.org/drawingml/2006/main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5ED47DA9-8D77-4FD1-AA3D-B710B35B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00200"/>
            <a:ext cx="251460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DFDBA9D1-2B69-4977-A9DB-C2C789CEB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00200"/>
            <a:ext cx="73152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7B8"/>
          </a:solidFill>
          <a:ln xmlns:a="http://schemas.openxmlformats.org/drawingml/2006/main">
            <a:solidFill>
              <a:srgbClr val="2477B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8787DF4-077B-4FDE-BB98-91689701F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46504"/>
            <a:ext cx="2185416" cy="271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5B6977"/>
                </a:solidFill>
                <a:latin typeface="Aptos"/>
                <a:ea typeface="Aptos"/>
                <a:cs typeface="Aptos"/>
              </a:rPr>
              <a:t>Risk accuracy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9ED9360-FC94-4ACC-B7F0-039748817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039112"/>
            <a:ext cx="2185416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61.51%</a:t>
            </a:r>
          </a:p>
          <a:p xmlns:a="http://schemas.openxmlformats.org/drawingml/2006/main">
            <a:pPr algn="l">
              <a:buNone/>
            </a:pPr>
            <a:r>
              <a:rPr sz="20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accuracy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27C0EB2-68A6-47D2-913D-3BC4D4F66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1600200"/>
            <a:ext cx="251460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B212E5C0-4E7E-4E70-8266-D8CB75FA5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1600200"/>
            <a:ext cx="73152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B3BE"/>
          </a:solidFill>
          <a:ln xmlns:a="http://schemas.openxmlformats.org/drawingml/2006/main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BFC3225-B9A3-4797-87B2-455AAB3C1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7288" y="1746504"/>
            <a:ext cx="2185416" cy="271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5B6977"/>
                </a:solidFill>
                <a:latin typeface="Aptos"/>
                <a:ea typeface="Aptos"/>
                <a:cs typeface="Aptos"/>
              </a:rPr>
              <a:t>Risk balanced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81C6425-818E-434D-AADD-566CDF01B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7288" y="2039112"/>
            <a:ext cx="2185416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58.69%</a:t>
            </a:r>
          </a:p>
          <a:p xmlns:a="http://schemas.openxmlformats.org/drawingml/2006/main">
            <a:pPr algn="l">
              <a:buNone/>
            </a:pPr>
            <a:r>
              <a:rPr sz="20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balanced accuracy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EF9AC925-A540-4BD2-AF93-8D6D9F3D5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600200"/>
            <a:ext cx="251460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2591FFDD-0BEA-476C-B37E-50B200E9A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600200"/>
            <a:ext cx="73152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9778"/>
          </a:solidFill>
          <a:ln xmlns:a="http://schemas.openxmlformats.org/drawingml/2006/main">
            <a:solidFill>
              <a:srgbClr val="20977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216D3B66-1126-4DE1-9C86-5E58521C5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1746504"/>
            <a:ext cx="2185416" cy="271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5B6977"/>
                </a:solidFill>
                <a:latin typeface="Aptos"/>
                <a:ea typeface="Aptos"/>
                <a:cs typeface="Aptos"/>
              </a:rPr>
              <a:t>Forecast accuracy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00A2970-15AF-4AEF-AF03-D66CB8134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2039112"/>
            <a:ext cx="2185416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37.74%</a:t>
            </a:r>
          </a:p>
          <a:p xmlns:a="http://schemas.openxmlformats.org/drawingml/2006/main">
            <a:pPr algn="l">
              <a:buNone/>
            </a:pPr>
            <a:r>
              <a:rPr sz="20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accuracy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2222B4A5-BAAC-4A14-B973-6E89ED24C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080" y="1600200"/>
            <a:ext cx="251460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4A4A6606-6128-4614-BEC5-58FA4A2B4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080" y="1600200"/>
            <a:ext cx="73152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730"/>
          </a:solidFill>
          <a:ln xmlns:a="http://schemas.openxmlformats.org/drawingml/2006/main">
            <a:solidFill>
              <a:srgbClr val="E0973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85E9023-3E4E-4448-AF13-DBF8A5A05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1746504"/>
            <a:ext cx="2185416" cy="271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5B6977"/>
                </a:solidFill>
                <a:latin typeface="Aptos"/>
                <a:ea typeface="Aptos"/>
                <a:cs typeface="Aptos"/>
              </a:rPr>
              <a:t>Forecast balanced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8D547B1F-29EA-45C6-B56B-05804803C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2039112"/>
            <a:ext cx="2185416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38.18%</a:t>
            </a:r>
          </a:p>
          <a:p xmlns:a="http://schemas.openxmlformats.org/drawingml/2006/main">
            <a:pPr algn="l">
              <a:buNone/>
            </a:pPr>
            <a:r>
              <a:rPr sz="20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balanced accuracy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F56488DD-90FF-4A40-8A13-D240B61DC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46120"/>
            <a:ext cx="52120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What the metrics establish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54F1E6AC-5571-4F44-B08F-FA6652F34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611880"/>
            <a:ext cx="507492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300">
                <a:solidFill>
                  <a:srgbClr val="14202B"/>
                </a:solidFill>
                <a:latin typeface="Aptos"/>
                <a:ea typeface="Aptos"/>
                <a:cs typeface="Aptos"/>
              </a:rPr>
              <a:t>RandomForest baselines use point-in-time features.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300">
                <a:solidFill>
                  <a:srgbClr val="14202B"/>
                </a:solidFill>
                <a:latin typeface="Aptos"/>
                <a:ea typeface="Aptos"/>
                <a:cs typeface="Aptos"/>
              </a:rPr>
              <a:t>Chronological holdout begins 23 Jun 2025.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300">
                <a:solidFill>
                  <a:srgbClr val="14202B"/>
                </a:solidFill>
                <a:latin typeface="Aptos"/>
                <a:ea typeface="Aptos"/>
                <a:cs typeface="Aptos"/>
              </a:rPr>
              <a:t>Risk gains 4.94 points over the majority baseline.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300">
                <a:solidFill>
                  <a:srgbClr val="14202B"/>
                </a:solidFill>
                <a:latin typeface="Aptos"/>
                <a:ea typeface="Aptos"/>
                <a:cs typeface="Aptos"/>
              </a:rPr>
              <a:t>Forecast gains 4.85 balanced points over random.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0CDC3C18-0654-4865-912D-BA90FE323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246120"/>
            <a:ext cx="47548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Limit disclosed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8E9E0D5B-82CF-4433-B2D4-CE002A278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611880"/>
            <a:ext cx="4800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200">
                <a:solidFill>
                  <a:srgbClr val="14202B"/>
                </a:solidFill>
                <a:latin typeface="Aptos"/>
                <a:ea typeface="Aptos"/>
                <a:cs typeface="Aptos"/>
              </a:rPr>
              <a:t>Risk macro F1: 56.63%.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200">
                <a:solidFill>
                  <a:srgbClr val="14202B"/>
                </a:solidFill>
                <a:latin typeface="Aptos"/>
                <a:ea typeface="Aptos"/>
                <a:cs typeface="Aptos"/>
              </a:rPr>
              <a:t>Forecast macro F1: 37.26%.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200">
                <a:solidFill>
                  <a:srgbClr val="14202B"/>
                </a:solidFill>
                <a:latin typeface="Aptos"/>
                <a:ea typeface="Aptos"/>
                <a:cs typeface="Aptos"/>
              </a:rPr>
              <a:t>Forecast does not beat majority-class accuracy.</a:t>
            </a:r>
          </a:p>
          <a:p xmlns:a="http://schemas.openxmlformats.org/drawingml/2006/main">
            <a:pPr>
              <a:spcAft>
                <a:spcPts val="700"/>
              </a:spcAft>
              <a:buNone/>
            </a:pPr>
            <a:r>
              <a:rPr sz="1200">
                <a:solidFill>
                  <a:srgbClr val="14202B"/>
                </a:solidFill>
                <a:latin typeface="Aptos"/>
                <a:ea typeface="Aptos"/>
                <a:cs typeface="Aptos"/>
              </a:rPr>
              <a:t>Phase 1 treats it as a measurable baseline, not a production claim.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06ACB099-2C7B-473D-88A2-2A4AF965C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7772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Financial Intelligence Engine | Phase 1 final review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515E2A70-6DD3-4F84-8B17-323DE2BB5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0" y="6473952"/>
            <a:ext cx="731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54187728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FC40B8C-19B7-4F78-8CDB-80F2F87D2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"/>
            <a:ext cx="2194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 b="1">
                <a:solidFill>
                  <a:srgbClr val="31B3BE"/>
                </a:solidFill>
                <a:latin typeface="Aptos"/>
                <a:ea typeface="Aptos"/>
                <a:cs typeface="Aptos"/>
              </a:rPr>
              <a:t>SEC-AWARE HYBRID RAG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97D2B94-7D19-4273-B302-06FC6CB67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0424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SEC filings now join the persistent corpus with source-level provenance.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243744F-AECA-46F0-8AA9-E900B1A6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60120"/>
            <a:ext cx="9875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Retrieval combines semantic similarity, exact financial terms, and metadata before the LLM writes a grounded answer.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F477BEB-A6EC-4E72-BD70-099FCB29C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98448"/>
            <a:ext cx="10881360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0E8"/>
          </a:solidFill>
          <a:ln xmlns:a="http://schemas.openxmlformats.org/drawingml/2006/main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081877BF-8ECD-4443-A289-1406DBFCE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160020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420703B-6CEF-40CB-B476-646172972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" y="1984248"/>
            <a:ext cx="14538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SEC filings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0A2C6D2-B17A-4A8E-9EAB-B01E5A1E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" y="2267712"/>
            <a:ext cx="1453896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10-K / 10-Q</a:t>
            </a:r>
          </a:p>
        </p:txBody>
      </p:sp>
      <p:sp>
        <p:nvSpPr>
          <p:cNvPr id="9" name="Right Arrow 8">
            <a:extLst xmlns:a="http://schemas.openxmlformats.org/drawingml/2006/main">
              <a:ext uri="{FF2B5EF4-FFF2-40B4-BE49-F238E27FC236}">
                <a16:creationId xmlns:a16="http://schemas.microsoft.com/office/drawing/2014/main" id="{8DA33419-0981-4171-82BF-0D42E32C7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39" y="2093976"/>
            <a:ext cx="201168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B3BE"/>
          </a:solidFill>
          <a:ln xmlns:a="http://schemas.openxmlformats.org/drawingml/2006/main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8601671-EFB9-47A7-AF06-8456F244D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1828800"/>
            <a:ext cx="160020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0AEB92D-D3DA-47F5-9A5D-7413C8EB9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2304" y="1984248"/>
            <a:ext cx="14538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Chunking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E2EEFE7-E918-4EE7-B4E8-BA448E12E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2304" y="2267712"/>
            <a:ext cx="1453896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900-char windows</a:t>
            </a:r>
          </a:p>
        </p:txBody>
      </p:sp>
      <p:sp>
        <p:nvSpPr>
          <p:cNvPr id="13" name="Right Arrow 12">
            <a:extLst xmlns:a="http://schemas.openxmlformats.org/drawingml/2006/main">
              <a:ext uri="{FF2B5EF4-FFF2-40B4-BE49-F238E27FC236}">
                <a16:creationId xmlns:a16="http://schemas.microsoft.com/office/drawing/2014/main" id="{16B57069-F367-4DBD-9DFC-BC3382C6A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5072" y="2093976"/>
            <a:ext cx="201168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B3BE"/>
          </a:solidFill>
          <a:ln xmlns:a="http://schemas.openxmlformats.org/drawingml/2006/main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DC0B8DA7-D086-4DEF-BB7B-5D810B935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5384" y="1828800"/>
            <a:ext cx="160020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480D1D8-8A76-4FE6-9E0F-40D85F51D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536" y="1984248"/>
            <a:ext cx="14538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Embeddings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26370DFA-05F4-4BAC-A31F-D6FDA5927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536" y="2267712"/>
            <a:ext cx="1453896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384-d hashing</a:t>
            </a:r>
          </a:p>
        </p:txBody>
      </p:sp>
      <p:sp>
        <p:nvSpPr>
          <p:cNvPr id="17" name="Right Arrow 16">
            <a:extLst xmlns:a="http://schemas.openxmlformats.org/drawingml/2006/main">
              <a:ext uri="{FF2B5EF4-FFF2-40B4-BE49-F238E27FC236}">
                <a16:creationId xmlns:a16="http://schemas.microsoft.com/office/drawing/2014/main" id="{8A78BE2D-DB33-403D-AD2D-CB4D3B68C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304" y="2093976"/>
            <a:ext cx="201168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B3BE"/>
          </a:solidFill>
          <a:ln xmlns:a="http://schemas.openxmlformats.org/drawingml/2006/main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3B8B92F9-E7CD-4538-9513-8100FF2FD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1616" y="1828800"/>
            <a:ext cx="160020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62C0A91-17E7-4C03-AAC5-BFAD2A946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1984248"/>
            <a:ext cx="14538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ChromaDB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4ACF513-0A01-40BC-B885-646F71732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2267712"/>
            <a:ext cx="1453896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persistent vectors</a:t>
            </a:r>
          </a:p>
        </p:txBody>
      </p:sp>
      <p:sp>
        <p:nvSpPr>
          <p:cNvPr id="21" name="Right Arrow 20">
            <a:extLst xmlns:a="http://schemas.openxmlformats.org/drawingml/2006/main">
              <a:ext uri="{FF2B5EF4-FFF2-40B4-BE49-F238E27FC236}">
                <a16:creationId xmlns:a16="http://schemas.microsoft.com/office/drawing/2014/main" id="{A2A0353D-7B76-4DC7-BD5E-465D2A159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2093976"/>
            <a:ext cx="201168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B3BE"/>
          </a:solidFill>
          <a:ln xmlns:a="http://schemas.openxmlformats.org/drawingml/2006/main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E2EAA26E-0382-4198-B3A6-4C787981E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848" y="1828800"/>
            <a:ext cx="160020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4A4647F8-97C8-44A6-B41C-7F687CC8F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84248"/>
            <a:ext cx="14538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Hybrid ranker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79E14A5D-FC2D-4E99-A788-1AF858649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67712"/>
            <a:ext cx="1453896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vector + lexical</a:t>
            </a:r>
          </a:p>
        </p:txBody>
      </p:sp>
      <p:sp>
        <p:nvSpPr>
          <p:cNvPr id="25" name="Right Arrow 24">
            <a:extLst xmlns:a="http://schemas.openxmlformats.org/drawingml/2006/main">
              <a:ext uri="{FF2B5EF4-FFF2-40B4-BE49-F238E27FC236}">
                <a16:creationId xmlns:a16="http://schemas.microsoft.com/office/drawing/2014/main" id="{E7DAC74E-A6DA-4DA5-A262-847A3E31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3768" y="2093976"/>
            <a:ext cx="201168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B3BE"/>
          </a:solidFill>
          <a:ln xmlns:a="http://schemas.openxmlformats.org/drawingml/2006/main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17E6D26F-F175-4BC5-90C9-F33F63E74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1828800"/>
            <a:ext cx="160020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F9D340BC-B28F-4D0D-AB0C-7EBFC2A74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7232" y="1984248"/>
            <a:ext cx="14538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Answer layer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35948131-AB4A-44AC-9748-0CC004E32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7232" y="2267712"/>
            <a:ext cx="1453896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local / OpenAI</a:t>
            </a:r>
          </a:p>
        </p:txBody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BF173D00-D5E6-463E-B66F-8F16D5500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154680"/>
            <a:ext cx="329184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10BE7CF0-6D39-4CD2-9C24-4C05F3E8C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154680"/>
            <a:ext cx="73152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9778"/>
          </a:solidFill>
          <a:ln xmlns:a="http://schemas.openxmlformats.org/drawingml/2006/main">
            <a:solidFill>
              <a:srgbClr val="20977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8CBA4D5A-7236-47D5-A10B-28E6E4945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300984"/>
            <a:ext cx="2962656" cy="271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5B6977"/>
                </a:solidFill>
                <a:latin typeface="Aptos"/>
                <a:ea typeface="Aptos"/>
                <a:cs typeface="Aptos"/>
              </a:rPr>
              <a:t>Persistent index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7DECF1FC-238C-4322-A5AC-98F8B134B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593592"/>
            <a:ext cx="2962656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data/vectors/chroma/</a:t>
            </a:r>
          </a:p>
          <a:p xmlns:a="http://schemas.openxmlformats.org/drawingml/2006/main">
            <a:pPr algn="l">
              <a:buNone/>
            </a:pPr>
            <a:r>
              <a:rPr sz="1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Chroma PersistentClient</a:t>
            </a:r>
          </a:p>
        </p:txBody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854B969F-9139-41E2-9140-D56A0B562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3154680"/>
            <a:ext cx="329184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F20D0319-4133-4D9B-95A0-4ACFB1296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3154680"/>
            <a:ext cx="73152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7B8"/>
          </a:solidFill>
          <a:ln xmlns:a="http://schemas.openxmlformats.org/drawingml/2006/main">
            <a:solidFill>
              <a:srgbClr val="2477B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2D86A8D4-8566-4920-B864-B251F952B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3128" y="3300984"/>
            <a:ext cx="2962656" cy="271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5B6977"/>
                </a:solidFill>
                <a:latin typeface="Aptos"/>
                <a:ea typeface="Aptos"/>
                <a:cs typeface="Aptos"/>
              </a:rPr>
              <a:t>Baseline corpus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C4F8B1C1-093A-47CB-9A31-9ECA83048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3128" y="3593592"/>
            <a:ext cx="2962656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511 chunks</a:t>
            </a:r>
          </a:p>
          <a:p xmlns:a="http://schemas.openxmlformats.org/drawingml/2006/main">
            <a:pPr algn="l">
              <a:buNone/>
            </a:pPr>
            <a:r>
              <a:rPr sz="16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before live SEC bootstrap</a:t>
            </a:r>
          </a:p>
        </p:txBody>
      </p:sp>
      <p:sp>
        <p:nvSpPr>
          <p:cNvPr id="37" name="Rounded Rectangle 36">
            <a:extLst xmlns:a="http://schemas.openxmlformats.org/drawingml/2006/main">
              <a:ext uri="{FF2B5EF4-FFF2-40B4-BE49-F238E27FC236}">
                <a16:creationId xmlns:a16="http://schemas.microsoft.com/office/drawing/2014/main" id="{D3408B2D-9DBA-4073-8ED4-FB8F05235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5552" y="3154680"/>
            <a:ext cx="329184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B0EFE214-DA02-44D3-8919-4E303C5B2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5552" y="3154680"/>
            <a:ext cx="73152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730"/>
          </a:solidFill>
          <a:ln xmlns:a="http://schemas.openxmlformats.org/drawingml/2006/main">
            <a:solidFill>
              <a:srgbClr val="E0973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7C43FBE1-93DF-4AC1-860E-9C99B4FDA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3300984"/>
            <a:ext cx="2962656" cy="271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5B6977"/>
                </a:solidFill>
                <a:latin typeface="Aptos"/>
                <a:ea typeface="Aptos"/>
                <a:cs typeface="Aptos"/>
              </a:rPr>
              <a:t>Ranking weights</a:t>
            </a: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597A7996-BE98-4484-8EEE-97DA905A5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3593592"/>
            <a:ext cx="2962656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55% vector</a:t>
            </a:r>
          </a:p>
          <a:p xmlns:a="http://schemas.openxmlformats.org/drawingml/2006/main">
            <a:pPr algn="l">
              <a:buNone/>
            </a:pPr>
            <a:r>
              <a:rPr sz="1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35% lexical | 10% metadata</a:t>
            </a:r>
          </a:p>
        </p:txBody>
      </p:sp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D27EB28F-C3F9-49C0-8197-A9FD93FFA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36592"/>
            <a:ext cx="1033272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Traceable retrieval contract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6CE9CFAB-2A0B-4B89-BBB7-576886898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74920"/>
            <a:ext cx="10149840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BF1F6"/>
          </a:solidFill>
          <a:ln xmlns:a="http://schemas.openxmlformats.org/drawingml/2006/main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17D88883-F96E-45B0-B2A0-6E4BCF0A0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193792"/>
            <a:ext cx="978408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50" b="0">
                <a:solidFill>
                  <a:srgbClr val="14202B"/>
                </a:solidFill>
                <a:latin typeface="Consolas"/>
                <a:ea typeface="Consolas"/>
                <a:cs typeface="Consolas"/>
              </a:rPr>
              <a:t>SEC ingestion stores ticker, CIK, form, filing date, accession, URL, and source sidecars.</a:t>
            </a:r>
          </a:p>
          <a:p xmlns:a="http://schemas.openxmlformats.org/drawingml/2006/main">
            <a:pPr algn="l">
              <a:buNone/>
            </a:pPr>
            <a:r>
              <a:rPr sz="1050" b="0">
                <a:solidFill>
                  <a:srgbClr val="14202B"/>
                </a:solidFill>
                <a:latin typeface="Consolas"/>
                <a:ea typeface="Consolas"/>
                <a:cs typeface="Consolas"/>
              </a:rPr>
              <a:t>FIE_SEC_USER_AGENT=FinancialIntelligenceEngine/1.0 sumeetpanda.dev@gmail.com</a:t>
            </a:r>
          </a:p>
          <a:p xmlns:a="http://schemas.openxmlformats.org/drawingml/2006/main">
            <a:pPr algn="l">
              <a:buNone/>
            </a:pPr>
            <a:r>
              <a:rPr sz="1050" b="0">
                <a:solidFill>
                  <a:srgbClr val="14202B"/>
                </a:solidFill>
                <a:latin typeface="Consolas"/>
                <a:ea typeface="Consolas"/>
                <a:cs typeface="Consolas"/>
              </a:rPr>
              <a:t>Retrieved chunks retain source metadata for citations and explainability.</a:t>
            </a:r>
          </a:p>
        </p:txBody>
      </p:sp>
      <p:sp>
        <p:nvSpPr>
          <p:cNvPr id="44" name="TextBox 43">
            <a:extLst xmlns:a="http://schemas.openxmlformats.org/drawingml/2006/main">
              <a:ext uri="{FF2B5EF4-FFF2-40B4-BE49-F238E27FC236}">
                <a16:creationId xmlns:a16="http://schemas.microsoft.com/office/drawing/2014/main" id="{389C56ED-4D20-494E-BA68-9681D3F17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7772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Financial Intelligence Engine | Phase 1 final review</a:t>
            </a:r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95C698BF-1735-4A1B-84FB-4287EE968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0" y="6473952"/>
            <a:ext cx="731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10102917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E21DD98-8656-47AB-AB3F-161FD785A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10896"/>
            <a:ext cx="4846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MULTI-AGENT DECISION FLOW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C04383D-DCC3-40F5-9A0F-0985A2380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66928"/>
            <a:ext cx="530352" cy="320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DC493C6-0AEE-4E74-AA41-621D185E6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13232"/>
            <a:ext cx="8046720" cy="4678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60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The orchestrator converts one question into parallel evidence and model tasks.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6BA2416-0044-4138-A197-4E409AC2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80467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5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Typed results, confidence scores, citations, and a final explanation keep the decision auditable.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78992A0-A754-4DAE-BE23-2C3F16E9B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4572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0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Financial Intelligence Engine | Phase 1 final review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F5B0C58-17E3-4134-AEA4-1A8C513E4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696" y="6473952"/>
            <a:ext cx="320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89647A3-A401-4224-8917-B6DD9846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5C96E83-9916-4349-9C5F-9D12E9DFB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103120"/>
            <a:ext cx="141732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User query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141E9D0-F0CC-47EE-9A80-2BCA18E99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ticker + horizon</a:t>
            </a:r>
          </a:p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question</a:t>
            </a:r>
          </a:p>
        </p:txBody>
      </p:sp>
      <p:sp>
        <p:nvSpPr>
          <p:cNvPr id="11" name="Connector 10">
            <a:extLst xmlns:a="http://schemas.openxmlformats.org/drawingml/2006/main">
              <a:ext uri="{FF2B5EF4-FFF2-40B4-BE49-F238E27FC236}">
                <a16:creationId xmlns:a16="http://schemas.microsoft.com/office/drawing/2014/main" id="{F4C45320-2615-4521-991D-076CD994B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2478024"/>
            <a:ext cx="228600" cy="0"/>
          </a:xfrm>
          <a:prstGeom xmlns:a="http://schemas.openxmlformats.org/drawingml/2006/main" prst="line">
            <a:avLst/>
          </a:prstGeom>
          <a:ln xmlns:a="http://schemas.openxmlformats.org/drawingml/2006/main" w="20320">
            <a:solidFill>
              <a:srgbClr val="117A6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F71020EB-9D4F-4D3A-A7FC-E548CC32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5B9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9AE5AEF-6714-41AE-9683-CC7AC9D90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103120"/>
            <a:ext cx="141732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Orchestrator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D5B4C73-723C-4523-A8FB-1614A7B20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28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routes tasks</a:t>
            </a:r>
          </a:p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collects results</a:t>
            </a:r>
          </a:p>
        </p:txBody>
      </p:sp>
      <p:sp>
        <p:nvSpPr>
          <p:cNvPr id="15" name="Connector 14">
            <a:extLst xmlns:a="http://schemas.openxmlformats.org/drawingml/2006/main">
              <a:ext uri="{FF2B5EF4-FFF2-40B4-BE49-F238E27FC236}">
                <a16:creationId xmlns:a16="http://schemas.microsoft.com/office/drawing/2014/main" id="{C7E17F59-41A6-4756-BDE1-B85F78200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478024"/>
            <a:ext cx="228600" cy="0"/>
          </a:xfrm>
          <a:prstGeom xmlns:a="http://schemas.openxmlformats.org/drawingml/2006/main" prst="line">
            <a:avLst/>
          </a:prstGeom>
          <a:ln xmlns:a="http://schemas.openxmlformats.org/drawingml/2006/main" w="20320">
            <a:solidFill>
              <a:srgbClr val="117A6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BA677DC8-A80A-4B6A-8A82-0D8833EF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8972876-8F76-46B9-A187-5E19F0D99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59" y="2103120"/>
            <a:ext cx="141732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Retrieval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219590FD-E98F-4695-B436-86B3E2F66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RAG evidence</a:t>
            </a:r>
          </a:p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source citations</a:t>
            </a:r>
          </a:p>
        </p:txBody>
      </p:sp>
      <p:sp>
        <p:nvSpPr>
          <p:cNvPr id="19" name="Connector 18">
            <a:extLst xmlns:a="http://schemas.openxmlformats.org/drawingml/2006/main">
              <a:ext uri="{FF2B5EF4-FFF2-40B4-BE49-F238E27FC236}">
                <a16:creationId xmlns:a16="http://schemas.microsoft.com/office/drawing/2014/main" id="{946F74FF-816E-4C68-BE83-C10C18F8A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2478024"/>
            <a:ext cx="228600" cy="0"/>
          </a:xfrm>
          <a:prstGeom xmlns:a="http://schemas.openxmlformats.org/drawingml/2006/main" prst="line">
            <a:avLst/>
          </a:prstGeom>
          <a:ln xmlns:a="http://schemas.openxmlformats.org/drawingml/2006/main" w="20320">
            <a:solidFill>
              <a:srgbClr val="117A6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3258365-A023-469D-B0AF-96D141B7D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5B9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2D212894-AEE3-4AF2-923D-8601B096F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79" y="2103120"/>
            <a:ext cx="141732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Signals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50A180B-B48C-462A-8F3A-D04B5A606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sentiment</a:t>
            </a:r>
          </a:p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risk + forecast</a:t>
            </a:r>
          </a:p>
        </p:txBody>
      </p:sp>
      <p:sp>
        <p:nvSpPr>
          <p:cNvPr id="23" name="Connector 22">
            <a:extLst xmlns:a="http://schemas.openxmlformats.org/drawingml/2006/main">
              <a:ext uri="{FF2B5EF4-FFF2-40B4-BE49-F238E27FC236}">
                <a16:creationId xmlns:a16="http://schemas.microsoft.com/office/drawing/2014/main" id="{5F85DFC5-1E20-425A-BC6F-E462167DB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2478024"/>
            <a:ext cx="228600" cy="0"/>
          </a:xfrm>
          <a:prstGeom xmlns:a="http://schemas.openxmlformats.org/drawingml/2006/main" prst="line">
            <a:avLst/>
          </a:prstGeom>
          <a:ln xmlns:a="http://schemas.openxmlformats.org/drawingml/2006/main" w="20320">
            <a:solidFill>
              <a:srgbClr val="117A6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8F255F51-9940-4570-96BF-3F17E2D87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59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6DC20D06-9C61-4D39-A37E-4CAB9AE2F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0999" y="2103120"/>
            <a:ext cx="141732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Decision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9DF2AE2A-858B-48C2-9787-0A065C63E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9287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weighted synthesis</a:t>
            </a:r>
          </a:p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Buy / Hold / Sell</a:t>
            </a:r>
          </a:p>
        </p:txBody>
      </p:sp>
      <p:sp>
        <p:nvSpPr>
          <p:cNvPr id="27" name="Connector 26">
            <a:extLst xmlns:a="http://schemas.openxmlformats.org/drawingml/2006/main">
              <a:ext uri="{FF2B5EF4-FFF2-40B4-BE49-F238E27FC236}">
                <a16:creationId xmlns:a16="http://schemas.microsoft.com/office/drawing/2014/main" id="{D909458E-4F97-4F57-94C6-B34B6A439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59" y="2478024"/>
            <a:ext cx="228600" cy="0"/>
          </a:xfrm>
          <a:prstGeom xmlns:a="http://schemas.openxmlformats.org/drawingml/2006/main" prst="line">
            <a:avLst/>
          </a:prstGeom>
          <a:ln xmlns:a="http://schemas.openxmlformats.org/drawingml/2006/main" w="20320">
            <a:solidFill>
              <a:srgbClr val="117A6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6001313F-7EB7-4078-9E9E-138E2B673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5B9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D925285D-52C8-43D9-AF10-6D1DBB041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19" y="2103120"/>
            <a:ext cx="141732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Explain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23D0FDE9-6128-43C5-8A6E-4AB50B948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3807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drivers, confidence</a:t>
            </a:r>
          </a:p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limitations</a:t>
            </a:r>
          </a:p>
        </p:txBody>
      </p:sp>
      <p:sp>
        <p:nvSpPr>
          <p:cNvPr id="31" name="Rounded Rectangle 30">
            <a:extLst xmlns:a="http://schemas.openxmlformats.org/drawingml/2006/main">
              <a:ext uri="{FF2B5EF4-FFF2-40B4-BE49-F238E27FC236}">
                <a16:creationId xmlns:a16="http://schemas.microsoft.com/office/drawing/2014/main" id="{7155E6FB-B27F-4F22-AAEA-FE780A081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03320"/>
            <a:ext cx="3383280" cy="13258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31303E1F-E6BC-444C-8D84-2071F6D62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822191"/>
            <a:ext cx="307238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Shared AgentResult contract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9EFC2BD6-48BF-4D7B-BF81-A0C1AD46E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142231"/>
            <a:ext cx="3072384" cy="8229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Every agent returns status, score, confidence, evidence, and errors through a consistent schema.</a:t>
            </a:r>
          </a:p>
        </p:txBody>
      </p:sp>
      <p:sp>
        <p:nvSpPr>
          <p:cNvPr id="34" name="Rounded Rectangle 33">
            <a:extLst xmlns:a="http://schemas.openxmlformats.org/drawingml/2006/main">
              <a:ext uri="{FF2B5EF4-FFF2-40B4-BE49-F238E27FC236}">
                <a16:creationId xmlns:a16="http://schemas.microsoft.com/office/drawing/2014/main" id="{48129C2A-F1A7-41C1-88FE-1F9D8F78C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703320"/>
            <a:ext cx="3383280" cy="13258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C988E3A0-2262-458D-9048-AE80EFCFE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3822191"/>
            <a:ext cx="307238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Parallel specialist execution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807BC573-EF31-4994-93CC-646F2B7CD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4142231"/>
            <a:ext cx="3072384" cy="8229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Retriever, Sentiment, Risk, and Forecast agents run under one orchestrated request.</a:t>
            </a:r>
          </a:p>
        </p:txBody>
      </p:sp>
      <p:sp>
        <p:nvSpPr>
          <p:cNvPr id="37" name="Rounded Rectangle 36">
            <a:extLst xmlns:a="http://schemas.openxmlformats.org/drawingml/2006/main">
              <a:ext uri="{FF2B5EF4-FFF2-40B4-BE49-F238E27FC236}">
                <a16:creationId xmlns:a16="http://schemas.microsoft.com/office/drawing/2014/main" id="{B344A3A7-76F5-49BD-8A45-053E19086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79" y="3703320"/>
            <a:ext cx="2834640" cy="13258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9DE36345-9569-49B1-801E-D52C559B2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7" y="3822191"/>
            <a:ext cx="252374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Auditable final report</a:t>
            </a: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4E4E7544-F973-4586-8A6A-43B55714E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7" y="4142231"/>
            <a:ext cx="2523744" cy="8229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Decision and Explainability agents preserve citations, model metrics, drivers, and disclaimers.</a:t>
            </a:r>
          </a:p>
        </p:txBody>
      </p:sp>
    </p:spTree>
    <p:extLst>
      <p:ext uri="{BB962C8B-B14F-4D97-AF65-F5344CB8AC3E}">
        <p14:creationId xmlns:p14="http://schemas.microsoft.com/office/powerpoint/2010/main" val="165555990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ECD7218-58DD-4E3C-9F91-9817C531D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10896"/>
            <a:ext cx="4846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CLOUD DELIVERY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6DBF8E3-3768-4F17-96BB-2B2ECC931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66928"/>
            <a:ext cx="530352" cy="320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2234D6C-B204-4885-A735-50B2CDEA4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13232"/>
            <a:ext cx="8046720" cy="2831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60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The same Phase 1 application now runs from GitHub to a public Render service.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9C138BF-D1C1-436F-AF82-C836015E1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80467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5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Docker, bootstrap assets, environment variables, and health checks make the demo reproducible.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F324433-CBA6-4F9F-89EE-515F36641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4572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0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Financial Intelligence Engine | Phase 1 final review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B03C45B-D3BE-4644-BD4F-8234AF6E9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696" y="6473952"/>
            <a:ext cx="320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96FD1D4-E93D-422F-95E6-42E8A88C8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37360"/>
            <a:ext cx="3657600" cy="19659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1B6988B-B953-4C75-9FCB-50C2E759B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856231"/>
            <a:ext cx="334670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1. Source and build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3536E12-6CBB-42BF-95D0-DE15E20FE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2115609"/>
            <a:ext cx="3346704" cy="146303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GitHub main triggers deployment.</a:t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Docker packages the Python stack, frontend, API, models, and RAG assets.</a:t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Phase 1 upgrade commit: 0aa832f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F82C4255-132C-4006-9681-7F6C91AAC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737360"/>
            <a:ext cx="2880360" cy="19659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9094C96-1AFA-4A84-B556-385E2B443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1856231"/>
            <a:ext cx="256946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2. Runtime bootstrap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443B394-DED6-4E81-B0AE-E6BF9C38A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8" y="2176272"/>
            <a:ext cx="2569464" cy="146303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Startup attempts real 20-company data, models, and RAG.</a:t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Bundled assets restore the demo when market sources are unavailable.</a:t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Render Free storage is ephemeral.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809C3C9-CDED-4211-8AB4-4F7A74ED3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9248" y="1737360"/>
            <a:ext cx="3337560" cy="35661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8CD2462-E170-4DC6-B68B-F0C4497C6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4696" y="1856231"/>
            <a:ext cx="302666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3. Cloud configuration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697D953-5C62-4272-9921-F0F60D87C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7264" y="2519172"/>
            <a:ext cx="3026664" cy="306323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Required:</a:t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FIE_SEC_USER_AGENT</a:t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GenAI:</a:t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FIE_GENAI_PROVIDER=openai</a:t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FIE_GENAI_MODEL</a:t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OPENAI_API_KEY</a:t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Local answer fallback remains available.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9770320-490C-4687-BA1A-FC139B1CD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800600"/>
            <a:ext cx="66294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500"/>
              </a:spcAft>
              <a:buNone/>
              <a:defRPr sz="1150">
                <a:solidFill>
                  <a:srgbClr val="122026"/>
                </a:solidFill>
                <a:latin typeface="Aptos"/>
                <a:ea typeface="Aptos"/>
                <a:cs typeface="Aptos"/>
              </a:defRPr>
            </a:pPr>
            <a:r>
              <a:t>Delivery: GitHub -&gt; Docker -&gt; bootstrap data/models/RAG -&gt; FastAPI + frontend -&gt; Render HTTPS.</a:t>
            </a:r>
          </a:p>
          <a:p xmlns:a="http://schemas.openxmlformats.org/drawingml/2006/main">
            <a:pPr>
              <a:spcAft>
                <a:spcPts val="500"/>
              </a:spcAft>
              <a:buNone/>
              <a:defRPr sz="1150">
                <a:solidFill>
                  <a:srgbClr val="122026"/>
                </a:solidFill>
                <a:latin typeface="Aptos"/>
                <a:ea typeface="Aptos"/>
                <a:cs typeface="Aptos"/>
              </a:defRPr>
            </a:pPr>
            <a:r>
              <a:t>Verification: 14 tests passed | setup verification 5/5 | /health endpoint available.</a:t>
            </a:r>
          </a:p>
        </p:txBody>
      </p:sp>
    </p:spTree>
    <p:extLst>
      <p:ext uri="{BB962C8B-B14F-4D97-AF65-F5344CB8AC3E}">
        <p14:creationId xmlns:p14="http://schemas.microsoft.com/office/powerpoint/2010/main" val="214590679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6EB4878-B34E-448A-A780-B888F7392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"/>
            <a:ext cx="2194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 b="1">
                <a:solidFill>
                  <a:srgbClr val="31B3BE"/>
                </a:solidFill>
                <a:latin typeface="Aptos"/>
                <a:ea typeface="Aptos"/>
                <a:cs typeface="Aptos"/>
              </a:rPr>
              <a:t>FINAL DEMO PATH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BE84FC4-32C0-4918-9DC1-A6F6C45CD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0424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The final walkthrough proves scale, grounding, model honesty, and cloud delivery.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68616E8-A70B-4182-949F-BC9E6F477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60120"/>
            <a:ext cx="9875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Each step has visible evidence in the deployed interface or generated report.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BEFAC10-8A32-4C9B-8860-3E39AEF82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98448"/>
            <a:ext cx="10881360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0E8"/>
          </a:solidFill>
          <a:ln xmlns:a="http://schemas.openxmlformats.org/drawingml/2006/main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Oval 5">
            <a:extLst xmlns:a="http://schemas.openxmlformats.org/drawingml/2006/main">
              <a:ext uri="{FF2B5EF4-FFF2-40B4-BE49-F238E27FC236}">
                <a16:creationId xmlns:a16="http://schemas.microsoft.com/office/drawing/2014/main" id="{E727386C-3617-4BB1-B1AE-28F8A2072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61848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7B8"/>
          </a:solidFill>
          <a:ln xmlns:a="http://schemas.openxmlformats.org/drawingml/2006/main">
            <a:solidFill>
              <a:srgbClr val="2477B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EC28AD2-3740-43E7-BF71-4AB0DD551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691640"/>
            <a:ext cx="384048" cy="225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5CA5F2D-534F-4675-A4A8-0A165E72F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1572768"/>
            <a:ext cx="2057400" cy="271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Open deployed dashboard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C28C529-B3E0-478D-BB4F-A1723D258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572768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0">
                <a:solidFill>
                  <a:srgbClr val="2477B8"/>
                </a:solidFill>
                <a:latin typeface="Consolas"/>
                <a:ea typeface="Consolas"/>
                <a:cs typeface="Consolas"/>
              </a:rPr>
              <a:t>Render service URL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17D6F73-917D-4852-A767-8F6F67F1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1572768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19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Confirm the frontend loads and /health reports ready.</a:t>
            </a:r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4065B1E8-B27D-49CC-ACA9-C511C9A74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386584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7B8"/>
          </a:solidFill>
          <a:ln xmlns:a="http://schemas.openxmlformats.org/drawingml/2006/main">
            <a:solidFill>
              <a:srgbClr val="2477B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12FC247-A695-4050-94EE-7F7E82346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459736"/>
            <a:ext cx="384048" cy="225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8D6FBD9-F83E-4F5D-AFA6-A52FCB2C7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2340864"/>
            <a:ext cx="2057400" cy="271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Verify data scale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67841A72-6C6C-4112-A7DF-75BD2B99D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340864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0">
                <a:solidFill>
                  <a:srgbClr val="2477B8"/>
                </a:solidFill>
                <a:latin typeface="Consolas"/>
                <a:ea typeface="Consolas"/>
                <a:cs typeface="Consolas"/>
              </a:rPr>
              <a:t>Overview and company search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351E54F-037A-4A12-B1F2-DF0674401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2340864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19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Show 10K universe, 20-company cohort, and observed OHLCV.</a:t>
            </a:r>
          </a:p>
        </p:txBody>
      </p:sp>
      <p:sp>
        <p:nvSpPr>
          <p:cNvPr id="16" name="Oval 15">
            <a:extLst xmlns:a="http://schemas.openxmlformats.org/drawingml/2006/main">
              <a:ext uri="{FF2B5EF4-FFF2-40B4-BE49-F238E27FC236}">
                <a16:creationId xmlns:a16="http://schemas.microsoft.com/office/drawing/2014/main" id="{94DEA752-CFCD-41BC-A36B-9D3F650E9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154679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7B8"/>
          </a:solidFill>
          <a:ln xmlns:a="http://schemas.openxmlformats.org/drawingml/2006/main">
            <a:solidFill>
              <a:srgbClr val="2477B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D355559A-FC4A-4252-9374-DB402D181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227832"/>
            <a:ext cx="384048" cy="225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F730D2E7-611A-449A-9C42-839522389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3108960"/>
            <a:ext cx="2057400" cy="271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Ask a grounded question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BCCB94E-5113-40C7-A12D-37A6F76C2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3108960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0">
                <a:solidFill>
                  <a:srgbClr val="2477B8"/>
                </a:solidFill>
                <a:latin typeface="Consolas"/>
                <a:ea typeface="Consolas"/>
                <a:cs typeface="Consolas"/>
              </a:rPr>
              <a:t>Ask tab: AAPL risk, outlook, and evidence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8CD3FFD-228D-4536-B919-50B7FE643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3108960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19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Inspect retrieved sources, scores, confidence, and citations.</a:t>
            </a:r>
          </a:p>
        </p:txBody>
      </p:sp>
      <p:sp>
        <p:nvSpPr>
          <p:cNvPr id="21" name="Oval 20">
            <a:extLst xmlns:a="http://schemas.openxmlformats.org/drawingml/2006/main">
              <a:ext uri="{FF2B5EF4-FFF2-40B4-BE49-F238E27FC236}">
                <a16:creationId xmlns:a16="http://schemas.microsoft.com/office/drawing/2014/main" id="{85FE944D-1A56-497F-932B-A231642B5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922776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7B8"/>
          </a:solidFill>
          <a:ln xmlns:a="http://schemas.openxmlformats.org/drawingml/2006/main">
            <a:solidFill>
              <a:srgbClr val="2477B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6A99F14-B2AD-4939-88B4-2EF22D100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995928"/>
            <a:ext cx="384048" cy="225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0306DC32-103C-44F3-AFB1-F40F44718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3877056"/>
            <a:ext cx="2057400" cy="271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Inspect model evidence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A761EA9F-56DD-4A08-876A-2A61F183B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387705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0">
                <a:solidFill>
                  <a:srgbClr val="2477B8"/>
                </a:solidFill>
                <a:latin typeface="Consolas"/>
                <a:ea typeface="Consolas"/>
                <a:cs typeface="Consolas"/>
              </a:rPr>
              <a:t>Risk and forecast metrics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22436ABF-FDFE-4B67-940A-360CD52E8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3877056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19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Explain chronological split and the disclosed forecast limitation.</a:t>
            </a:r>
          </a:p>
        </p:txBody>
      </p:sp>
      <p:sp>
        <p:nvSpPr>
          <p:cNvPr id="26" name="Oval 25">
            <a:extLst xmlns:a="http://schemas.openxmlformats.org/drawingml/2006/main">
              <a:ext uri="{FF2B5EF4-FFF2-40B4-BE49-F238E27FC236}">
                <a16:creationId xmlns:a16="http://schemas.microsoft.com/office/drawing/2014/main" id="{A6452CB8-BB33-4C85-85A3-7EB10AA5C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690872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7B8"/>
          </a:solidFill>
          <a:ln xmlns:a="http://schemas.openxmlformats.org/drawingml/2006/main">
            <a:solidFill>
              <a:srgbClr val="2477B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606950B1-02A9-4911-9AAB-E43D42A13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764024"/>
            <a:ext cx="384048" cy="225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445EE26E-5649-430A-A024-1803FE54A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4645152"/>
            <a:ext cx="2057400" cy="271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Show end-to-end report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306D97DF-46EC-4FC5-829E-2824F832B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4645152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0">
                <a:solidFill>
                  <a:srgbClr val="2477B8"/>
                </a:solidFill>
                <a:latin typeface="Consolas"/>
                <a:ea typeface="Consolas"/>
                <a:cs typeface="Consolas"/>
              </a:rPr>
              <a:t>Agent trace and final recommendation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F0DED2C2-F4E9-4F6F-B035-1A3E438F7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4645152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19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Decision, explanation, drivers, evidence, and disclaimer.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0A7A7792-34FD-4F24-819C-91460EDA5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5596128"/>
            <a:ext cx="101498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Final review evidence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01BDE019-A953-4B3D-8C58-65FD2D5A7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5925312"/>
            <a:ext cx="100584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BF1F6"/>
          </a:solidFill>
          <a:ln xmlns:a="http://schemas.openxmlformats.org/drawingml/2006/main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2F490250-6D37-49EE-AAFB-6DD33D4A3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6016752"/>
            <a:ext cx="9738360" cy="2179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0">
                <a:solidFill>
                  <a:srgbClr val="14202B"/>
                </a:solidFill>
                <a:latin typeface="Consolas"/>
                <a:ea typeface="Consolas"/>
                <a:cs typeface="Consolas"/>
              </a:rPr>
              <a:t>10K universe | 25,480 OHLCV rows | 511 RAG chunks | 14 tests passed | Render deployed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55C3DAAF-7CA0-4246-8466-4A691CF1B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7772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Financial Intelligence Engine | Phase 1 final review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4DC25BB2-484D-4B73-B5C2-CBE6608A2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0" y="6473952"/>
            <a:ext cx="731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64365081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FC40B8C-19B7-4F78-8CDB-80F2F87D2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"/>
            <a:ext cx="2194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 b="1">
                <a:solidFill>
                  <a:srgbClr val="31B3BE"/>
                </a:solidFill>
                <a:latin typeface="Aptos"/>
                <a:ea typeface="Aptos"/>
                <a:cs typeface="Aptos"/>
              </a:rPr>
              <a:t>PHASE 2 REVIEW 1 UPDATE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97D2B94-7D19-4273-B302-06FC6CB67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0424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The first Phase 2 fix closes the highest-risk demo gap: hallucinated investment advice.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243744F-AECA-46F0-8AA9-E900B1A6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60120"/>
            <a:ext cx="9875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A broad $5000 investment question now stays grounded in agent outputs, scoring rules, and conservative allocation guardrails.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F477BEB-A6EC-4E72-BD70-099FCB29C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98448"/>
            <a:ext cx="10881360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0E8"/>
          </a:solidFill>
          <a:ln xmlns:a="http://schemas.openxmlformats.org/drawingml/2006/main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081877BF-8ECD-4443-A289-1406DBFCE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828800"/>
            <a:ext cx="160020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420703B-6CEF-40CB-B476-646172972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" y="1984248"/>
            <a:ext cx="14538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Demo issue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0A2C6D2-B17A-4A8E-9EAB-B01E5A1E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" y="2267712"/>
            <a:ext cx="1453896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$5000 ask</a:t>
            </a:r>
          </a:p>
        </p:txBody>
      </p:sp>
      <p:sp>
        <p:nvSpPr>
          <p:cNvPr id="9" name="Right Arrow 8">
            <a:extLst xmlns:a="http://schemas.openxmlformats.org/drawingml/2006/main">
              <a:ext uri="{FF2B5EF4-FFF2-40B4-BE49-F238E27FC236}">
                <a16:creationId xmlns:a16="http://schemas.microsoft.com/office/drawing/2014/main" id="{8DA33419-0981-4171-82BF-0D42E32C7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39" y="2093976"/>
            <a:ext cx="201168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B3BE"/>
          </a:solidFill>
          <a:ln xmlns:a="http://schemas.openxmlformats.org/drawingml/2006/main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8601671-EFB9-47A7-AF06-8456F244D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1828800"/>
            <a:ext cx="160020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0AEB92D-D3DA-47F5-9A5D-7413C8EB9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2304" y="1984248"/>
            <a:ext cx="14538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Risk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E2EEFE7-E918-4EE7-B4E8-BA448E12E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2304" y="2267712"/>
            <a:ext cx="1453896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LLM drift</a:t>
            </a:r>
          </a:p>
        </p:txBody>
      </p:sp>
      <p:sp>
        <p:nvSpPr>
          <p:cNvPr id="13" name="Right Arrow 12">
            <a:extLst xmlns:a="http://schemas.openxmlformats.org/drawingml/2006/main">
              <a:ext uri="{FF2B5EF4-FFF2-40B4-BE49-F238E27FC236}">
                <a16:creationId xmlns:a16="http://schemas.microsoft.com/office/drawing/2014/main" id="{16B57069-F367-4DBD-9DFC-BC3382C6A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5072" y="2093976"/>
            <a:ext cx="201168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B3BE"/>
          </a:solidFill>
          <a:ln xmlns:a="http://schemas.openxmlformats.org/drawingml/2006/main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DC0B8DA7-D086-4DEF-BB7B-5D810B935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5384" y="1828800"/>
            <a:ext cx="160020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480D1D8-8A76-4FE6-9E0F-40D85F51D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536" y="1984248"/>
            <a:ext cx="14538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Fix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26370DFA-05F4-4BAC-A31F-D6FDA5927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536" y="2267712"/>
            <a:ext cx="1453896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strict mode</a:t>
            </a:r>
          </a:p>
        </p:txBody>
      </p:sp>
      <p:sp>
        <p:nvSpPr>
          <p:cNvPr id="17" name="Right Arrow 16">
            <a:extLst xmlns:a="http://schemas.openxmlformats.org/drawingml/2006/main">
              <a:ext uri="{FF2B5EF4-FFF2-40B4-BE49-F238E27FC236}">
                <a16:creationId xmlns:a16="http://schemas.microsoft.com/office/drawing/2014/main" id="{8A78BE2D-DB33-403D-AD2D-CB4D3B68C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304" y="2093976"/>
            <a:ext cx="201168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B3BE"/>
          </a:solidFill>
          <a:ln xmlns:a="http://schemas.openxmlformats.org/drawingml/2006/main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3B8B92F9-E7CD-4538-9513-8100FF2FD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1616" y="1828800"/>
            <a:ext cx="160020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62C0A91-17E7-4C03-AAC5-BFAD2A946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1984248"/>
            <a:ext cx="14538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4ACF513-0A01-40BC-B885-646F71732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2267712"/>
            <a:ext cx="1453896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agent signals</a:t>
            </a:r>
          </a:p>
        </p:txBody>
      </p:sp>
      <p:sp>
        <p:nvSpPr>
          <p:cNvPr id="21" name="Right Arrow 20">
            <a:extLst xmlns:a="http://schemas.openxmlformats.org/drawingml/2006/main">
              <a:ext uri="{FF2B5EF4-FFF2-40B4-BE49-F238E27FC236}">
                <a16:creationId xmlns:a16="http://schemas.microsoft.com/office/drawing/2014/main" id="{A2A0353D-7B76-4DC7-BD5E-465D2A159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2093976"/>
            <a:ext cx="201168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B3BE"/>
          </a:solidFill>
          <a:ln xmlns:a="http://schemas.openxmlformats.org/drawingml/2006/main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E2EAA26E-0382-4198-B3A6-4C787981E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848" y="1828800"/>
            <a:ext cx="160020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4A4647F8-97C8-44A6-B41C-7F687CC8F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84248"/>
            <a:ext cx="14538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Guardrails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79E14A5D-FC2D-4E99-A788-1AF858649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67712"/>
            <a:ext cx="1453896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reserve + filters</a:t>
            </a:r>
          </a:p>
        </p:txBody>
      </p:sp>
      <p:sp>
        <p:nvSpPr>
          <p:cNvPr id="25" name="Right Arrow 24">
            <a:extLst xmlns:a="http://schemas.openxmlformats.org/drawingml/2006/main">
              <a:ext uri="{FF2B5EF4-FFF2-40B4-BE49-F238E27FC236}">
                <a16:creationId xmlns:a16="http://schemas.microsoft.com/office/drawing/2014/main" id="{E7DAC74E-A6DA-4DA5-A262-847A3E31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3768" y="2093976"/>
            <a:ext cx="201168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1B3BE"/>
          </a:solidFill>
          <a:ln xmlns:a="http://schemas.openxmlformats.org/drawingml/2006/main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17E6D26F-F175-4BC5-90C9-F33F63E74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1828800"/>
            <a:ext cx="160020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31B3B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F9D340BC-B28F-4D0D-AB0C-7EBFC2A74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7232" y="1984248"/>
            <a:ext cx="14538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Proof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35948131-AB4A-44AC-9748-0CC004E32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7232" y="2267712"/>
            <a:ext cx="1453896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16 tests passed</a:t>
            </a:r>
          </a:p>
        </p:txBody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BF173D00-D5E6-463E-B66F-8F16D5500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154680"/>
            <a:ext cx="329184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10BE7CF0-6D39-4CD2-9C24-4C05F3E8C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154680"/>
            <a:ext cx="73152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9778"/>
          </a:solidFill>
          <a:ln xmlns:a="http://schemas.openxmlformats.org/drawingml/2006/main">
            <a:solidFill>
              <a:srgbClr val="20977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8CBA4D5A-7236-47D5-A10B-28E6E4945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300984"/>
            <a:ext cx="2962656" cy="271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5B6977"/>
                </a:solidFill>
                <a:latin typeface="Aptos"/>
                <a:ea typeface="Aptos"/>
                <a:cs typeface="Aptos"/>
              </a:rPr>
              <a:t>Issue observed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7DECF1FC-238C-4322-A5AC-98F8B134B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593592"/>
            <a:ext cx="2962656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Phase 1 demo</a:t>
            </a:r>
          </a:p>
          <a:p xmlns:a="http://schemas.openxmlformats.org/drawingml/2006/main">
            <a:pPr algn="l">
              <a:buNone/>
            </a:pPr>
            <a:r>
              <a:rPr sz="1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broad investment question</a:t>
            </a:r>
          </a:p>
        </p:txBody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854B969F-9139-41E2-9140-D56A0B562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3154680"/>
            <a:ext cx="329184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F20D0319-4133-4D9B-95A0-4ACFB1296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60" y="3154680"/>
            <a:ext cx="73152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7B8"/>
          </a:solidFill>
          <a:ln xmlns:a="http://schemas.openxmlformats.org/drawingml/2006/main">
            <a:solidFill>
              <a:srgbClr val="2477B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2D86A8D4-8566-4920-B864-B251F952B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3128" y="3300984"/>
            <a:ext cx="2962656" cy="271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5B6977"/>
                </a:solidFill>
                <a:latin typeface="Aptos"/>
                <a:ea typeface="Aptos"/>
                <a:cs typeface="Aptos"/>
              </a:rPr>
              <a:t>Fix committed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C4F8B1C1-093A-47CB-9A31-9ECA83048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3128" y="3593592"/>
            <a:ext cx="2962656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fe8679b</a:t>
            </a:r>
          </a:p>
          <a:p xmlns:a="http://schemas.openxmlformats.org/drawingml/2006/main">
            <a:pPr algn="l">
              <a:buNone/>
            </a:pPr>
            <a:r>
              <a:rPr sz="16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origin/main</a:t>
            </a:r>
          </a:p>
        </p:txBody>
      </p:sp>
      <p:sp>
        <p:nvSpPr>
          <p:cNvPr id="37" name="Rounded Rectangle 36">
            <a:extLst xmlns:a="http://schemas.openxmlformats.org/drawingml/2006/main">
              <a:ext uri="{FF2B5EF4-FFF2-40B4-BE49-F238E27FC236}">
                <a16:creationId xmlns:a16="http://schemas.microsoft.com/office/drawing/2014/main" id="{D3408B2D-9DBA-4073-8ED4-FB8F05235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5552" y="3154680"/>
            <a:ext cx="3291840" cy="12344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B0EFE214-DA02-44D3-8919-4E303C5B2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5552" y="3154680"/>
            <a:ext cx="73152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9730"/>
          </a:solidFill>
          <a:ln xmlns:a="http://schemas.openxmlformats.org/drawingml/2006/main">
            <a:solidFill>
              <a:srgbClr val="E0973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7C43FBE1-93DF-4AC1-860E-9C99B4FDA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3300984"/>
            <a:ext cx="2962656" cy="271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5B6977"/>
                </a:solidFill>
                <a:latin typeface="Aptos"/>
                <a:ea typeface="Aptos"/>
                <a:cs typeface="Aptos"/>
              </a:rPr>
              <a:t>Review message</a:t>
            </a: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597A7996-BE98-4484-8EEE-97DA905A5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3593592"/>
            <a:ext cx="2962656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Phase 2 starts</a:t>
            </a:r>
          </a:p>
          <a:p xmlns:a="http://schemas.openxmlformats.org/drawingml/2006/main">
            <a:pPr algn="l">
              <a:buNone/>
            </a:pPr>
            <a:r>
              <a:rPr sz="1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with reliability</a:t>
            </a:r>
          </a:p>
        </p:txBody>
      </p:sp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D27EB28F-C3F9-49C0-8197-A9FD93FFA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36592"/>
            <a:ext cx="10332720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What changed</a:t>
            </a: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6CE9CFAB-2A0B-4B89-BBB7-576886898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74920"/>
            <a:ext cx="10149840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BF1F6"/>
          </a:solidFill>
          <a:ln xmlns:a="http://schemas.openxmlformats.org/drawingml/2006/main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17D88883-F96E-45B0-B2A0-6E4BCF0A0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193792"/>
            <a:ext cx="978408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50" b="0">
                <a:solidFill>
                  <a:srgbClr val="14202B"/>
                </a:solidFill>
                <a:latin typeface="Consolas"/>
                <a:ea typeface="Consolas"/>
                <a:cs typeface="Consolas"/>
              </a:rPr>
              <a:t>Budget questions now bypass free GenAI rewriting. The report shows candidate selection, scoring logic, Sell exclusion, and reserve handling.</a:t>
            </a:r>
          </a:p>
          <a:p xmlns:a="http://schemas.openxmlformats.org/drawingml/2006/main">
            <a:pPr algn="l">
              <a:buNone/>
            </a:pPr>
            <a:r>
              <a:rPr sz="1050" b="0">
                <a:solidFill>
                  <a:srgbClr val="14202B"/>
                </a:solidFill>
                <a:latin typeface="Consolas"/>
                <a:ea typeface="Consolas"/>
                <a:cs typeface="Consolas"/>
              </a:rPr>
              <a:t>Mentor-visible improvement: the system explains its reasoning instead of hallucinating advice.</a:t>
            </a:r>
          </a:p>
        </p:txBody>
      </p:sp>
      <p:sp>
        <p:nvSpPr>
          <p:cNvPr id="44" name="TextBox 43">
            <a:extLst xmlns:a="http://schemas.openxmlformats.org/drawingml/2006/main">
              <a:ext uri="{FF2B5EF4-FFF2-40B4-BE49-F238E27FC236}">
                <a16:creationId xmlns:a16="http://schemas.microsoft.com/office/drawing/2014/main" id="{389C56ED-4D20-494E-BA68-9681D3F17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7772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Financial Intelligence Engine | Phase 2 Review 1</a:t>
            </a:r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95C698BF-1735-4A1B-84FB-4287EE968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0" y="6473952"/>
            <a:ext cx="731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10102917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E21DD98-8656-47AB-AB3F-161FD785A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10896"/>
            <a:ext cx="48463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GROUNDED ASK FLOW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C04383D-DCC3-40F5-9A0F-0985A2380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66928"/>
            <a:ext cx="530352" cy="320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DC493C6-0AEE-4E74-AA41-621D185E6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713232"/>
            <a:ext cx="8046720" cy="4678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600" b="1">
                <a:solidFill>
                  <a:srgbClr val="122026"/>
                </a:solidFill>
                <a:latin typeface="Aptos"/>
                <a:ea typeface="Aptos"/>
                <a:cs typeface="Aptos"/>
              </a:rPr>
              <a:t>The Ask workflow is now deterministic for budget questions and auditable for mentor review.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6BA2416-0044-4138-A197-4E409AC2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80467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5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The final answer can explain why it suggested a stock, why it kept reserve cash, and which model signals drove the decision.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78992A0-A754-4DAE-BE23-2C3F16E9B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45720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80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Financial Intelligence Engine | Phase 2 Review 1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F5B0C58-17E3-4134-AEA4-1A8C513E4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696" y="6473952"/>
            <a:ext cx="320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0">
                <a:solidFill>
                  <a:srgbClr val="5B6970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89647A3-A401-4224-8917-B6DD9846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5C96E83-9916-4349-9C5F-9D12E9DFB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103120"/>
            <a:ext cx="141732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User asks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141E9D0-F0CC-47EE-9A80-2BCA18E99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$5000 + why</a:t>
            </a:r>
          </a:p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investment query</a:t>
            </a:r>
          </a:p>
        </p:txBody>
      </p:sp>
      <p:sp>
        <p:nvSpPr>
          <p:cNvPr id="11" name="Connector 10">
            <a:extLst xmlns:a="http://schemas.openxmlformats.org/drawingml/2006/main">
              <a:ext uri="{FF2B5EF4-FFF2-40B4-BE49-F238E27FC236}">
                <a16:creationId xmlns:a16="http://schemas.microsoft.com/office/drawing/2014/main" id="{F4C45320-2615-4521-991D-076CD994B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2478024"/>
            <a:ext cx="228600" cy="0"/>
          </a:xfrm>
          <a:prstGeom xmlns:a="http://schemas.openxmlformats.org/drawingml/2006/main" prst="line">
            <a:avLst/>
          </a:prstGeom>
          <a:ln xmlns:a="http://schemas.openxmlformats.org/drawingml/2006/main" w="20320">
            <a:solidFill>
              <a:srgbClr val="117A6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F71020EB-9D4F-4D3A-A7FC-E548CC32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5B9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9AE5AEF-6714-41AE-9683-CC7AC9D90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103120"/>
            <a:ext cx="141732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Orchestrator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D5B4C73-723C-4523-A8FB-1614A7B20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5728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selects valid</a:t>
            </a:r>
          </a:p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candidate tickers</a:t>
            </a:r>
          </a:p>
        </p:txBody>
      </p:sp>
      <p:sp>
        <p:nvSpPr>
          <p:cNvPr id="15" name="Connector 14">
            <a:extLst xmlns:a="http://schemas.openxmlformats.org/drawingml/2006/main">
              <a:ext uri="{FF2B5EF4-FFF2-40B4-BE49-F238E27FC236}">
                <a16:creationId xmlns:a16="http://schemas.microsoft.com/office/drawing/2014/main" id="{C7E17F59-41A6-4756-BDE1-B85F78200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478024"/>
            <a:ext cx="228600" cy="0"/>
          </a:xfrm>
          <a:prstGeom xmlns:a="http://schemas.openxmlformats.org/drawingml/2006/main" prst="line">
            <a:avLst/>
          </a:prstGeom>
          <a:ln xmlns:a="http://schemas.openxmlformats.org/drawingml/2006/main" w="20320">
            <a:solidFill>
              <a:srgbClr val="117A6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BA677DC8-A80A-4B6A-8A82-0D8833EF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8972876-8F76-46B9-A187-5E19F0D99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59" y="2103120"/>
            <a:ext cx="141732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Strict mode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219590FD-E98F-4695-B436-86B3E2F66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0248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blocks free</a:t>
            </a:r>
          </a:p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LLM rewrite</a:t>
            </a:r>
          </a:p>
        </p:txBody>
      </p:sp>
      <p:sp>
        <p:nvSpPr>
          <p:cNvPr id="19" name="Connector 18">
            <a:extLst xmlns:a="http://schemas.openxmlformats.org/drawingml/2006/main">
              <a:ext uri="{FF2B5EF4-FFF2-40B4-BE49-F238E27FC236}">
                <a16:creationId xmlns:a16="http://schemas.microsoft.com/office/drawing/2014/main" id="{946F74FF-816E-4C68-BE83-C10C18F8A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2478024"/>
            <a:ext cx="228600" cy="0"/>
          </a:xfrm>
          <a:prstGeom xmlns:a="http://schemas.openxmlformats.org/drawingml/2006/main" prst="line">
            <a:avLst/>
          </a:prstGeom>
          <a:ln xmlns:a="http://schemas.openxmlformats.org/drawingml/2006/main" w="20320">
            <a:solidFill>
              <a:srgbClr val="117A6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3258365-A023-469D-B0AF-96D141B7D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5B9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2D212894-AEE3-4AF2-923D-8601B096F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79" y="2103120"/>
            <a:ext cx="141732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Agent signals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50A180B-B48C-462A-8F3A-D04B5A606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sentiment</a:t>
            </a:r>
          </a:p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risk + forecast</a:t>
            </a:r>
          </a:p>
        </p:txBody>
      </p:sp>
      <p:sp>
        <p:nvSpPr>
          <p:cNvPr id="23" name="Connector 22">
            <a:extLst xmlns:a="http://schemas.openxmlformats.org/drawingml/2006/main">
              <a:ext uri="{FF2B5EF4-FFF2-40B4-BE49-F238E27FC236}">
                <a16:creationId xmlns:a16="http://schemas.microsoft.com/office/drawing/2014/main" id="{5F85DFC5-1E20-425A-BC6F-E462167DB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2478024"/>
            <a:ext cx="228600" cy="0"/>
          </a:xfrm>
          <a:prstGeom xmlns:a="http://schemas.openxmlformats.org/drawingml/2006/main" prst="line">
            <a:avLst/>
          </a:prstGeom>
          <a:ln xmlns:a="http://schemas.openxmlformats.org/drawingml/2006/main" w="20320">
            <a:solidFill>
              <a:srgbClr val="117A6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8F255F51-9940-4570-96BF-3F17E2D87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59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7A6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6DC20D06-9C61-4D39-A37E-4CAB9AE2F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0999" y="2103120"/>
            <a:ext cx="141732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Decision score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9DF2AE2A-858B-48C2-9787-0A065C63E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9287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/ 35 / 35</a:t>
            </a:r>
          </a:p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weighted model</a:t>
            </a:r>
          </a:p>
        </p:txBody>
      </p:sp>
      <p:sp>
        <p:nvSpPr>
          <p:cNvPr id="27" name="Connector 26">
            <a:extLst xmlns:a="http://schemas.openxmlformats.org/drawingml/2006/main">
              <a:ext uri="{FF2B5EF4-FFF2-40B4-BE49-F238E27FC236}">
                <a16:creationId xmlns:a16="http://schemas.microsoft.com/office/drawing/2014/main" id="{D909458E-4F97-4F57-94C6-B34B6A439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59" y="2478024"/>
            <a:ext cx="228600" cy="0"/>
          </a:xfrm>
          <a:prstGeom xmlns:a="http://schemas.openxmlformats.org/drawingml/2006/main" prst="line">
            <a:avLst/>
          </a:prstGeom>
          <a:ln xmlns:a="http://schemas.openxmlformats.org/drawingml/2006/main" w="20320">
            <a:solidFill>
              <a:srgbClr val="117A65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6001313F-7EB7-4078-9E9E-138E2B673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1965960"/>
            <a:ext cx="1600200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55B9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D925285D-52C8-43D9-AF10-6D1DBB041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19" y="2103120"/>
            <a:ext cx="1417320" cy="204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Explainability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23D0FDE9-6128-43C5-8A6E-4AB50B948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3807" y="2404872"/>
            <a:ext cx="1380744" cy="521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allocation,</a:t>
            </a:r>
          </a:p>
          <a:p xmlns:a="http://schemas.openxmlformats.org/drawingml/2006/main">
            <a:pPr algn="ctr">
              <a:buNone/>
            </a:pPr>
            <a:r>
              <a:rPr sz="86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drivers, disclaimer</a:t>
            </a:r>
          </a:p>
        </p:txBody>
      </p:sp>
      <p:sp>
        <p:nvSpPr>
          <p:cNvPr id="31" name="Rounded Rectangle 30">
            <a:extLst xmlns:a="http://schemas.openxmlformats.org/drawingml/2006/main">
              <a:ext uri="{FF2B5EF4-FFF2-40B4-BE49-F238E27FC236}">
                <a16:creationId xmlns:a16="http://schemas.microsoft.com/office/drawing/2014/main" id="{7155E6FB-B27F-4F22-AAEA-FE780A081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03320"/>
            <a:ext cx="3383280" cy="13258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31303E1F-E6BC-444C-8D84-2071F6D62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822191"/>
            <a:ext cx="307238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No unsupported claims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9EFC2BD6-48BF-4D7B-BF81-A0C1AD46E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142231"/>
            <a:ext cx="3072384" cy="8229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OpenAI prompt is tightened to prevent invented tickers, dollar amounts, metrics, or recommendations.</a:t>
            </a:r>
          </a:p>
        </p:txBody>
      </p:sp>
      <p:sp>
        <p:nvSpPr>
          <p:cNvPr id="34" name="Rounded Rectangle 33">
            <a:extLst xmlns:a="http://schemas.openxmlformats.org/drawingml/2006/main">
              <a:ext uri="{FF2B5EF4-FFF2-40B4-BE49-F238E27FC236}">
                <a16:creationId xmlns:a16="http://schemas.microsoft.com/office/drawing/2014/main" id="{48129C2A-F1A7-41C1-88FE-1F9D8F78C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703320"/>
            <a:ext cx="3383280" cy="13258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C988E3A0-2262-458D-9048-AE80EFCFE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3822191"/>
            <a:ext cx="307238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117A65"/>
                </a:solidFill>
                <a:latin typeface="Aptos"/>
                <a:ea typeface="Aptos"/>
                <a:cs typeface="Aptos"/>
              </a:rPr>
              <a:t>Conservative allocation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807BC573-EF31-4994-93CC-646F2B7CD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4142231"/>
            <a:ext cx="3072384" cy="8229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Sell/Strong Sell candidates are excluded; weak Hold signals keep larger reserve/watchlist cash.</a:t>
            </a:r>
          </a:p>
        </p:txBody>
      </p:sp>
      <p:sp>
        <p:nvSpPr>
          <p:cNvPr id="37" name="Rounded Rectangle 36">
            <a:extLst xmlns:a="http://schemas.openxmlformats.org/drawingml/2006/main">
              <a:ext uri="{FF2B5EF4-FFF2-40B4-BE49-F238E27FC236}">
                <a16:creationId xmlns:a16="http://schemas.microsoft.com/office/drawing/2014/main" id="{B344A3A7-76F5-49BD-8A45-053E19086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79" y="3703320"/>
            <a:ext cx="2834640" cy="13258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FDAD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9DE36345-9569-49B1-801E-D52C559B2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7" y="3822191"/>
            <a:ext cx="252374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55B92"/>
                </a:solidFill>
                <a:latin typeface="Aptos"/>
                <a:ea typeface="Aptos"/>
                <a:cs typeface="Aptos"/>
              </a:rPr>
              <a:t>Test-backed behavior</a:t>
            </a: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4E4E7544-F973-4586-8A6A-43B55714E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7" y="4142231"/>
            <a:ext cx="2523744" cy="82295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18288" rIns="36576" bIns="18288" anchor="t">
            <a:spAutoFit/>
          </a:bodyPr>
          <a:lstStyle xmlns:a="http://schemas.openxmlformats.org/drawingml/2006/main"/>
          <a:p xmlns:a="http://schemas.openxmlformats.org/drawingml/2006/main">
            <a:r>
              <a:rPr sz="1080" b="0">
                <a:solidFill>
                  <a:srgbClr val="122026"/>
                </a:solidFill>
                <a:latin typeface="Aptos"/>
                <a:ea typeface="Aptos"/>
                <a:cs typeface="Aptos"/>
              </a:rPr>
              <a:t>A fake hallucinating provider is used in tests to prove budget questions return the grounded report.</a:t>
            </a:r>
          </a:p>
        </p:txBody>
      </p:sp>
    </p:spTree>
    <p:extLst>
      <p:ext uri="{BB962C8B-B14F-4D97-AF65-F5344CB8AC3E}">
        <p14:creationId xmlns:p14="http://schemas.microsoft.com/office/powerpoint/2010/main" val="165555990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6EB4878-B34E-448A-A780-B888F7392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56032"/>
            <a:ext cx="2194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00" b="1">
                <a:solidFill>
                  <a:srgbClr val="31B3BE"/>
                </a:solidFill>
                <a:latin typeface="Aptos"/>
                <a:ea typeface="Aptos"/>
                <a:cs typeface="Aptos"/>
              </a:rPr>
              <a:t>PHASE 2 ROADMAP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BE84FC4-32C0-4918-9DC1-A6F6C45CD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502920"/>
            <a:ext cx="10424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The next phase moves from prototype demo to startup-grade financial intelligence.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68616E8-A70B-4182-949F-BC9E6F477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60120"/>
            <a:ext cx="9875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Priority is reliability first, then data scale, model quality, production RAG, and product readiness.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BEFAC10-8A32-4C9B-8860-3E39AEF82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98448"/>
            <a:ext cx="10881360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0E8"/>
          </a:solidFill>
          <a:ln xmlns:a="http://schemas.openxmlformats.org/drawingml/2006/main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Oval 5">
            <a:extLst xmlns:a="http://schemas.openxmlformats.org/drawingml/2006/main">
              <a:ext uri="{FF2B5EF4-FFF2-40B4-BE49-F238E27FC236}">
                <a16:creationId xmlns:a16="http://schemas.microsoft.com/office/drawing/2014/main" id="{E727386C-3617-4BB1-B1AE-28F8A2072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618488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7B8"/>
          </a:solidFill>
          <a:ln xmlns:a="http://schemas.openxmlformats.org/drawingml/2006/main">
            <a:solidFill>
              <a:srgbClr val="2477B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EC28AD2-3740-43E7-BF71-4AB0DD551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691640"/>
            <a:ext cx="384048" cy="225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5CA5F2D-534F-4675-A4A8-0A165E72F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1572768"/>
            <a:ext cx="2057400" cy="271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Stabilize Ask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C28C529-B3E0-478D-BB4F-A1723D258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572768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0">
                <a:solidFill>
                  <a:srgbClr val="2477B8"/>
                </a:solidFill>
                <a:latin typeface="Consolas"/>
                <a:ea typeface="Consolas"/>
                <a:cs typeface="Consolas"/>
              </a:rPr>
              <a:t>Grounding and guardrails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17D6F73-917D-4852-A767-8F6F67F1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1572768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19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Finish anti-hallucination checks for budget, ticker, and comparison questions.</a:t>
            </a:r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4065B1E8-B27D-49CC-ACA9-C511C9A74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386584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7B8"/>
          </a:solidFill>
          <a:ln xmlns:a="http://schemas.openxmlformats.org/drawingml/2006/main">
            <a:solidFill>
              <a:srgbClr val="2477B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12FC247-A695-4050-94EE-7F7E82346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459736"/>
            <a:ext cx="384048" cy="225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8D6FBD9-F83E-4F5D-AFA6-A52FCB2C7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2340864"/>
            <a:ext cx="2057400" cy="271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Upgrade RAG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67841A72-6C6C-4112-A7DF-75BD2B99D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340864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0">
                <a:solidFill>
                  <a:srgbClr val="2477B8"/>
                </a:solidFill>
                <a:latin typeface="Consolas"/>
                <a:ea typeface="Consolas"/>
                <a:cs typeface="Consolas"/>
              </a:rPr>
              <a:t>Embeddings + vector DB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351E54F-037A-4A12-B1F2-DF0674401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2340864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19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Move from Chroma baseline to pgvector/Supabase plus stronger embeddings.</a:t>
            </a:r>
          </a:p>
        </p:txBody>
      </p:sp>
      <p:sp>
        <p:nvSpPr>
          <p:cNvPr id="16" name="Oval 15">
            <a:extLst xmlns:a="http://schemas.openxmlformats.org/drawingml/2006/main">
              <a:ext uri="{FF2B5EF4-FFF2-40B4-BE49-F238E27FC236}">
                <a16:creationId xmlns:a16="http://schemas.microsoft.com/office/drawing/2014/main" id="{94DEA752-CFCD-41BC-A36B-9D3F650E9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154679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7B8"/>
          </a:solidFill>
          <a:ln xmlns:a="http://schemas.openxmlformats.org/drawingml/2006/main">
            <a:solidFill>
              <a:srgbClr val="2477B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D355559A-FC4A-4252-9374-DB402D181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227832"/>
            <a:ext cx="384048" cy="225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F730D2E7-611A-449A-9C42-839522389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3108960"/>
            <a:ext cx="2057400" cy="271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Expand data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BCCB94E-5113-40C7-A12D-37A6F76C2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3108960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0">
                <a:solidFill>
                  <a:srgbClr val="2477B8"/>
                </a:solidFill>
                <a:latin typeface="Consolas"/>
                <a:ea typeface="Consolas"/>
                <a:cs typeface="Consolas"/>
              </a:rPr>
              <a:t>SEC, news, fundamentals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8CD3FFD-228D-4536-B919-50B7FE643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3108960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19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Scale filings, earnings/news ingestion, and refresh pipelines.</a:t>
            </a:r>
          </a:p>
        </p:txBody>
      </p:sp>
      <p:sp>
        <p:nvSpPr>
          <p:cNvPr id="21" name="Oval 20">
            <a:extLst xmlns:a="http://schemas.openxmlformats.org/drawingml/2006/main">
              <a:ext uri="{FF2B5EF4-FFF2-40B4-BE49-F238E27FC236}">
                <a16:creationId xmlns:a16="http://schemas.microsoft.com/office/drawing/2014/main" id="{85FE944D-1A56-497F-932B-A231642B5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922776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7B8"/>
          </a:solidFill>
          <a:ln xmlns:a="http://schemas.openxmlformats.org/drawingml/2006/main">
            <a:solidFill>
              <a:srgbClr val="2477B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6A99F14-B2AD-4939-88B4-2EF22D100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995928"/>
            <a:ext cx="384048" cy="225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0306DC32-103C-44F3-AFB1-F40F44718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3877056"/>
            <a:ext cx="2057400" cy="271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Improve models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A761EA9F-56DD-4A08-876A-2A61F183B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387705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0">
                <a:solidFill>
                  <a:srgbClr val="2477B8"/>
                </a:solidFill>
                <a:latin typeface="Consolas"/>
                <a:ea typeface="Consolas"/>
                <a:cs typeface="Consolas"/>
              </a:rPr>
              <a:t>Backtesting + better features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22436ABF-FDFE-4B67-940A-360CD52E8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3877056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19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Train stronger risk/forecast models and compare baselines.</a:t>
            </a:r>
          </a:p>
        </p:txBody>
      </p:sp>
      <p:sp>
        <p:nvSpPr>
          <p:cNvPr id="26" name="Oval 25">
            <a:extLst xmlns:a="http://schemas.openxmlformats.org/drawingml/2006/main">
              <a:ext uri="{FF2B5EF4-FFF2-40B4-BE49-F238E27FC236}">
                <a16:creationId xmlns:a16="http://schemas.microsoft.com/office/drawing/2014/main" id="{A6452CB8-BB33-4C85-85A3-7EB10AA5C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690872"/>
            <a:ext cx="384048" cy="38404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7B8"/>
          </a:solidFill>
          <a:ln xmlns:a="http://schemas.openxmlformats.org/drawingml/2006/main">
            <a:solidFill>
              <a:srgbClr val="2477B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606950B1-02A9-4911-9AAB-E43D42A13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764024"/>
            <a:ext cx="384048" cy="225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445EE26E-5649-430A-A024-1803FE54A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4645152"/>
            <a:ext cx="2057400" cy="2712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Productize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306D97DF-46EC-4FC5-829E-2824F832B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4645152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0">
                <a:solidFill>
                  <a:srgbClr val="2477B8"/>
                </a:solidFill>
                <a:latin typeface="Consolas"/>
                <a:ea typeface="Consolas"/>
                <a:cs typeface="Consolas"/>
              </a:rPr>
              <a:t>Cloud + monitoring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F0DED2C2-F4E9-4F6F-B035-1A3E438F7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4645152"/>
            <a:ext cx="3429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19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Add deployment reliability, logs, user-ready reports, and saved analysis workflows.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0A7A7792-34FD-4F24-819C-91460EDA5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5596128"/>
            <a:ext cx="101498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14202B"/>
                </a:solidFill>
                <a:latin typeface="Aptos"/>
                <a:ea typeface="Aptos"/>
                <a:cs typeface="Aptos"/>
              </a:rPr>
              <a:t>Mentor ask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01BDE019-A953-4B3D-8C58-65FD2D5A7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5925312"/>
            <a:ext cx="10058400" cy="4114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BF1F6"/>
          </a:solidFill>
          <a:ln xmlns:a="http://schemas.openxmlformats.org/drawingml/2006/main">
            <a:solidFill>
              <a:srgbClr val="D6E0E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2F490250-6D37-49EE-AAFB-6DD33D4A3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6016752"/>
            <a:ext cx="9738360" cy="2179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0">
                <a:solidFill>
                  <a:srgbClr val="14202B"/>
                </a:solidFill>
                <a:latin typeface="Consolas"/>
                <a:ea typeface="Consolas"/>
                <a:cs typeface="Consolas"/>
              </a:rPr>
              <a:t>Validate Phase 2 scope: reliability, production RAG, real data scale, stronger ML, and startup path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55C3DAAF-7CA0-4246-8466-4A691CF1B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473952"/>
            <a:ext cx="77724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Financial Intelligence Engine | Phase 2 Review 1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4DC25BB2-484D-4B73-B5C2-CBE6608A2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0" y="6473952"/>
            <a:ext cx="731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54864" tIns="36576" rIns="54864" bIns="36576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00" b="0">
                <a:solidFill>
                  <a:srgbClr val="5B6977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64365081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2026-08-09T08:49:07.1720000Z</dcterms:created>
  <dcterms:modified xsi:type="dcterms:W3CDTF">2026-08-09T08:49:07.1720000Z</dcterms:modified>
</coreProperties>
</file>