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TITLE &amp; 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04672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400" b="1" dirty="0">
                <a:solidFill>
                  <a:srgbClr val="122026"/>
                </a:solidFill>
                <a:latin typeface="Aptos"/>
              </a:rPr>
              <a:t>Financial Intelligence Engine for Investment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 dirty="0">
                <a:solidFill>
                  <a:srgbClr val="5B6970"/>
                </a:solidFill>
                <a:latin typeface="Aptos"/>
              </a:rPr>
              <a:t>Phase 1 prototype for AI-assisted financial research and investment suggestions.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93391"/>
            <a:ext cx="51297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Project 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13432"/>
            <a:ext cx="5129784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This project builds an AI-powered financial intelligence system that reduces manual investment analysis effort by integrating market data, company fundamentals, technical indicators, sentiment signals, and multi-agent reasoning. The current Phase 1 prototype includes data ingestion, feature engineering, investment scoring, generated reports, and an interactive dashboard where users can ask investment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4526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993391"/>
            <a:ext cx="42153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Research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13432"/>
            <a:ext cx="4215384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Design and implement a scalable, explainable system that can support Buy/Hold/Sell-style investment suggestions using structured and unstructured financial signals.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117A65"/>
                </a:solidFill>
                <a:latin typeface="Aptos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COMPANY UNIVERSE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Nasdaq/SEC cached tickers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255B92"/>
                </a:solidFill>
                <a:latin typeface="Apto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DEEP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selected demo companies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117A65"/>
                </a:solidFill>
                <a:latin typeface="Aptos"/>
              </a:rPr>
              <a:t>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FEATURES/COMPANY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technical + composite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255B92"/>
                </a:solidFill>
                <a:latin typeface="Aptos"/>
              </a:rPr>
              <a:t>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NEWS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sentiment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117A65"/>
                </a:solidFill>
                <a:latin typeface="Aptos"/>
              </a:rPr>
              <a:t>81%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production-ready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255B92"/>
                </a:solidFill>
                <a:latin typeface="Aptos"/>
              </a:rPr>
              <a:t>4/4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pytest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ARCHITECTURAL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046720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600" b="1" dirty="0">
                <a:solidFill>
                  <a:srgbClr val="122026"/>
                </a:solidFill>
                <a:latin typeface="Aptos"/>
              </a:rPr>
              <a:t>Modular architecture separates data breadth, signal depth, and user interaction</a:t>
            </a:r>
            <a:r>
              <a:rPr sz="2800" b="1" dirty="0">
                <a:solidFill>
                  <a:srgbClr val="122026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>
                <a:solidFill>
                  <a:srgbClr val="5B6970"/>
                </a:solidFill>
                <a:latin typeface="Aptos"/>
              </a:rPr>
              <a:t>The system is designed so each layer can be improved independently in later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1600200" cy="1024128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1000 US tickers
Nasdaq/SEC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86000" y="1965960"/>
            <a:ext cx="1600200" cy="1024128"/>
          </a:xfrm>
          <a:prstGeom prst="roundRect">
            <a:avLst/>
          </a:prstGeom>
          <a:solidFill>
            <a:srgbClr val="255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0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prices, fundamentals
company info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60520" y="1965960"/>
            <a:ext cx="1600200" cy="1024128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Feature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RSI, MACD, ATR
moving averages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720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0" y="1965960"/>
            <a:ext cx="1600200" cy="1024128"/>
          </a:xfrm>
          <a:prstGeom prst="roundRect">
            <a:avLst/>
          </a:prstGeom>
          <a:solidFill>
            <a:srgbClr val="255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79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Sentiment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financial news
signal scoring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35240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09559" y="1965960"/>
            <a:ext cx="1600200" cy="1024128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00999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7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risk, forecast,
decision, explain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09759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1965960"/>
            <a:ext cx="1600200" cy="1024128"/>
          </a:xfrm>
          <a:prstGeom prst="roundRect">
            <a:avLst/>
          </a:prstGeom>
          <a:solidFill>
            <a:srgbClr val="255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19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7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Ask tab, outputs,
analysis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703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3822191"/>
            <a:ext cx="30723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Storage &amp; 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142231"/>
            <a:ext cx="3072384" cy="82295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CSV, JSON, readiness report, investment report, sentiment table, technical summary, and clickable output routes.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703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0288" y="3822191"/>
            <a:ext cx="30723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Interactive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142231"/>
            <a:ext cx="3072384" cy="82295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User questions are routed to the orchestrator, which coordinates sentiment, risk, forecast, decision, and explanation agents.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3703320"/>
            <a:ext cx="2834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7" y="3822191"/>
            <a:ext cx="252374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Next RAG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142231"/>
            <a:ext cx="2523744" cy="82295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PDF / 10-K / earnings report retrieval will enrich the existing retriever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ALGORITHMS / TECHNIQUES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19" y="713232"/>
            <a:ext cx="9742293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400" b="1" dirty="0">
                <a:solidFill>
                  <a:srgbClr val="122026"/>
                </a:solidFill>
                <a:latin typeface="Aptos"/>
              </a:rPr>
              <a:t>The prototype combines financial indicators, sentiment scoring, and multi-agent decision logic</a:t>
            </a:r>
            <a:r>
              <a:rPr sz="2800" b="1" dirty="0">
                <a:solidFill>
                  <a:srgbClr val="122026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>
                <a:solidFill>
                  <a:srgbClr val="5B6970"/>
                </a:solidFill>
                <a:latin typeface="Aptos"/>
              </a:rPr>
              <a:t>These are the core techniques implemented or scaffolded in Phase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7830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160520"/>
                <a:gridCol w="4846320"/>
              </a:tblGrid>
              <a:tr h="47026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implementation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Data 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Yahoo Finance + Nasdaq/SEC universe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Historical OHLCV, fundamentals, company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Feature engineering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RSI, MACD, stochastic, ATR, Bollinger bands, moving averages, OBV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42 implemented feature categories per company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Sentiment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Keyword-based financial sentiment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Positive, negative, neutral labels and aggregated sentiment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Investment scoring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Weighted technical + sentiment + fundamental score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Buy / Hold / Sell style recommendations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Multi-agent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Retriever, Sentiment, Risk, Forecast, Decision, Explainability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Ask tab answers user investment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Agent summaries + generated rationale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Educational explanation and signal drivers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5440680"/>
            <a:ext cx="32918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5559552"/>
            <a:ext cx="298094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 dirty="0">
                <a:solidFill>
                  <a:srgbClr val="255B92"/>
                </a:solidFill>
                <a:latin typeface="Aptos"/>
              </a:rPr>
              <a:t>Example user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879592"/>
            <a:ext cx="2980944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 dirty="0">
                <a:solidFill>
                  <a:srgbClr val="122026"/>
                </a:solidFill>
                <a:latin typeface="Aptos"/>
              </a:rPr>
              <a:t>Should I invest in AAPL and MSFT for the next 30 days?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5440680"/>
            <a:ext cx="3017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5559552"/>
            <a:ext cx="270662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System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5879592"/>
            <a:ext cx="2706624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 dirty="0">
                <a:solidFill>
                  <a:srgbClr val="122026"/>
                </a:solidFill>
                <a:latin typeface="Aptos"/>
              </a:rPr>
              <a:t>Agent-backed suggestions with score, confidence, drivers, and disclaimer.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5440680"/>
            <a:ext cx="3154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73568" y="5559552"/>
            <a:ext cx="28437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5879592"/>
            <a:ext cx="2843784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Recommendation report + dashboard answer panel.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19" y="713232"/>
            <a:ext cx="10056925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000" b="1" dirty="0">
                <a:solidFill>
                  <a:srgbClr val="122026"/>
                </a:solidFill>
                <a:latin typeface="Aptos"/>
              </a:rPr>
              <a:t>The system should become an explainable AI assistant for investment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>
                <a:solidFill>
                  <a:srgbClr val="5B6970"/>
                </a:solidFill>
                <a:latin typeface="Aptos"/>
              </a:rPr>
              <a:t>Outcomes are split into current Phase 1 deliverables and next review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074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476402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Expected outcomes for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21991"/>
            <a:ext cx="4764024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1. Reduce manual research time for stock screening.
2. Provide explainable Buy/Hold/Sell-style suggestions.
3. Combine structured market data with unstructured financial text.
4. Build an interactive dashboard for portfolio review.
5. Support future RAG-based document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783080"/>
            <a:ext cx="4983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8" y="1901952"/>
            <a:ext cx="46725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What is achieved till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221991"/>
            <a:ext cx="4672584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1. 1000-company US equity universe cached.
2. 10-company detailed demo analysis.
3. 42 feature categories per company.
4. 300 generated news/sentiment rows.
5. Ask tab and clickable output reports.
6. 4 tests passing.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51560" y="4343400"/>
          <a:ext cx="100584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5303520"/>
              </a:tblGrid>
              <a:tr h="265176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Data 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All expected demo data sources populated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System complexity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100/100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Advanced multi-source processing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Production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17/21 checklist items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Data volume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186,760 points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Phase 1 generated analysis scale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REFERENCES + 30% CODE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04672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600" b="1" dirty="0">
                <a:solidFill>
                  <a:srgbClr val="122026"/>
                </a:solidFill>
                <a:latin typeface="Aptos"/>
              </a:rPr>
              <a:t>The submission has working Phase 1 code and recent research grounding.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>
                <a:solidFill>
                  <a:srgbClr val="5B6970"/>
                </a:solidFill>
                <a:latin typeface="Aptos"/>
              </a:rPr>
              <a:t>Code will be zipped separately; this slide lists what the review panel can verify.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56231"/>
            <a:ext cx="334670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30% implementation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15609"/>
            <a:ext cx="3346704" cy="1463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 dirty="0">
                <a:solidFill>
                  <a:srgbClr val="122026"/>
                </a:solidFill>
                <a:latin typeface="Aptos"/>
              </a:rPr>
              <a:t>Implemented modules:
- </a:t>
            </a:r>
            <a:r>
              <a:rPr sz="1080" b="0" dirty="0" err="1">
                <a:solidFill>
                  <a:srgbClr val="122026"/>
                </a:solidFill>
                <a:latin typeface="Aptos"/>
              </a:rPr>
              <a:t>data_layer</a:t>
            </a:r>
            <a:r>
              <a:rPr sz="1080" b="0" dirty="0">
                <a:solidFill>
                  <a:srgbClr val="122026"/>
                </a:solidFill>
                <a:latin typeface="Aptos"/>
              </a:rPr>
              <a:t>
- agents
- storage
- frontend
- reports / generated outputs
Run commands:
python demo_ultimate.py
python frontend/server.py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2880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856231"/>
            <a:ext cx="25694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176272"/>
            <a:ext cx="2569464" cy="1463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Review 1: Phase 1 prototype
Next: RAG document ingestion
Next: ML risk/forecast models
Final: scaled evaluation, monitoring, and dashboard polish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173736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54696" y="1856231"/>
            <a:ext cx="3026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Latest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2519172"/>
            <a:ext cx="3026664" cy="30632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 dirty="0">
                <a:solidFill>
                  <a:srgbClr val="122026"/>
                </a:solidFill>
                <a:latin typeface="Aptos"/>
              </a:rPr>
              <a:t>Xiao et al., Retrieval-Augmented LLMs for Financial Time-Series Forecasting, arXiv:2502.05878, 2025.
Choi et al., </a:t>
            </a:r>
            <a:r>
              <a:rPr sz="1080" b="0" dirty="0" err="1">
                <a:solidFill>
                  <a:srgbClr val="122026"/>
                </a:solidFill>
                <a:latin typeface="Aptos"/>
              </a:rPr>
              <a:t>FinDER</a:t>
            </a:r>
            <a:r>
              <a:rPr sz="1080" b="0" dirty="0">
                <a:solidFill>
                  <a:srgbClr val="122026"/>
                </a:solidFill>
                <a:latin typeface="Aptos"/>
              </a:rPr>
              <a:t>: Financial Dataset for QA and Evaluating RAG, arXiv:2504.15800, 2025.
Yao et al., Evaluating LLMs for Financial Reasoning: CFA Benchmark, arXiv:2509.04468, 2025.
Xu et al., Analytical Stage-Based Multi-Agent Framework, Decision Analytics Journal, 2025.
Khan et al., Model-Agnostic Explainable AI Methods in Finance, Artificial Intelligence Review,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6629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22026"/>
                </a:solidFill>
                <a:latin typeface="Aptos"/>
              </a:defRPr>
            </a:pPr>
            <a:r>
              <a:t>Submission package: PPT + zipped source code + generated outputs in data/.</a:t>
            </a:r>
          </a:p>
          <a:p>
            <a:pPr>
              <a:spcAft>
                <a:spcPts val="500"/>
              </a:spcAft>
              <a:defRPr sz="1150">
                <a:solidFill>
                  <a:srgbClr val="122026"/>
                </a:solidFill>
                <a:latin typeface="Aptos"/>
              </a:defRPr>
            </a:pPr>
            <a:r>
              <a:t>Scope note: full 1000-company detailed scoring will require caching and rate-limit handling in Phase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" y="463397"/>
            <a:ext cx="11817957" cy="59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2602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31B3BE"/>
                </a:solidFill>
                <a:latin typeface="Aptos"/>
              </a:rPr>
              <a:t>PROGRESS SINCE LAST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457200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2500" b="1">
                <a:solidFill>
                  <a:srgbClr val="14202B"/>
                </a:solidFill>
                <a:latin typeface="Aptos"/>
              </a:rPr>
              <a:t>Phase 1 moved from prototype skeleton to working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987552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Aptos"/>
              </a:rPr>
              <a:t>New implementation evidence: large data, trained models, persistent vector DB, RAG query path, and OpenAI-ready GenAI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881360" cy="18288"/>
          </a:xfrm>
          <a:prstGeom prst="rect">
            <a:avLst/>
          </a:prstGeom>
          <a:solidFill>
            <a:srgbClr val="D6E0E8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1234440"/>
          </a:xfrm>
          <a:prstGeom prst="rect">
            <a:avLst/>
          </a:prstGeom>
          <a:solidFill>
            <a:srgbClr val="2477B8"/>
          </a:solidFill>
          <a:ln>
            <a:solidFill>
              <a:srgbClr val="24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46504"/>
            <a:ext cx="2185416" cy="25603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5B6977"/>
                </a:solidFill>
                <a:latin typeface="Aptos"/>
              </a:rPr>
              <a:t>US equity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39112"/>
            <a:ext cx="2185416" cy="70408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2000" b="1">
                <a:solidFill>
                  <a:srgbClr val="14202B"/>
                </a:solidFill>
                <a:latin typeface="Aptos"/>
              </a:rPr>
              <a:t>10,000</a:t>
            </a:r>
            <a:br/>
            <a:r>
              <a:rPr sz="2000" b="1">
                <a:solidFill>
                  <a:srgbClr val="14202B"/>
                </a:solidFill>
                <a:latin typeface="Aptos"/>
              </a:rPr>
              <a:t>companies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002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600200"/>
            <a:ext cx="73152" cy="1234440"/>
          </a:xfrm>
          <a:prstGeom prst="rect">
            <a:avLst/>
          </a:prstGeom>
          <a:solidFill>
            <a:srgbClr val="31B3BE"/>
          </a:solidFill>
          <a:ln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746504"/>
            <a:ext cx="2185416" cy="25603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5B6977"/>
                </a:solidFill>
                <a:latin typeface="Aptos"/>
              </a:rPr>
              <a:t>ML feature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039112"/>
            <a:ext cx="2185416" cy="70408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2000" b="1">
                <a:solidFill>
                  <a:srgbClr val="14202B"/>
                </a:solidFill>
                <a:latin typeface="Aptos"/>
              </a:rPr>
              <a:t>10,000 x 20</a:t>
            </a:r>
            <a:br/>
            <a:r>
              <a:rPr sz="2000" b="1">
                <a:solidFill>
                  <a:srgbClr val="14202B"/>
                </a:solidFill>
                <a:latin typeface="Aptos"/>
              </a:rPr>
              <a:t>rows/features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6002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600200"/>
            <a:ext cx="73152" cy="1234440"/>
          </a:xfrm>
          <a:prstGeom prst="rect">
            <a:avLst/>
          </a:prstGeom>
          <a:solidFill>
            <a:srgbClr val="209778"/>
          </a:solidFill>
          <a:ln>
            <a:solidFill>
              <a:srgbClr val="209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746504"/>
            <a:ext cx="2185416" cy="25603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5B6977"/>
                </a:solidFill>
                <a:latin typeface="Aptos"/>
              </a:rPr>
              <a:t>Risk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039112"/>
            <a:ext cx="2185416" cy="70408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2000" b="1">
                <a:solidFill>
                  <a:srgbClr val="14202B"/>
                </a:solidFill>
                <a:latin typeface="Aptos"/>
              </a:rPr>
              <a:t>80.05%</a:t>
            </a:r>
            <a:br/>
            <a:r>
              <a:rPr sz="2000" b="1">
                <a:solidFill>
                  <a:srgbClr val="14202B"/>
                </a:solidFill>
                <a:latin typeface="Aptos"/>
              </a:rPr>
              <a:t>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16002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41080" y="1600200"/>
            <a:ext cx="73152" cy="1234440"/>
          </a:xfrm>
          <a:prstGeom prst="rect">
            <a:avLst/>
          </a:prstGeom>
          <a:solidFill>
            <a:srgbClr val="E09730"/>
          </a:solidFill>
          <a:ln>
            <a:solidFill>
              <a:srgbClr val="E0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42248" y="1746504"/>
            <a:ext cx="2185416" cy="25603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5B6977"/>
                </a:solidFill>
                <a:latin typeface="Aptos"/>
              </a:rPr>
              <a:t>Forecast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039112"/>
            <a:ext cx="2185416" cy="70408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2000" b="1">
                <a:solidFill>
                  <a:srgbClr val="14202B"/>
                </a:solidFill>
                <a:latin typeface="Aptos"/>
              </a:rPr>
              <a:t>68.95%</a:t>
            </a:r>
            <a:br/>
            <a:r>
              <a:rPr sz="2000" b="1">
                <a:solidFill>
                  <a:srgbClr val="14202B"/>
                </a:solidFill>
                <a:latin typeface="Aptos"/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246120"/>
            <a:ext cx="5212080" cy="34747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4202B"/>
                </a:solidFill>
                <a:latin typeface="Aptos"/>
              </a:rPr>
              <a:t>What changed after the first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11880"/>
            <a:ext cx="5074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4202B"/>
                </a:solidFill>
                <a:latin typeface="Aptos"/>
              </a:rPr>
              <a:t>Built a large Phase 1 data pipeline instead of a small demo-only universe.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4202B"/>
                </a:solidFill>
                <a:latin typeface="Aptos"/>
              </a:rPr>
              <a:t>Generated ML-ready features and trained baseline risk / forecast models.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4202B"/>
                </a:solidFill>
                <a:latin typeface="Aptos"/>
              </a:rPr>
              <a:t>Added persistent ChromaDB vector store for the RAG layer.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4202B"/>
                </a:solidFill>
                <a:latin typeface="Aptos"/>
              </a:rPr>
              <a:t>Connected Retriever Agent to vector DB when the index exists.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246120"/>
            <a:ext cx="4754880" cy="34747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4202B"/>
                </a:solidFill>
                <a:latin typeface="Aptos"/>
              </a:rPr>
              <a:t>Evidence files produced by the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61188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4202B"/>
                </a:solidFill>
                <a:latin typeface="Aptos"/>
              </a:rPr>
              <a:t>data/processed/us_equity_universe.csv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4202B"/>
                </a:solidFill>
                <a:latin typeface="Aptos"/>
              </a:rPr>
              <a:t>data/features/phase1_model_features.csv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4202B"/>
                </a:solidFill>
                <a:latin typeface="Aptos"/>
              </a:rPr>
              <a:t>models/phase1_risk_model.pkl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4202B"/>
                </a:solidFill>
                <a:latin typeface="Aptos"/>
              </a:rPr>
              <a:t>models/phase1_forecast_model.pkl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4202B"/>
                </a:solidFill>
                <a:latin typeface="Aptos"/>
              </a:rPr>
              <a:t>data/vectors/chroma/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4202B"/>
                </a:solidFill>
                <a:latin typeface="Aptos"/>
              </a:rPr>
              <a:t>reports/phase1_agent_report.md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800" b="0">
                <a:solidFill>
                  <a:srgbClr val="5B6977"/>
                </a:solidFill>
                <a:latin typeface="Aptos"/>
              </a:rPr>
              <a:t>Financial Intelligence Engine | Phase 1 progress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r"/>
            <a:r>
              <a:rPr sz="800" b="0">
                <a:solidFill>
                  <a:srgbClr val="5B697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31B3BE"/>
                </a:solidFill>
                <a:latin typeface="Aptos"/>
              </a:rPr>
              <a:t>RAG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457200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2500" b="1">
                <a:solidFill>
                  <a:srgbClr val="14202B"/>
                </a:solidFill>
                <a:latin typeface="Aptos"/>
              </a:rPr>
              <a:t>RAG now uses a persistent local vector database and an LLM-ready answer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987552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Aptos"/>
              </a:rPr>
              <a:t>This satisfies the Phase 1 baseline requirement while keeping cloud/OpenAI integration configurable.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881360" cy="18288"/>
          </a:xfrm>
          <a:prstGeom prst="rect">
            <a:avLst/>
          </a:prstGeom>
          <a:solidFill>
            <a:srgbClr val="D6E0E8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00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84248"/>
            <a:ext cx="1453896" cy="237744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14202B"/>
                </a:solidFill>
                <a:latin typeface="Aptos"/>
              </a:rPr>
              <a:t>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67712"/>
            <a:ext cx="1453896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850" b="0">
                <a:solidFill>
                  <a:srgbClr val="5B6977"/>
                </a:solidFill>
                <a:latin typeface="Aptos"/>
              </a:rPr>
              <a:t>docs, reports, PDFs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39" y="2093976"/>
            <a:ext cx="201168" cy="228600"/>
          </a:xfrm>
          <a:prstGeom prst="rightArrow">
            <a:avLst/>
          </a:prstGeom>
          <a:solidFill>
            <a:srgbClr val="31B3BE"/>
          </a:solidFill>
          <a:ln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59152" y="1828800"/>
            <a:ext cx="1600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2304" y="1984248"/>
            <a:ext cx="1453896" cy="237744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14202B"/>
                </a:solidFill>
                <a:latin typeface="Aptos"/>
              </a:rPr>
              <a:t>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267712"/>
            <a:ext cx="1453896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850" b="0">
                <a:solidFill>
                  <a:srgbClr val="5B6977"/>
                </a:solidFill>
                <a:latin typeface="Aptos"/>
              </a:rPr>
              <a:t>900 char windows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5072" y="2093976"/>
            <a:ext cx="201168" cy="228600"/>
          </a:xfrm>
          <a:prstGeom prst="rightArrow">
            <a:avLst/>
          </a:prstGeom>
          <a:solidFill>
            <a:srgbClr val="31B3BE"/>
          </a:solidFill>
          <a:ln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15384" y="1828800"/>
            <a:ext cx="1600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984248"/>
            <a:ext cx="1453896" cy="237744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14202B"/>
                </a:solidFill>
                <a:latin typeface="Aptos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267712"/>
            <a:ext cx="1453896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850" b="0">
                <a:solidFill>
                  <a:srgbClr val="5B6977"/>
                </a:solidFill>
                <a:latin typeface="Aptos"/>
              </a:rPr>
              <a:t>384-d hashing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61304" y="2093976"/>
            <a:ext cx="201168" cy="228600"/>
          </a:xfrm>
          <a:prstGeom prst="rightArrow">
            <a:avLst/>
          </a:prstGeom>
          <a:solidFill>
            <a:srgbClr val="31B3BE"/>
          </a:solidFill>
          <a:ln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71616" y="1828800"/>
            <a:ext cx="1600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984248"/>
            <a:ext cx="1453896" cy="237744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14202B"/>
                </a:solidFill>
                <a:latin typeface="Aptos"/>
              </a:rPr>
              <a:t>ChromaDB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267712"/>
            <a:ext cx="1453896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850" b="0">
                <a:solidFill>
                  <a:srgbClr val="5B6977"/>
                </a:solidFill>
                <a:latin typeface="Aptos"/>
              </a:rPr>
              <a:t>persistent vector DB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17536" y="2093976"/>
            <a:ext cx="201168" cy="228600"/>
          </a:xfrm>
          <a:prstGeom prst="rightArrow">
            <a:avLst/>
          </a:prstGeom>
          <a:solidFill>
            <a:srgbClr val="31B3BE"/>
          </a:solidFill>
          <a:ln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7848" y="1828800"/>
            <a:ext cx="1600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984248"/>
            <a:ext cx="1453896" cy="237744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14202B"/>
                </a:solidFill>
                <a:latin typeface="Aptos"/>
              </a:rPr>
              <a:t>Retriever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267712"/>
            <a:ext cx="1453896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850" b="0">
                <a:solidFill>
                  <a:srgbClr val="5B6977"/>
                </a:solidFill>
                <a:latin typeface="Aptos"/>
              </a:rPr>
              <a:t>top-k evidence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73768" y="2093976"/>
            <a:ext cx="201168" cy="228600"/>
          </a:xfrm>
          <a:prstGeom prst="rightArrow">
            <a:avLst/>
          </a:prstGeom>
          <a:solidFill>
            <a:srgbClr val="31B3BE"/>
          </a:solidFill>
          <a:ln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84080" y="1828800"/>
            <a:ext cx="160020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B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1984248"/>
            <a:ext cx="1453896" cy="237744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14202B"/>
                </a:solidFill>
                <a:latin typeface="Aptos"/>
              </a:rPr>
              <a:t>LLM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267712"/>
            <a:ext cx="1453896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850" b="0">
                <a:solidFill>
                  <a:srgbClr val="5B6977"/>
                </a:solidFill>
                <a:latin typeface="Aptos"/>
              </a:rPr>
              <a:t>local / OpenAI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5468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154680"/>
            <a:ext cx="73152" cy="1234440"/>
          </a:xfrm>
          <a:prstGeom prst="rect">
            <a:avLst/>
          </a:prstGeom>
          <a:solidFill>
            <a:srgbClr val="209778"/>
          </a:solidFill>
          <a:ln>
            <a:solidFill>
              <a:srgbClr val="209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300984"/>
            <a:ext cx="2962656" cy="25603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5B6977"/>
                </a:solidFill>
                <a:latin typeface="Aptos"/>
              </a:rPr>
              <a:t>Vector DB 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3593592"/>
            <a:ext cx="2962656" cy="70408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Aptos"/>
              </a:rPr>
              <a:t>data/vectors/chroma/</a:t>
            </a:r>
            <a:br/>
            <a:r>
              <a:rPr sz="1500" b="1">
                <a:solidFill>
                  <a:srgbClr val="14202B"/>
                </a:solidFill>
                <a:latin typeface="Aptos"/>
              </a:rPr>
              <a:t>Chroma PersistentClient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315468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3154680"/>
            <a:ext cx="73152" cy="1234440"/>
          </a:xfrm>
          <a:prstGeom prst="rect">
            <a:avLst/>
          </a:prstGeom>
          <a:solidFill>
            <a:srgbClr val="2477B8"/>
          </a:solidFill>
          <a:ln>
            <a:solidFill>
              <a:srgbClr val="24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3300984"/>
            <a:ext cx="2962656" cy="25603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5B6977"/>
                </a:solidFill>
                <a:latin typeface="Aptos"/>
              </a:rPr>
              <a:t>Indexed corpus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3593592"/>
            <a:ext cx="2962656" cy="70408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4202B"/>
                </a:solidFill>
                <a:latin typeface="Aptos"/>
              </a:rPr>
              <a:t>476 chunks</a:t>
            </a:r>
            <a:br/>
            <a:r>
              <a:rPr sz="1600" b="1">
                <a:solidFill>
                  <a:srgbClr val="14202B"/>
                </a:solidFill>
                <a:latin typeface="Aptos"/>
              </a:rPr>
              <a:t>from docs + 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5552" y="315468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45552" y="3154680"/>
            <a:ext cx="73152" cy="1234440"/>
          </a:xfrm>
          <a:prstGeom prst="rect">
            <a:avLst/>
          </a:prstGeom>
          <a:solidFill>
            <a:srgbClr val="E09730"/>
          </a:solidFill>
          <a:ln>
            <a:solidFill>
              <a:srgbClr val="E0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3300984"/>
            <a:ext cx="2962656" cy="25603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5B6977"/>
                </a:solidFill>
                <a:latin typeface="Aptos"/>
              </a:rPr>
              <a:t>LLM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93592"/>
            <a:ext cx="2962656" cy="70408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Aptos"/>
              </a:rPr>
              <a:t>OpenAI-ready</a:t>
            </a:r>
            <a:br/>
            <a:r>
              <a:rPr sz="1500" b="1">
                <a:solidFill>
                  <a:srgbClr val="14202B"/>
                </a:solidFill>
                <a:latin typeface="Aptos"/>
              </a:rPr>
              <a:t>local fallback active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736592"/>
            <a:ext cx="1033272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Aptos"/>
              </a:rPr>
              <a:t>Demo commands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074920"/>
            <a:ext cx="10149840" cy="804672"/>
          </a:xfrm>
          <a:prstGeom prst="rect">
            <a:avLst/>
          </a:prstGeom>
          <a:solidFill>
            <a:srgbClr val="EBF1F6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193792"/>
            <a:ext cx="9784080" cy="56692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14202B"/>
                </a:solidFill>
                <a:latin typeface="Consolas"/>
              </a:rPr>
              <a:t>python index_phase1_rag.py    -&gt; builds ChromaDB index</a:t>
            </a:r>
            <a:br/>
            <a:r>
              <a:rPr sz="1050" b="0">
                <a:solidFill>
                  <a:srgbClr val="14202B"/>
                </a:solidFill>
                <a:latin typeface="Consolas"/>
              </a:rPr>
              <a:t>python query_phase1_rag.py "What is implemented in Phase 1?"    -&gt; retrieves evidence + generates answer</a:t>
            </a:r>
            <a:br/>
            <a:r>
              <a:rPr sz="1050" b="0">
                <a:solidFill>
                  <a:srgbClr val="14202B"/>
                </a:solidFill>
                <a:latin typeface="Consolas"/>
              </a:rPr>
              <a:t>python demo_phase1_agents.py    -&gt; multi-agent investment report uses vector retrieval when 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800" b="0">
                <a:solidFill>
                  <a:srgbClr val="5B6977"/>
                </a:solidFill>
                <a:latin typeface="Aptos"/>
              </a:rPr>
              <a:t>Financial Intelligence Engine | Phase 1 progress update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r"/>
            <a:r>
              <a:rPr sz="800" b="0">
                <a:solidFill>
                  <a:srgbClr val="5B697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31B3BE"/>
                </a:solidFill>
                <a:latin typeface="Aptos"/>
              </a:rPr>
              <a:t>PHASE 1 DEMO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457200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2500" b="1">
                <a:solidFill>
                  <a:srgbClr val="14202B"/>
                </a:solidFill>
                <a:latin typeface="Aptos"/>
              </a:rPr>
              <a:t>The review demo can now show data scale, model training, vector RAG, and agent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987552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5B6977"/>
                </a:solidFill>
                <a:latin typeface="Aptos"/>
              </a:rPr>
              <a:t>This slide lists the exact execution flow and what each command proves.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881360" cy="18288"/>
          </a:xfrm>
          <a:prstGeom prst="rect">
            <a:avLst/>
          </a:prstGeom>
          <a:solidFill>
            <a:srgbClr val="D6E0E8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618488"/>
            <a:ext cx="384048" cy="384048"/>
          </a:xfrm>
          <a:prstGeom prst="ellipse">
            <a:avLst/>
          </a:prstGeom>
          <a:solidFill>
            <a:srgbClr val="2477B8"/>
          </a:solidFill>
          <a:ln>
            <a:solidFill>
              <a:srgbClr val="24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384048" cy="16459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572768"/>
            <a:ext cx="20574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14202B"/>
                </a:solidFill>
                <a:latin typeface="Aptos"/>
              </a:rPr>
              <a:t>Storage +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572768"/>
            <a:ext cx="41148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50" b="0">
                <a:solidFill>
                  <a:srgbClr val="2477B8"/>
                </a:solidFill>
                <a:latin typeface="Consolas"/>
              </a:rPr>
              <a:t>python setup_phase1_storage.py --min-count 10000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572768"/>
            <a:ext cx="342900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019" b="0">
                <a:solidFill>
                  <a:srgbClr val="5B6977"/>
                </a:solidFill>
                <a:latin typeface="Aptos"/>
              </a:rPr>
              <a:t>Creates storage layers and caches 10K US tickers.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386584"/>
            <a:ext cx="384048" cy="384048"/>
          </a:xfrm>
          <a:prstGeom prst="ellipse">
            <a:avLst/>
          </a:prstGeom>
          <a:solidFill>
            <a:srgbClr val="2477B8"/>
          </a:solidFill>
          <a:ln>
            <a:solidFill>
              <a:srgbClr val="24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59736"/>
            <a:ext cx="384048" cy="16459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340864"/>
            <a:ext cx="20574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14202B"/>
                </a:solidFill>
                <a:latin typeface="Aptos"/>
              </a:rPr>
              <a:t>Feature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340864"/>
            <a:ext cx="41148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50" b="0">
                <a:solidFill>
                  <a:srgbClr val="2477B8"/>
                </a:solidFill>
                <a:latin typeface="Consolas"/>
              </a:rPr>
              <a:t>python build_phase1_data.py --min-count 10000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340864"/>
            <a:ext cx="342900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019" b="0">
                <a:solidFill>
                  <a:srgbClr val="5B6977"/>
                </a:solidFill>
                <a:latin typeface="Aptos"/>
              </a:rPr>
              <a:t>Builds 10K x 20 ML-ready feature table.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3154679"/>
            <a:ext cx="384048" cy="384048"/>
          </a:xfrm>
          <a:prstGeom prst="ellipse">
            <a:avLst/>
          </a:prstGeom>
          <a:solidFill>
            <a:srgbClr val="2477B8"/>
          </a:solidFill>
          <a:ln>
            <a:solidFill>
              <a:srgbClr val="24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27832"/>
            <a:ext cx="384048" cy="16459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108960"/>
            <a:ext cx="20574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14202B"/>
                </a:solidFill>
                <a:latin typeface="Aptos"/>
              </a:rPr>
              <a:t>Model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108960"/>
            <a:ext cx="41148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50" b="0">
                <a:solidFill>
                  <a:srgbClr val="2477B8"/>
                </a:solidFill>
                <a:latin typeface="Consolas"/>
              </a:rPr>
              <a:t>python train_phase1_models.py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108960"/>
            <a:ext cx="342900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019" b="0">
                <a:solidFill>
                  <a:srgbClr val="5B6977"/>
                </a:solidFill>
                <a:latin typeface="Aptos"/>
              </a:rPr>
              <a:t>Trains risk and forecast baseline models with metrics.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3922776"/>
            <a:ext cx="384048" cy="384048"/>
          </a:xfrm>
          <a:prstGeom prst="ellipse">
            <a:avLst/>
          </a:prstGeom>
          <a:solidFill>
            <a:srgbClr val="2477B8"/>
          </a:solidFill>
          <a:ln>
            <a:solidFill>
              <a:srgbClr val="24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95928"/>
            <a:ext cx="384048" cy="16459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877056"/>
            <a:ext cx="20574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14202B"/>
                </a:solidFill>
                <a:latin typeface="Aptos"/>
              </a:rPr>
              <a:t>RAG indexing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877056"/>
            <a:ext cx="41148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50" b="0">
                <a:solidFill>
                  <a:srgbClr val="2477B8"/>
                </a:solidFill>
                <a:latin typeface="Consolas"/>
              </a:rPr>
              <a:t>python index_phase1_rag.py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877056"/>
            <a:ext cx="342900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019" b="0">
                <a:solidFill>
                  <a:srgbClr val="5B6977"/>
                </a:solidFill>
                <a:latin typeface="Aptos"/>
              </a:rPr>
              <a:t>Persists 476 chunks into ChromaDB.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4690872"/>
            <a:ext cx="384048" cy="384048"/>
          </a:xfrm>
          <a:prstGeom prst="ellipse">
            <a:avLst/>
          </a:prstGeom>
          <a:solidFill>
            <a:srgbClr val="2477B8"/>
          </a:solidFill>
          <a:ln>
            <a:solidFill>
              <a:srgbClr val="24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64024"/>
            <a:ext cx="384048" cy="16459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4645152"/>
            <a:ext cx="20574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14202B"/>
                </a:solidFill>
                <a:latin typeface="Aptos"/>
              </a:rPr>
              <a:t>Final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4645152"/>
            <a:ext cx="4114800" cy="21945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50" b="0">
                <a:solidFill>
                  <a:srgbClr val="2477B8"/>
                </a:solidFill>
                <a:latin typeface="Consolas"/>
              </a:rPr>
              <a:t>python demo_phase1_agents.py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645152"/>
            <a:ext cx="3429000" cy="29260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019" b="0">
                <a:solidFill>
                  <a:srgbClr val="5B6977"/>
                </a:solidFill>
                <a:latin typeface="Aptos"/>
              </a:rPr>
              <a:t>Runs multi-agent report generation with retrieved evidence.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596128"/>
            <a:ext cx="10149840" cy="310896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4202B"/>
                </a:solidFill>
                <a:latin typeface="Aptos"/>
              </a:rPr>
              <a:t>OpenAI key setup for GenAI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5925312"/>
            <a:ext cx="10058400" cy="411480"/>
          </a:xfrm>
          <a:prstGeom prst="rect">
            <a:avLst/>
          </a:prstGeom>
          <a:solidFill>
            <a:srgbClr val="EBF1F6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6016752"/>
            <a:ext cx="9738360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950" b="0">
                <a:solidFill>
                  <a:srgbClr val="14202B"/>
                </a:solidFill>
                <a:latin typeface="Consolas"/>
              </a:rPr>
              <a:t>$env:FIE_GENAI_PROVIDER="openai"; $env:FIE_GENAI_MODEL="gpt-5.4-mini"; $env:OPENAI_API_KEY="..."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l"/>
            <a:r>
              <a:rPr sz="800" b="0">
                <a:solidFill>
                  <a:srgbClr val="5B6977"/>
                </a:solidFill>
                <a:latin typeface="Aptos"/>
              </a:rPr>
              <a:t>Financial Intelligence Engine | Phase 1 progress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73952"/>
            <a:ext cx="731520" cy="201168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 algn="r"/>
            <a:r>
              <a:rPr sz="800" b="0">
                <a:solidFill>
                  <a:srgbClr val="5B697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657</Words>
  <Application>Microsoft Office PowerPoint</Application>
  <PresentationFormat>Widescreen</PresentationFormat>
  <Paragraphs>119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8</cp:revision>
  <dcterms:created xsi:type="dcterms:W3CDTF">2013-01-27T09:14:16Z</dcterms:created>
  <dcterms:modified xsi:type="dcterms:W3CDTF">2026-06-09T18:06:49Z</dcterms:modified>
  <cp:category/>
</cp:coreProperties>
</file>